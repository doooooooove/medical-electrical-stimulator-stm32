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15.svg" ContentType="image/svg+xml"/>
  <Override PartName="/ppt/media/image3.svg" ContentType="image/svg+xml"/>
  <Override PartName="/ppt/media/image33.svg" ContentType="image/svg+xml"/>
  <Override PartName="/ppt/media/image34.svg" ContentType="image/svg+xml"/>
  <Override PartName="/ppt/media/image37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82" r:id="rId5"/>
    <p:sldId id="257" r:id="rId6"/>
    <p:sldId id="258" r:id="rId7"/>
    <p:sldId id="286" r:id="rId8"/>
    <p:sldId id="285" r:id="rId9"/>
    <p:sldId id="259" r:id="rId10"/>
    <p:sldId id="260" r:id="rId11"/>
    <p:sldId id="261" r:id="rId12"/>
    <p:sldId id="262" r:id="rId13"/>
    <p:sldId id="263" r:id="rId14"/>
    <p:sldId id="265" r:id="rId15"/>
    <p:sldId id="283" r:id="rId16"/>
    <p:sldId id="287" r:id="rId17"/>
    <p:sldId id="290" r:id="rId18"/>
    <p:sldId id="288" r:id="rId19"/>
    <p:sldId id="289" r:id="rId20"/>
    <p:sldId id="291" r:id="rId21"/>
    <p:sldId id="284" r:id="rId22"/>
    <p:sldId id="266" r:id="rId23"/>
    <p:sldId id="268" r:id="rId24"/>
    <p:sldId id="267" r:id="rId25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68" d="100"/>
          <a:sy n="68" d="100"/>
        </p:scale>
        <p:origin x="368" y="48"/>
      </p:cViewPr>
      <p:guideLst>
        <p:guide orient="horz" pos="2160"/>
        <p:guide pos="291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720379146919431"/>
          <c:y val="0.0364397905759162"/>
          <c:w val="0.929228070175439"/>
          <c:h val="0.77708527131782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设定值</c:v>
                </c:pt>
              </c:strCache>
            </c:strRef>
          </c:tx>
          <c:spPr>
            <a:ln w="28575" cap="rnd" cmpd="sng" algn="ctr">
              <a:solidFill>
                <a:srgbClr val="A8C3CD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rgbClr val="A8C3CD"/>
              </a:solidFill>
              <a:ln w="9525" cap="flat" cmpd="sng" algn="ctr">
                <a:solidFill>
                  <a:srgbClr val="A8C3CD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实测值</c:v>
                </c:pt>
              </c:strCache>
            </c:strRef>
          </c:tx>
          <c:spPr>
            <a:ln w="12700" cap="rnd" cmpd="sng" algn="ctr">
              <a:solidFill>
                <a:schemeClr val="accent1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chemeClr val="accent3"/>
              </a:solidFill>
              <a:ln w="9525" cap="flat" cmpd="sng" algn="ctr">
                <a:solidFill>
                  <a:schemeClr val="accent3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0.999</c:v>
                </c:pt>
                <c:pt idx="2">
                  <c:v>2.001</c:v>
                </c:pt>
                <c:pt idx="3">
                  <c:v>2.999</c:v>
                </c:pt>
                <c:pt idx="4">
                  <c:v>4.002</c:v>
                </c:pt>
                <c:pt idx="5">
                  <c:v>5</c:v>
                </c:pt>
                <c:pt idx="6">
                  <c:v>6.002</c:v>
                </c:pt>
                <c:pt idx="7">
                  <c:v>6.999</c:v>
                </c:pt>
                <c:pt idx="8">
                  <c:v>8.001</c:v>
                </c:pt>
                <c:pt idx="9">
                  <c:v>8.998</c:v>
                </c:pt>
                <c:pt idx="10">
                  <c:v>10.001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68027336"/>
        <c:axId val="2113994440"/>
      </c:line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 cap="flat" cmpd="sng" algn="ctr">
            <a:solidFill>
              <a:schemeClr val="accent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A8C3C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0"/>
          <c:min val="0"/>
        </c:scaling>
        <c:delete val="0"/>
        <c:axPos val="l"/>
        <c:majorGridlines>
          <c:spPr>
            <a:ln w="6350" cap="flat" cmpd="sng" algn="ctr">
              <a:solidFill>
                <a:srgbClr val="2A5364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 cap="flat" cmpd="sng" algn="ctr">
            <a:solidFill>
              <a:schemeClr val="accent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A8C3C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defRPr>
            </a:pPr>
          </a:p>
        </c:txPr>
        <c:crossAx val="2068027336"/>
        <c:crosses val="autoZero"/>
        <c:crossBetween val="between"/>
        <c:majorUnit val="2"/>
      </c:valAx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x val="0.283732924449401"/>
          <c:y val="0.896335078534031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rgbClr val="A8C3C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b2125d6-ff05-4c2b-b0bd-d76f1b3b790b}"/>
      </c:ext>
    </c:extLst>
  </c:chart>
  <c:spPr>
    <a:noFill/>
    <a:ln>
      <a:noFill/>
    </a:ln>
  </c:spPr>
  <c:txPr>
    <a:bodyPr/>
    <a:lstStyle/>
    <a:p>
      <a:pPr>
        <a:defRPr lang="zh-CN" sz="1200">
          <a:solidFill>
            <a:srgbClr val="A8C3CD"/>
          </a:solidFill>
          <a:latin typeface="Arial" panose="020B0604020202020204"/>
          <a:ea typeface="微软雅黑" panose="020B0503020204020204" charset="-122"/>
          <a:cs typeface="Arial" panose="020B0604020202020204"/>
        </a:defRPr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gineering_innovation_nme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altLang="zh-CN" smtClean="0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版图表卡片_2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altLang="zh-CN" smtClean="0"/>
            </a:fld>
            <a:endParaRPr lang="zh-CN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48768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9" hasCustomPrompt="1"/>
            <p:custDataLst>
              <p:tags r:id="rId3"/>
            </p:custDataLst>
          </p:nvPr>
        </p:nvSpPr>
        <p:spPr>
          <a:xfrm>
            <a:off x="6096000" y="609600"/>
            <a:ext cx="5486400" cy="2743200"/>
          </a:xfrm>
          <a:custGeom>
            <a:avLst/>
            <a:gdLst>
              <a:gd name="connisteX0" fmla="*/ 0 w 5486400"/>
              <a:gd name="connsiteY0" fmla="*/ 203200 h 2743200"/>
              <a:gd name="connisteX1" fmla="*/ 203200 w 5486400"/>
              <a:gd name="connsiteY1" fmla="*/ 0 h 2743200"/>
              <a:gd name="connisteX2" fmla="*/ 5283200 w 5486400"/>
              <a:gd name="connsiteY2" fmla="*/ 0 h 2743200"/>
              <a:gd name="connisteX3" fmla="*/ 5486400 w 5486400"/>
              <a:gd name="connsiteY3" fmla="*/ 203200 h 2743200"/>
              <a:gd name="connisteX4" fmla="*/ 5486400 w 5486400"/>
              <a:gd name="connsiteY4" fmla="*/ 2540000 h 2743200"/>
              <a:gd name="connisteX5" fmla="*/ 5283200 w 5486400"/>
              <a:gd name="connsiteY5" fmla="*/ 2743200 h 2743200"/>
              <a:gd name="connisteX6" fmla="*/ 203200 w 5486400"/>
              <a:gd name="connsiteY6" fmla="*/ 2743200 h 2743200"/>
              <a:gd name="connisteX7" fmla="*/ 0 w 5486400"/>
              <a:gd name="connsiteY7" fmla="*/ 2540000 h 2743200"/>
              <a:gd name="connisteX8" fmla="*/ 0 w 5486400"/>
              <a:gd name="connsiteY8" fmla="*/ 203200 h 274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486400" h="274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2540000"/>
                </a:lnTo>
                <a:cubicBezTo>
                  <a:pt x="5486400" y="2652224"/>
                  <a:pt x="5395424" y="2743200"/>
                  <a:pt x="5283200" y="2743200"/>
                </a:cubicBezTo>
                <a:lnTo>
                  <a:pt x="203200" y="2743200"/>
                </a:lnTo>
                <a:cubicBezTo>
                  <a:pt x="90976" y="2743200"/>
                  <a:pt x="0" y="2652224"/>
                  <a:pt x="0" y="2540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0" hasCustomPrompt="1"/>
            <p:custDataLst>
              <p:tags r:id="rId4"/>
            </p:custDataLst>
          </p:nvPr>
        </p:nvSpPr>
        <p:spPr>
          <a:xfrm>
            <a:off x="6096000" y="3505200"/>
            <a:ext cx="5486400" cy="2743200"/>
          </a:xfrm>
          <a:custGeom>
            <a:avLst/>
            <a:gdLst>
              <a:gd name="connisteX0" fmla="*/ 0 w 5486400"/>
              <a:gd name="connsiteY0" fmla="*/ 203200 h 2743200"/>
              <a:gd name="connisteX1" fmla="*/ 203200 w 5486400"/>
              <a:gd name="connsiteY1" fmla="*/ 0 h 2743200"/>
              <a:gd name="connisteX2" fmla="*/ 5283200 w 5486400"/>
              <a:gd name="connsiteY2" fmla="*/ 0 h 2743200"/>
              <a:gd name="connisteX3" fmla="*/ 5486400 w 5486400"/>
              <a:gd name="connsiteY3" fmla="*/ 203200 h 2743200"/>
              <a:gd name="connisteX4" fmla="*/ 5486400 w 5486400"/>
              <a:gd name="connsiteY4" fmla="*/ 2540000 h 2743200"/>
              <a:gd name="connisteX5" fmla="*/ 5283200 w 5486400"/>
              <a:gd name="connsiteY5" fmla="*/ 2743200 h 2743200"/>
              <a:gd name="connisteX6" fmla="*/ 203200 w 5486400"/>
              <a:gd name="connsiteY6" fmla="*/ 2743200 h 2743200"/>
              <a:gd name="connisteX7" fmla="*/ 0 w 5486400"/>
              <a:gd name="connsiteY7" fmla="*/ 2540000 h 2743200"/>
              <a:gd name="connisteX8" fmla="*/ 0 w 5486400"/>
              <a:gd name="connsiteY8" fmla="*/ 203200 h 274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486400" h="274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2540000"/>
                </a:lnTo>
                <a:cubicBezTo>
                  <a:pt x="5486400" y="2652224"/>
                  <a:pt x="5395424" y="2743200"/>
                  <a:pt x="5283200" y="2743200"/>
                </a:cubicBezTo>
                <a:lnTo>
                  <a:pt x="203200" y="2743200"/>
                </a:lnTo>
                <a:cubicBezTo>
                  <a:pt x="90976" y="2743200"/>
                  <a:pt x="0" y="2652224"/>
                  <a:pt x="0" y="2540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609600" y="3200400"/>
            <a:ext cx="4876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609600" y="4419600"/>
            <a:ext cx="4876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609600" y="5638800"/>
            <a:ext cx="4876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039B5-CE58-4C05-ACEF-C70A905FFA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17F69-64E9-4312-A2E8-4A5CCD8538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altLang="zh-CN" smtClean="0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.xml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.png"/><Relationship Id="rId3" Type="http://schemas.openxmlformats.org/officeDocument/2006/relationships/tags" Target="../tags/tag19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image" Target="../media/image9.png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image" Target="../media/image8.png"/><Relationship Id="rId22" Type="http://schemas.openxmlformats.org/officeDocument/2006/relationships/notesSlide" Target="../notesSlides/notesSlide3.xml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1.png"/><Relationship Id="rId2" Type="http://schemas.openxmlformats.org/officeDocument/2006/relationships/image" Target="../media/image7.svg"/><Relationship Id="rId19" Type="http://schemas.openxmlformats.org/officeDocument/2006/relationships/image" Target="../media/image12.png"/><Relationship Id="rId18" Type="http://schemas.openxmlformats.org/officeDocument/2006/relationships/tags" Target="../tags/tag31.xml"/><Relationship Id="rId17" Type="http://schemas.openxmlformats.org/officeDocument/2006/relationships/tags" Target="../tags/tag30.xml"/><Relationship Id="rId16" Type="http://schemas.openxmlformats.org/officeDocument/2006/relationships/tags" Target="../tags/tag29.xml"/><Relationship Id="rId15" Type="http://schemas.openxmlformats.org/officeDocument/2006/relationships/image" Target="../media/image11.png"/><Relationship Id="rId14" Type="http://schemas.openxmlformats.org/officeDocument/2006/relationships/image" Target="../media/image10.png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image" Target="../media/image9.png"/><Relationship Id="rId3" Type="http://schemas.openxmlformats.org/officeDocument/2006/relationships/tags" Target="../tags/tag32.xml"/><Relationship Id="rId21" Type="http://schemas.openxmlformats.org/officeDocument/2006/relationships/notesSlide" Target="../notesSlides/notesSlide4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7.svg"/><Relationship Id="rId19" Type="http://schemas.openxmlformats.org/officeDocument/2006/relationships/image" Target="../media/image1.png"/><Relationship Id="rId18" Type="http://schemas.openxmlformats.org/officeDocument/2006/relationships/image" Target="../media/image13.png"/><Relationship Id="rId17" Type="http://schemas.openxmlformats.org/officeDocument/2006/relationships/image" Target="../media/image12.png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image" Target="../media/image11.png"/><Relationship Id="rId12" Type="http://schemas.openxmlformats.org/officeDocument/2006/relationships/image" Target="../media/image10.png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.png"/><Relationship Id="rId7" Type="http://schemas.openxmlformats.org/officeDocument/2006/relationships/image" Target="../media/image20.jpeg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54.xml"/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3.png"/><Relationship Id="rId4" Type="http://schemas.openxmlformats.org/officeDocument/2006/relationships/image" Target="../media/image22.jpeg"/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1.png"/><Relationship Id="rId3" Type="http://schemas.openxmlformats.org/officeDocument/2006/relationships/image" Target="../media/image24.jpeg"/><Relationship Id="rId2" Type="http://schemas.openxmlformats.org/officeDocument/2006/relationships/image" Target="../media/image15.sv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.png"/><Relationship Id="rId3" Type="http://schemas.openxmlformats.org/officeDocument/2006/relationships/image" Target="../media/image26.jpeg"/><Relationship Id="rId2" Type="http://schemas.openxmlformats.org/officeDocument/2006/relationships/image" Target="../media/image15.sv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1.png"/><Relationship Id="rId4" Type="http://schemas.openxmlformats.org/officeDocument/2006/relationships/image" Target="../media/image30.jpeg"/><Relationship Id="rId3" Type="http://schemas.openxmlformats.org/officeDocument/2006/relationships/image" Target="../media/image29.jpeg"/><Relationship Id="rId2" Type="http://schemas.openxmlformats.org/officeDocument/2006/relationships/image" Target="../media/image15.sv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65.xml"/><Relationship Id="rId10" Type="http://schemas.openxmlformats.org/officeDocument/2006/relationships/tags" Target="../tags/tag64.xml"/><Relationship Id="rId1" Type="http://schemas.openxmlformats.org/officeDocument/2006/relationships/tags" Target="../tags/tag55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9.jpeg"/><Relationship Id="rId3" Type="http://schemas.openxmlformats.org/officeDocument/2006/relationships/image" Target="../media/image34.svg"/><Relationship Id="rId2" Type="http://schemas.openxmlformats.org/officeDocument/2006/relationships/image" Target="../media/image32.png"/><Relationship Id="rId1" Type="http://schemas.openxmlformats.org/officeDocument/2006/relationships/image" Target="../media/image22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image" Target="../media/image34.svg"/><Relationship Id="rId1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image" Target="../media/image34.svg"/><Relationship Id="rId1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4" Type="http://schemas.openxmlformats.org/officeDocument/2006/relationships/notesSlide" Target="../notesSlides/notesSlide15.xml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1.png"/><Relationship Id="rId21" Type="http://schemas.openxmlformats.org/officeDocument/2006/relationships/image" Target="../media/image34.svg"/><Relationship Id="rId20" Type="http://schemas.openxmlformats.org/officeDocument/2006/relationships/image" Target="../media/image32.png"/><Relationship Id="rId2" Type="http://schemas.openxmlformats.org/officeDocument/2006/relationships/tags" Target="../tags/tag66.xml"/><Relationship Id="rId19" Type="http://schemas.openxmlformats.org/officeDocument/2006/relationships/tags" Target="../tags/tag83.xml"/><Relationship Id="rId18" Type="http://schemas.openxmlformats.org/officeDocument/2006/relationships/tags" Target="../tags/tag82.xml"/><Relationship Id="rId17" Type="http://schemas.openxmlformats.org/officeDocument/2006/relationships/tags" Target="../tags/tag81.xml"/><Relationship Id="rId16" Type="http://schemas.openxmlformats.org/officeDocument/2006/relationships/tags" Target="../tags/tag80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image" Target="../media/image35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tags" Target="../tags/tag84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image" Target="../media/image37.svg"/><Relationship Id="rId1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8" Type="http://schemas.openxmlformats.org/officeDocument/2006/relationships/notesSlide" Target="../notesSlides/notesSlide17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06.xml"/><Relationship Id="rId15" Type="http://schemas.openxmlformats.org/officeDocument/2006/relationships/image" Target="../media/image1.png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8"/>
          <p:cNvSpPr/>
          <p:nvPr/>
        </p:nvSpPr>
        <p:spPr>
          <a:xfrm>
            <a:off x="3091180" y="4033520"/>
            <a:ext cx="496570" cy="514985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212834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450340" y="1652270"/>
            <a:ext cx="9081770" cy="25374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>
              <a:lnSpc>
                <a:spcPts val="4650"/>
              </a:lnSpc>
            </a:pPr>
            <a:r>
              <a:rPr lang="zh-CN" sz="4400" b="1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基于 STM32 的可编程</a:t>
            </a:r>
            <a:br>
              <a:rPr lang="zh-CN" sz="4400" b="1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r>
              <a:rPr lang="zh-CN" sz="4400" b="1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神经肌肉电刺激系统</a:t>
            </a:r>
            <a:endParaRPr lang="zh-CN" sz="4400" b="1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grid"/>
          <p:cNvSpPr/>
          <p:nvPr/>
        </p:nvSpPr>
        <p:spPr>
          <a:xfrm>
            <a:off x="0" y="1016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143000"/>
                </a:moveTo>
                <a:lnTo>
                  <a:pt x="12192000" y="1143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18000"/>
            </a:srgbClr>
          </a:solidFill>
          <a:ln w="9525">
            <a:solidFill>
              <a:schemeClr val="accent6">
                <a:alpha val="18000"/>
              </a:scheme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page-number"/>
          <p:cNvSpPr txBox="1"/>
          <p:nvPr/>
        </p:nvSpPr>
        <p:spPr>
          <a:xfrm>
            <a:off x="11362436" y="6419850"/>
            <a:ext cx="16891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01</a:t>
            </a:r>
            <a:endParaRPr lang="zh-CN" sz="12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635"/>
            <a:ext cx="12192000" cy="756920"/>
          </a:xfrm>
          <a:prstGeom prst="rect">
            <a:avLst/>
          </a:prstGeom>
          <a:solidFill>
            <a:schemeClr val="tx2"/>
          </a:solidFill>
          <a:ln>
            <a:solidFill>
              <a:srgbClr val="0070C0"/>
            </a:solidFill>
          </a:ln>
        </p:spPr>
        <p:txBody>
          <a:bodyPr wrap="square" anchor="ctr" anchorCtr="0">
            <a:noAutofit/>
          </a:bodyPr>
          <a:lstStyle/>
          <a:p>
            <a:pPr algn="ctr"/>
            <a:endParaRPr lang="en-US" altLang="en-US" sz="2000" b="1" spc="300" dirty="0">
              <a:solidFill>
                <a:schemeClr val="accent5">
                  <a:lumMod val="20000"/>
                  <a:lumOff val="8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-23495" y="10160"/>
            <a:ext cx="12215495" cy="7410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智能医疗实践项目结题答辩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8"/>
          <p:cNvSpPr>
            <a:spLocks noChangeArrowheads="1"/>
          </p:cNvSpPr>
          <p:nvPr/>
        </p:nvSpPr>
        <p:spPr bwMode="auto">
          <a:xfrm flipV="1">
            <a:off x="-1" y="3692368"/>
            <a:ext cx="12191999" cy="104760"/>
          </a:xfrm>
          <a:prstGeom prst="rect">
            <a:avLst/>
          </a:prstGeom>
          <a:gradFill rotWithShape="0">
            <a:gsLst>
              <a:gs pos="0">
                <a:srgbClr val="A603AB"/>
              </a:gs>
              <a:gs pos="20000">
                <a:srgbClr val="EE3F17"/>
              </a:gs>
              <a:gs pos="88000">
                <a:srgbClr val="40B4C0"/>
              </a:gs>
              <a:gs pos="100000">
                <a:srgbClr val="004C97"/>
              </a:gs>
            </a:gsLst>
            <a:lin ang="0" scaled="1"/>
          </a:gradFill>
          <a:ln w="9525">
            <a:noFill/>
            <a:miter lim="800000"/>
          </a:ln>
        </p:spPr>
        <p:txBody>
          <a:bodyPr rot="10800000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zh-CN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268595" y="6525260"/>
            <a:ext cx="144145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10418A"/>
                </a:solidFill>
                <a:latin typeface="微软雅黑" panose="020B0503020204020204" charset="-122"/>
                <a:ea typeface="微软雅黑" panose="020B0503020204020204" charset="-122"/>
              </a:rPr>
              <a:t>2026.10.10</a:t>
            </a:r>
            <a:endParaRPr lang="zh-CN" altLang="en-US" dirty="0"/>
          </a:p>
        </p:txBody>
      </p:sp>
      <p:grpSp>
        <p:nvGrpSpPr>
          <p:cNvPr id="33" name="组合 32"/>
          <p:cNvGrpSpPr/>
          <p:nvPr/>
        </p:nvGrpSpPr>
        <p:grpSpPr>
          <a:xfrm>
            <a:off x="3749460" y="5792450"/>
            <a:ext cx="595700" cy="595700"/>
            <a:chOff x="3104171" y="6290449"/>
            <a:chExt cx="595700" cy="595700"/>
          </a:xfrm>
        </p:grpSpPr>
        <p:sp>
          <p:nvSpPr>
            <p:cNvPr id="32" name="椭圆 31"/>
            <p:cNvSpPr/>
            <p:nvPr/>
          </p:nvSpPr>
          <p:spPr>
            <a:xfrm>
              <a:off x="3104171" y="6290449"/>
              <a:ext cx="595700" cy="595700"/>
            </a:xfrm>
            <a:prstGeom prst="ellipse">
              <a:avLst/>
            </a:prstGeom>
            <a:solidFill>
              <a:srgbClr val="FFFFFF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Freeform 5"/>
            <p:cNvSpPr>
              <a:spLocks noEditPoints="1"/>
            </p:cNvSpPr>
            <p:nvPr/>
          </p:nvSpPr>
          <p:spPr bwMode="auto">
            <a:xfrm>
              <a:off x="3202310" y="6363492"/>
              <a:ext cx="414828" cy="406511"/>
            </a:xfrm>
            <a:custGeom>
              <a:avLst/>
              <a:gdLst/>
              <a:ahLst/>
              <a:cxnLst>
                <a:cxn ang="0">
                  <a:pos x="194" y="158"/>
                </a:cxn>
                <a:cxn ang="0">
                  <a:pos x="224" y="218"/>
                </a:cxn>
                <a:cxn ang="0">
                  <a:pos x="232" y="219"/>
                </a:cxn>
                <a:cxn ang="0">
                  <a:pos x="232" y="228"/>
                </a:cxn>
                <a:cxn ang="0">
                  <a:pos x="6" y="229"/>
                </a:cxn>
                <a:cxn ang="0">
                  <a:pos x="0" y="224"/>
                </a:cxn>
                <a:cxn ang="0">
                  <a:pos x="6" y="218"/>
                </a:cxn>
                <a:cxn ang="0">
                  <a:pos x="15" y="151"/>
                </a:cxn>
                <a:cxn ang="0">
                  <a:pos x="37" y="129"/>
                </a:cxn>
                <a:cxn ang="0">
                  <a:pos x="52" y="134"/>
                </a:cxn>
                <a:cxn ang="0">
                  <a:pos x="32" y="121"/>
                </a:cxn>
                <a:cxn ang="0">
                  <a:pos x="31" y="40"/>
                </a:cxn>
                <a:cxn ang="0">
                  <a:pos x="52" y="31"/>
                </a:cxn>
                <a:cxn ang="0">
                  <a:pos x="68" y="13"/>
                </a:cxn>
                <a:cxn ang="0">
                  <a:pos x="119" y="0"/>
                </a:cxn>
                <a:cxn ang="0">
                  <a:pos x="127" y="18"/>
                </a:cxn>
                <a:cxn ang="0">
                  <a:pos x="132" y="57"/>
                </a:cxn>
                <a:cxn ang="0">
                  <a:pos x="181" y="72"/>
                </a:cxn>
                <a:cxn ang="0">
                  <a:pos x="132" y="170"/>
                </a:cxn>
                <a:cxn ang="0">
                  <a:pos x="148" y="149"/>
                </a:cxn>
                <a:cxn ang="0">
                  <a:pos x="157" y="170"/>
                </a:cxn>
                <a:cxn ang="0">
                  <a:pos x="181" y="72"/>
                </a:cxn>
                <a:cxn ang="0">
                  <a:pos x="72" y="4"/>
                </a:cxn>
                <a:cxn ang="0">
                  <a:pos x="82" y="18"/>
                </a:cxn>
                <a:cxn ang="0">
                  <a:pos x="87" y="51"/>
                </a:cxn>
                <a:cxn ang="0">
                  <a:pos x="97" y="31"/>
                </a:cxn>
                <a:cxn ang="0">
                  <a:pos x="114" y="13"/>
                </a:cxn>
                <a:cxn ang="0">
                  <a:pos x="114" y="4"/>
                </a:cxn>
                <a:cxn ang="0">
                  <a:pos x="87" y="55"/>
                </a:cxn>
                <a:cxn ang="0">
                  <a:pos x="97" y="90"/>
                </a:cxn>
                <a:cxn ang="0">
                  <a:pos x="38" y="46"/>
                </a:cxn>
                <a:cxn ang="0">
                  <a:pos x="52" y="114"/>
                </a:cxn>
                <a:cxn ang="0">
                  <a:pos x="38" y="46"/>
                </a:cxn>
                <a:cxn ang="0">
                  <a:pos x="189" y="177"/>
                </a:cxn>
                <a:cxn ang="0">
                  <a:pos x="157" y="200"/>
                </a:cxn>
                <a:cxn ang="0">
                  <a:pos x="97" y="155"/>
                </a:cxn>
                <a:cxn ang="0">
                  <a:pos x="87" y="218"/>
                </a:cxn>
                <a:cxn ang="0">
                  <a:pos x="97" y="155"/>
                </a:cxn>
                <a:cxn ang="0">
                  <a:pos x="97" y="138"/>
                </a:cxn>
                <a:cxn ang="0">
                  <a:pos x="87" y="150"/>
                </a:cxn>
                <a:cxn ang="0">
                  <a:pos x="97" y="94"/>
                </a:cxn>
                <a:cxn ang="0">
                  <a:pos x="87" y="132"/>
                </a:cxn>
                <a:cxn ang="0">
                  <a:pos x="97" y="94"/>
                </a:cxn>
                <a:cxn ang="0">
                  <a:pos x="148" y="200"/>
                </a:cxn>
                <a:cxn ang="0">
                  <a:pos x="123" y="177"/>
                </a:cxn>
              </a:cxnLst>
              <a:rect l="0" t="0" r="r" b="b"/>
              <a:pathLst>
                <a:path w="234" h="229">
                  <a:moveTo>
                    <a:pt x="194" y="57"/>
                  </a:moveTo>
                  <a:cubicBezTo>
                    <a:pt x="194" y="158"/>
                    <a:pt x="194" y="158"/>
                    <a:pt x="194" y="158"/>
                  </a:cubicBezTo>
                  <a:cubicBezTo>
                    <a:pt x="224" y="158"/>
                    <a:pt x="224" y="158"/>
                    <a:pt x="224" y="158"/>
                  </a:cubicBezTo>
                  <a:cubicBezTo>
                    <a:pt x="224" y="218"/>
                    <a:pt x="224" y="218"/>
                    <a:pt x="224" y="218"/>
                  </a:cubicBezTo>
                  <a:cubicBezTo>
                    <a:pt x="228" y="218"/>
                    <a:pt x="228" y="218"/>
                    <a:pt x="228" y="218"/>
                  </a:cubicBezTo>
                  <a:cubicBezTo>
                    <a:pt x="230" y="218"/>
                    <a:pt x="231" y="218"/>
                    <a:pt x="232" y="219"/>
                  </a:cubicBezTo>
                  <a:cubicBezTo>
                    <a:pt x="234" y="221"/>
                    <a:pt x="234" y="222"/>
                    <a:pt x="234" y="224"/>
                  </a:cubicBezTo>
                  <a:cubicBezTo>
                    <a:pt x="234" y="225"/>
                    <a:pt x="234" y="227"/>
                    <a:pt x="232" y="228"/>
                  </a:cubicBezTo>
                  <a:cubicBezTo>
                    <a:pt x="231" y="229"/>
                    <a:pt x="230" y="229"/>
                    <a:pt x="228" y="229"/>
                  </a:cubicBezTo>
                  <a:cubicBezTo>
                    <a:pt x="6" y="229"/>
                    <a:pt x="6" y="229"/>
                    <a:pt x="6" y="229"/>
                  </a:cubicBezTo>
                  <a:cubicBezTo>
                    <a:pt x="4" y="229"/>
                    <a:pt x="3" y="229"/>
                    <a:pt x="1" y="228"/>
                  </a:cubicBezTo>
                  <a:cubicBezTo>
                    <a:pt x="0" y="227"/>
                    <a:pt x="0" y="225"/>
                    <a:pt x="0" y="224"/>
                  </a:cubicBezTo>
                  <a:cubicBezTo>
                    <a:pt x="0" y="222"/>
                    <a:pt x="0" y="221"/>
                    <a:pt x="1" y="219"/>
                  </a:cubicBezTo>
                  <a:cubicBezTo>
                    <a:pt x="3" y="218"/>
                    <a:pt x="4" y="218"/>
                    <a:pt x="6" y="218"/>
                  </a:cubicBezTo>
                  <a:cubicBezTo>
                    <a:pt x="15" y="218"/>
                    <a:pt x="15" y="218"/>
                    <a:pt x="15" y="218"/>
                  </a:cubicBezTo>
                  <a:cubicBezTo>
                    <a:pt x="15" y="151"/>
                    <a:pt x="15" y="151"/>
                    <a:pt x="15" y="151"/>
                  </a:cubicBezTo>
                  <a:cubicBezTo>
                    <a:pt x="15" y="145"/>
                    <a:pt x="17" y="140"/>
                    <a:pt x="22" y="136"/>
                  </a:cubicBezTo>
                  <a:cubicBezTo>
                    <a:pt x="26" y="131"/>
                    <a:pt x="31" y="129"/>
                    <a:pt x="37" y="129"/>
                  </a:cubicBezTo>
                  <a:cubicBezTo>
                    <a:pt x="38" y="129"/>
                    <a:pt x="38" y="129"/>
                    <a:pt x="38" y="129"/>
                  </a:cubicBezTo>
                  <a:cubicBezTo>
                    <a:pt x="43" y="129"/>
                    <a:pt x="48" y="131"/>
                    <a:pt x="52" y="134"/>
                  </a:cubicBezTo>
                  <a:cubicBezTo>
                    <a:pt x="52" y="121"/>
                    <a:pt x="52" y="121"/>
                    <a:pt x="52" y="121"/>
                  </a:cubicBezTo>
                  <a:cubicBezTo>
                    <a:pt x="32" y="121"/>
                    <a:pt x="32" y="121"/>
                    <a:pt x="32" y="121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31"/>
                    <a:pt x="52" y="31"/>
                    <a:pt x="52" y="31"/>
                  </a:cubicBezTo>
                  <a:cubicBezTo>
                    <a:pt x="52" y="26"/>
                    <a:pt x="54" y="22"/>
                    <a:pt x="57" y="18"/>
                  </a:cubicBezTo>
                  <a:cubicBezTo>
                    <a:pt x="60" y="15"/>
                    <a:pt x="64" y="14"/>
                    <a:pt x="68" y="13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14"/>
                    <a:pt x="119" y="14"/>
                    <a:pt x="119" y="14"/>
                  </a:cubicBezTo>
                  <a:cubicBezTo>
                    <a:pt x="122" y="15"/>
                    <a:pt x="124" y="16"/>
                    <a:pt x="127" y="18"/>
                  </a:cubicBezTo>
                  <a:cubicBezTo>
                    <a:pt x="130" y="22"/>
                    <a:pt x="132" y="26"/>
                    <a:pt x="132" y="31"/>
                  </a:cubicBezTo>
                  <a:cubicBezTo>
                    <a:pt x="132" y="57"/>
                    <a:pt x="132" y="57"/>
                    <a:pt x="132" y="57"/>
                  </a:cubicBezTo>
                  <a:lnTo>
                    <a:pt x="194" y="57"/>
                  </a:lnTo>
                  <a:close/>
                  <a:moveTo>
                    <a:pt x="181" y="72"/>
                  </a:moveTo>
                  <a:cubicBezTo>
                    <a:pt x="132" y="72"/>
                    <a:pt x="132" y="72"/>
                    <a:pt x="132" y="72"/>
                  </a:cubicBezTo>
                  <a:cubicBezTo>
                    <a:pt x="132" y="170"/>
                    <a:pt x="132" y="170"/>
                    <a:pt x="132" y="170"/>
                  </a:cubicBezTo>
                  <a:cubicBezTo>
                    <a:pt x="148" y="170"/>
                    <a:pt x="148" y="170"/>
                    <a:pt x="148" y="170"/>
                  </a:cubicBezTo>
                  <a:cubicBezTo>
                    <a:pt x="148" y="149"/>
                    <a:pt x="148" y="149"/>
                    <a:pt x="148" y="149"/>
                  </a:cubicBezTo>
                  <a:cubicBezTo>
                    <a:pt x="157" y="149"/>
                    <a:pt x="157" y="149"/>
                    <a:pt x="157" y="149"/>
                  </a:cubicBezTo>
                  <a:cubicBezTo>
                    <a:pt x="157" y="170"/>
                    <a:pt x="157" y="170"/>
                    <a:pt x="157" y="170"/>
                  </a:cubicBezTo>
                  <a:cubicBezTo>
                    <a:pt x="181" y="170"/>
                    <a:pt x="181" y="170"/>
                    <a:pt x="181" y="170"/>
                  </a:cubicBezTo>
                  <a:lnTo>
                    <a:pt x="181" y="72"/>
                  </a:lnTo>
                  <a:close/>
                  <a:moveTo>
                    <a:pt x="114" y="4"/>
                  </a:moveTo>
                  <a:cubicBezTo>
                    <a:pt x="72" y="4"/>
                    <a:pt x="72" y="4"/>
                    <a:pt x="72" y="4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76" y="14"/>
                    <a:pt x="79" y="16"/>
                    <a:pt x="82" y="18"/>
                  </a:cubicBezTo>
                  <a:cubicBezTo>
                    <a:pt x="85" y="22"/>
                    <a:pt x="87" y="26"/>
                    <a:pt x="87" y="31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97" y="51"/>
                    <a:pt x="97" y="51"/>
                    <a:pt x="97" y="51"/>
                  </a:cubicBezTo>
                  <a:cubicBezTo>
                    <a:pt x="97" y="31"/>
                    <a:pt x="97" y="31"/>
                    <a:pt x="97" y="31"/>
                  </a:cubicBezTo>
                  <a:cubicBezTo>
                    <a:pt x="97" y="26"/>
                    <a:pt x="99" y="22"/>
                    <a:pt x="102" y="18"/>
                  </a:cubicBezTo>
                  <a:cubicBezTo>
                    <a:pt x="105" y="15"/>
                    <a:pt x="109" y="13"/>
                    <a:pt x="114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4"/>
                  </a:lnTo>
                  <a:close/>
                  <a:moveTo>
                    <a:pt x="97" y="55"/>
                  </a:moveTo>
                  <a:cubicBezTo>
                    <a:pt x="87" y="55"/>
                    <a:pt x="87" y="55"/>
                    <a:pt x="87" y="55"/>
                  </a:cubicBezTo>
                  <a:cubicBezTo>
                    <a:pt x="87" y="90"/>
                    <a:pt x="87" y="90"/>
                    <a:pt x="87" y="90"/>
                  </a:cubicBezTo>
                  <a:cubicBezTo>
                    <a:pt x="97" y="90"/>
                    <a:pt x="97" y="90"/>
                    <a:pt x="97" y="90"/>
                  </a:cubicBezTo>
                  <a:lnTo>
                    <a:pt x="97" y="55"/>
                  </a:lnTo>
                  <a:close/>
                  <a:moveTo>
                    <a:pt x="38" y="46"/>
                  </a:moveTo>
                  <a:cubicBezTo>
                    <a:pt x="38" y="114"/>
                    <a:pt x="38" y="114"/>
                    <a:pt x="38" y="114"/>
                  </a:cubicBezTo>
                  <a:cubicBezTo>
                    <a:pt x="52" y="114"/>
                    <a:pt x="52" y="114"/>
                    <a:pt x="52" y="114"/>
                  </a:cubicBezTo>
                  <a:cubicBezTo>
                    <a:pt x="52" y="46"/>
                    <a:pt x="52" y="46"/>
                    <a:pt x="52" y="46"/>
                  </a:cubicBezTo>
                  <a:lnTo>
                    <a:pt x="38" y="46"/>
                  </a:lnTo>
                  <a:close/>
                  <a:moveTo>
                    <a:pt x="189" y="200"/>
                  </a:moveTo>
                  <a:cubicBezTo>
                    <a:pt x="189" y="177"/>
                    <a:pt x="189" y="177"/>
                    <a:pt x="189" y="177"/>
                  </a:cubicBezTo>
                  <a:cubicBezTo>
                    <a:pt x="157" y="177"/>
                    <a:pt x="157" y="177"/>
                    <a:pt x="157" y="177"/>
                  </a:cubicBezTo>
                  <a:cubicBezTo>
                    <a:pt x="157" y="200"/>
                    <a:pt x="157" y="200"/>
                    <a:pt x="157" y="200"/>
                  </a:cubicBezTo>
                  <a:lnTo>
                    <a:pt x="189" y="200"/>
                  </a:lnTo>
                  <a:close/>
                  <a:moveTo>
                    <a:pt x="97" y="155"/>
                  </a:moveTo>
                  <a:cubicBezTo>
                    <a:pt x="87" y="155"/>
                    <a:pt x="87" y="155"/>
                    <a:pt x="87" y="155"/>
                  </a:cubicBezTo>
                  <a:cubicBezTo>
                    <a:pt x="87" y="218"/>
                    <a:pt x="87" y="218"/>
                    <a:pt x="87" y="218"/>
                  </a:cubicBezTo>
                  <a:cubicBezTo>
                    <a:pt x="97" y="218"/>
                    <a:pt x="97" y="218"/>
                    <a:pt x="97" y="218"/>
                  </a:cubicBezTo>
                  <a:lnTo>
                    <a:pt x="97" y="155"/>
                  </a:lnTo>
                  <a:close/>
                  <a:moveTo>
                    <a:pt x="97" y="150"/>
                  </a:moveTo>
                  <a:cubicBezTo>
                    <a:pt x="97" y="138"/>
                    <a:pt x="97" y="138"/>
                    <a:pt x="97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87" y="150"/>
                    <a:pt x="87" y="150"/>
                    <a:pt x="87" y="150"/>
                  </a:cubicBezTo>
                  <a:lnTo>
                    <a:pt x="97" y="150"/>
                  </a:lnTo>
                  <a:close/>
                  <a:moveTo>
                    <a:pt x="97" y="94"/>
                  </a:moveTo>
                  <a:cubicBezTo>
                    <a:pt x="87" y="94"/>
                    <a:pt x="87" y="94"/>
                    <a:pt x="87" y="94"/>
                  </a:cubicBezTo>
                  <a:cubicBezTo>
                    <a:pt x="87" y="132"/>
                    <a:pt x="87" y="132"/>
                    <a:pt x="87" y="132"/>
                  </a:cubicBezTo>
                  <a:cubicBezTo>
                    <a:pt x="97" y="132"/>
                    <a:pt x="97" y="132"/>
                    <a:pt x="97" y="132"/>
                  </a:cubicBezTo>
                  <a:lnTo>
                    <a:pt x="97" y="94"/>
                  </a:lnTo>
                  <a:close/>
                  <a:moveTo>
                    <a:pt x="123" y="200"/>
                  </a:moveTo>
                  <a:cubicBezTo>
                    <a:pt x="148" y="200"/>
                    <a:pt x="148" y="200"/>
                    <a:pt x="148" y="200"/>
                  </a:cubicBezTo>
                  <a:cubicBezTo>
                    <a:pt x="148" y="177"/>
                    <a:pt x="148" y="177"/>
                    <a:pt x="148" y="177"/>
                  </a:cubicBezTo>
                  <a:cubicBezTo>
                    <a:pt x="123" y="177"/>
                    <a:pt x="123" y="177"/>
                    <a:pt x="123" y="177"/>
                  </a:cubicBezTo>
                  <a:lnTo>
                    <a:pt x="123" y="20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5190490" y="5792470"/>
            <a:ext cx="595630" cy="595630"/>
            <a:chOff x="4017496" y="6318250"/>
            <a:chExt cx="595700" cy="595700"/>
          </a:xfrm>
          <a:solidFill>
            <a:srgbClr val="DEEBF7">
              <a:alpha val="50196"/>
            </a:srgbClr>
          </a:solidFill>
        </p:grpSpPr>
        <p:sp>
          <p:nvSpPr>
            <p:cNvPr id="36" name="椭圆 35"/>
            <p:cNvSpPr/>
            <p:nvPr/>
          </p:nvSpPr>
          <p:spPr>
            <a:xfrm>
              <a:off x="4017496" y="6318250"/>
              <a:ext cx="595700" cy="595700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7" name="Group 160"/>
            <p:cNvGrpSpPr/>
            <p:nvPr/>
          </p:nvGrpSpPr>
          <p:grpSpPr>
            <a:xfrm>
              <a:off x="4067101" y="6346088"/>
              <a:ext cx="496490" cy="448483"/>
              <a:chOff x="3405188" y="1758951"/>
              <a:chExt cx="1247775" cy="1127125"/>
            </a:xfrm>
            <a:grpFill/>
          </p:grpSpPr>
          <p:sp>
            <p:nvSpPr>
              <p:cNvPr id="38" name="Freeform 25"/>
              <p:cNvSpPr>
                <a:spLocks noEditPoints="1"/>
              </p:cNvSpPr>
              <p:nvPr/>
            </p:nvSpPr>
            <p:spPr bwMode="auto">
              <a:xfrm>
                <a:off x="3405188" y="2587626"/>
                <a:ext cx="1247775" cy="298450"/>
              </a:xfrm>
              <a:custGeom>
                <a:avLst/>
                <a:gdLst/>
                <a:ahLst/>
                <a:cxnLst>
                  <a:cxn ang="0">
                    <a:pos x="1118" y="4"/>
                  </a:cxn>
                  <a:cxn ang="0">
                    <a:pos x="1108" y="11"/>
                  </a:cxn>
                  <a:cxn ang="0">
                    <a:pos x="1112" y="33"/>
                  </a:cxn>
                  <a:cxn ang="0">
                    <a:pos x="586" y="208"/>
                  </a:cxn>
                  <a:cxn ang="0">
                    <a:pos x="60" y="33"/>
                  </a:cxn>
                  <a:cxn ang="0">
                    <a:pos x="64" y="11"/>
                  </a:cxn>
                  <a:cxn ang="0">
                    <a:pos x="54" y="4"/>
                  </a:cxn>
                  <a:cxn ang="0">
                    <a:pos x="0" y="86"/>
                  </a:cxn>
                  <a:cxn ang="0">
                    <a:pos x="586" y="281"/>
                  </a:cxn>
                  <a:cxn ang="0">
                    <a:pos x="1172" y="86"/>
                  </a:cxn>
                  <a:cxn ang="0">
                    <a:pos x="1118" y="4"/>
                  </a:cxn>
                  <a:cxn ang="0">
                    <a:pos x="1118" y="4"/>
                  </a:cxn>
                  <a:cxn ang="0">
                    <a:pos x="1118" y="4"/>
                  </a:cxn>
                </a:cxnLst>
                <a:rect l="0" t="0" r="r" b="b"/>
                <a:pathLst>
                  <a:path w="1172" h="281">
                    <a:moveTo>
                      <a:pt x="1118" y="4"/>
                    </a:moveTo>
                    <a:cubicBezTo>
                      <a:pt x="1113" y="0"/>
                      <a:pt x="1106" y="5"/>
                      <a:pt x="1108" y="11"/>
                    </a:cubicBezTo>
                    <a:cubicBezTo>
                      <a:pt x="1111" y="18"/>
                      <a:pt x="1112" y="26"/>
                      <a:pt x="1112" y="33"/>
                    </a:cubicBezTo>
                    <a:cubicBezTo>
                      <a:pt x="1112" y="130"/>
                      <a:pt x="877" y="208"/>
                      <a:pt x="586" y="208"/>
                    </a:cubicBezTo>
                    <a:cubicBezTo>
                      <a:pt x="296" y="208"/>
                      <a:pt x="60" y="130"/>
                      <a:pt x="60" y="33"/>
                    </a:cubicBezTo>
                    <a:cubicBezTo>
                      <a:pt x="60" y="26"/>
                      <a:pt x="62" y="19"/>
                      <a:pt x="64" y="11"/>
                    </a:cubicBezTo>
                    <a:cubicBezTo>
                      <a:pt x="67" y="5"/>
                      <a:pt x="60" y="0"/>
                      <a:pt x="54" y="4"/>
                    </a:cubicBezTo>
                    <a:cubicBezTo>
                      <a:pt x="20" y="29"/>
                      <a:pt x="0" y="56"/>
                      <a:pt x="0" y="86"/>
                    </a:cubicBezTo>
                    <a:cubicBezTo>
                      <a:pt x="0" y="194"/>
                      <a:pt x="263" y="281"/>
                      <a:pt x="586" y="281"/>
                    </a:cubicBezTo>
                    <a:cubicBezTo>
                      <a:pt x="910" y="281"/>
                      <a:pt x="1172" y="194"/>
                      <a:pt x="1172" y="86"/>
                    </a:cubicBezTo>
                    <a:cubicBezTo>
                      <a:pt x="1172" y="56"/>
                      <a:pt x="1153" y="29"/>
                      <a:pt x="1118" y="4"/>
                    </a:cubicBezTo>
                    <a:close/>
                    <a:moveTo>
                      <a:pt x="1118" y="4"/>
                    </a:moveTo>
                    <a:cubicBezTo>
                      <a:pt x="1118" y="4"/>
                      <a:pt x="1118" y="4"/>
                      <a:pt x="1118" y="4"/>
                    </a:cubicBezTo>
                  </a:path>
                </a:pathLst>
              </a:custGeom>
              <a:grpFill/>
              <a:ln w="9525">
                <a:solidFill>
                  <a:schemeClr val="tx2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9" name="Freeform 26"/>
              <p:cNvSpPr>
                <a:spLocks noEditPoints="1"/>
              </p:cNvSpPr>
              <p:nvPr/>
            </p:nvSpPr>
            <p:spPr bwMode="auto">
              <a:xfrm>
                <a:off x="3544888" y="2541589"/>
                <a:ext cx="968375" cy="212725"/>
              </a:xfrm>
              <a:custGeom>
                <a:avLst/>
                <a:gdLst/>
                <a:ahLst/>
                <a:cxnLst>
                  <a:cxn ang="0">
                    <a:pos x="837" y="12"/>
                  </a:cxn>
                  <a:cxn ang="0">
                    <a:pos x="845" y="35"/>
                  </a:cxn>
                  <a:cxn ang="0">
                    <a:pos x="455" y="147"/>
                  </a:cxn>
                  <a:cxn ang="0">
                    <a:pos x="66" y="35"/>
                  </a:cxn>
                  <a:cxn ang="0">
                    <a:pos x="74" y="12"/>
                  </a:cxn>
                  <a:cxn ang="0">
                    <a:pos x="65" y="3"/>
                  </a:cxn>
                  <a:cxn ang="0">
                    <a:pos x="0" y="70"/>
                  </a:cxn>
                  <a:cxn ang="0">
                    <a:pos x="455" y="200"/>
                  </a:cxn>
                  <a:cxn ang="0">
                    <a:pos x="910" y="70"/>
                  </a:cxn>
                  <a:cxn ang="0">
                    <a:pos x="845" y="3"/>
                  </a:cxn>
                  <a:cxn ang="0">
                    <a:pos x="837" y="12"/>
                  </a:cxn>
                  <a:cxn ang="0">
                    <a:pos x="837" y="12"/>
                  </a:cxn>
                  <a:cxn ang="0">
                    <a:pos x="837" y="12"/>
                  </a:cxn>
                </a:cxnLst>
                <a:rect l="0" t="0" r="r" b="b"/>
                <a:pathLst>
                  <a:path w="910" h="200">
                    <a:moveTo>
                      <a:pt x="837" y="12"/>
                    </a:moveTo>
                    <a:cubicBezTo>
                      <a:pt x="842" y="20"/>
                      <a:pt x="845" y="27"/>
                      <a:pt x="845" y="35"/>
                    </a:cubicBezTo>
                    <a:cubicBezTo>
                      <a:pt x="845" y="96"/>
                      <a:pt x="670" y="147"/>
                      <a:pt x="455" y="147"/>
                    </a:cubicBezTo>
                    <a:cubicBezTo>
                      <a:pt x="240" y="147"/>
                      <a:pt x="66" y="96"/>
                      <a:pt x="66" y="35"/>
                    </a:cubicBezTo>
                    <a:cubicBezTo>
                      <a:pt x="66" y="27"/>
                      <a:pt x="69" y="20"/>
                      <a:pt x="74" y="12"/>
                    </a:cubicBezTo>
                    <a:cubicBezTo>
                      <a:pt x="78" y="7"/>
                      <a:pt x="72" y="0"/>
                      <a:pt x="65" y="3"/>
                    </a:cubicBezTo>
                    <a:cubicBezTo>
                      <a:pt x="24" y="22"/>
                      <a:pt x="0" y="45"/>
                      <a:pt x="0" y="70"/>
                    </a:cubicBezTo>
                    <a:cubicBezTo>
                      <a:pt x="0" y="142"/>
                      <a:pt x="204" y="200"/>
                      <a:pt x="455" y="200"/>
                    </a:cubicBezTo>
                    <a:cubicBezTo>
                      <a:pt x="706" y="200"/>
                      <a:pt x="910" y="142"/>
                      <a:pt x="910" y="70"/>
                    </a:cubicBezTo>
                    <a:cubicBezTo>
                      <a:pt x="910" y="45"/>
                      <a:pt x="886" y="22"/>
                      <a:pt x="845" y="3"/>
                    </a:cubicBezTo>
                    <a:cubicBezTo>
                      <a:pt x="839" y="0"/>
                      <a:pt x="833" y="7"/>
                      <a:pt x="837" y="12"/>
                    </a:cubicBezTo>
                    <a:close/>
                    <a:moveTo>
                      <a:pt x="837" y="12"/>
                    </a:moveTo>
                    <a:cubicBezTo>
                      <a:pt x="837" y="12"/>
                      <a:pt x="837" y="12"/>
                      <a:pt x="837" y="12"/>
                    </a:cubicBezTo>
                  </a:path>
                </a:pathLst>
              </a:custGeom>
              <a:grpFill/>
              <a:ln w="9525">
                <a:solidFill>
                  <a:schemeClr val="tx2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0" name="Freeform 27"/>
              <p:cNvSpPr>
                <a:spLocks noEditPoints="1"/>
              </p:cNvSpPr>
              <p:nvPr/>
            </p:nvSpPr>
            <p:spPr bwMode="auto">
              <a:xfrm>
                <a:off x="3729038" y="1989139"/>
                <a:ext cx="600075" cy="650875"/>
              </a:xfrm>
              <a:custGeom>
                <a:avLst/>
                <a:gdLst/>
                <a:ahLst/>
                <a:cxnLst>
                  <a:cxn ang="0">
                    <a:pos x="6" y="528"/>
                  </a:cxn>
                  <a:cxn ang="0">
                    <a:pos x="1" y="539"/>
                  </a:cxn>
                  <a:cxn ang="0">
                    <a:pos x="282" y="612"/>
                  </a:cxn>
                  <a:cxn ang="0">
                    <a:pos x="563" y="539"/>
                  </a:cxn>
                  <a:cxn ang="0">
                    <a:pos x="559" y="528"/>
                  </a:cxn>
                  <a:cxn ang="0">
                    <a:pos x="289" y="106"/>
                  </a:cxn>
                  <a:cxn ang="0">
                    <a:pos x="336" y="53"/>
                  </a:cxn>
                  <a:cxn ang="0">
                    <a:pos x="282" y="0"/>
                  </a:cxn>
                  <a:cxn ang="0">
                    <a:pos x="229" y="53"/>
                  </a:cxn>
                  <a:cxn ang="0">
                    <a:pos x="275" y="106"/>
                  </a:cxn>
                  <a:cxn ang="0">
                    <a:pos x="6" y="528"/>
                  </a:cxn>
                  <a:cxn ang="0">
                    <a:pos x="6" y="528"/>
                  </a:cxn>
                  <a:cxn ang="0">
                    <a:pos x="6" y="528"/>
                  </a:cxn>
                </a:cxnLst>
                <a:rect l="0" t="0" r="r" b="b"/>
                <a:pathLst>
                  <a:path w="564" h="612">
                    <a:moveTo>
                      <a:pt x="6" y="528"/>
                    </a:moveTo>
                    <a:cubicBezTo>
                      <a:pt x="2" y="530"/>
                      <a:pt x="0" y="535"/>
                      <a:pt x="1" y="539"/>
                    </a:cubicBezTo>
                    <a:cubicBezTo>
                      <a:pt x="15" y="580"/>
                      <a:pt x="136" y="612"/>
                      <a:pt x="282" y="612"/>
                    </a:cubicBezTo>
                    <a:cubicBezTo>
                      <a:pt x="429" y="612"/>
                      <a:pt x="549" y="580"/>
                      <a:pt x="563" y="539"/>
                    </a:cubicBezTo>
                    <a:cubicBezTo>
                      <a:pt x="564" y="535"/>
                      <a:pt x="563" y="530"/>
                      <a:pt x="559" y="528"/>
                    </a:cubicBezTo>
                    <a:cubicBezTo>
                      <a:pt x="525" y="511"/>
                      <a:pt x="331" y="446"/>
                      <a:pt x="289" y="106"/>
                    </a:cubicBezTo>
                    <a:cubicBezTo>
                      <a:pt x="315" y="103"/>
                      <a:pt x="336" y="80"/>
                      <a:pt x="336" y="53"/>
                    </a:cubicBezTo>
                    <a:cubicBezTo>
                      <a:pt x="336" y="24"/>
                      <a:pt x="312" y="0"/>
                      <a:pt x="282" y="0"/>
                    </a:cubicBezTo>
                    <a:cubicBezTo>
                      <a:pt x="253" y="0"/>
                      <a:pt x="229" y="24"/>
                      <a:pt x="229" y="53"/>
                    </a:cubicBezTo>
                    <a:cubicBezTo>
                      <a:pt x="229" y="80"/>
                      <a:pt x="249" y="103"/>
                      <a:pt x="275" y="106"/>
                    </a:cubicBezTo>
                    <a:cubicBezTo>
                      <a:pt x="235" y="447"/>
                      <a:pt x="38" y="511"/>
                      <a:pt x="6" y="528"/>
                    </a:cubicBezTo>
                    <a:close/>
                    <a:moveTo>
                      <a:pt x="6" y="528"/>
                    </a:moveTo>
                    <a:cubicBezTo>
                      <a:pt x="6" y="528"/>
                      <a:pt x="6" y="528"/>
                      <a:pt x="6" y="528"/>
                    </a:cubicBezTo>
                  </a:path>
                </a:pathLst>
              </a:custGeom>
              <a:grpFill/>
              <a:ln w="9525">
                <a:solidFill>
                  <a:schemeClr val="tx2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1" name="Freeform 28"/>
              <p:cNvSpPr>
                <a:spLocks noEditPoints="1"/>
              </p:cNvSpPr>
              <p:nvPr/>
            </p:nvSpPr>
            <p:spPr bwMode="auto">
              <a:xfrm>
                <a:off x="3946526" y="1758951"/>
                <a:ext cx="165100" cy="165100"/>
              </a:xfrm>
              <a:custGeom>
                <a:avLst/>
                <a:gdLst/>
                <a:ahLst/>
                <a:cxnLst>
                  <a:cxn ang="0">
                    <a:pos x="155" y="78"/>
                  </a:cxn>
                  <a:cxn ang="0">
                    <a:pos x="77" y="0"/>
                  </a:cxn>
                  <a:cxn ang="0">
                    <a:pos x="0" y="78"/>
                  </a:cxn>
                  <a:cxn ang="0">
                    <a:pos x="77" y="155"/>
                  </a:cxn>
                  <a:cxn ang="0">
                    <a:pos x="155" y="78"/>
                  </a:cxn>
                  <a:cxn ang="0">
                    <a:pos x="53" y="81"/>
                  </a:cxn>
                  <a:cxn ang="0">
                    <a:pos x="29" y="58"/>
                  </a:cxn>
                  <a:cxn ang="0">
                    <a:pos x="53" y="34"/>
                  </a:cxn>
                  <a:cxn ang="0">
                    <a:pos x="76" y="58"/>
                  </a:cxn>
                  <a:cxn ang="0">
                    <a:pos x="53" y="81"/>
                  </a:cxn>
                  <a:cxn ang="0">
                    <a:pos x="53" y="81"/>
                  </a:cxn>
                  <a:cxn ang="0">
                    <a:pos x="53" y="81"/>
                  </a:cxn>
                </a:cxnLst>
                <a:rect l="0" t="0" r="r" b="b"/>
                <a:pathLst>
                  <a:path w="155" h="155">
                    <a:moveTo>
                      <a:pt x="155" y="78"/>
                    </a:moveTo>
                    <a:cubicBezTo>
                      <a:pt x="155" y="35"/>
                      <a:pt x="120" y="0"/>
                      <a:pt x="77" y="0"/>
                    </a:cubicBezTo>
                    <a:cubicBezTo>
                      <a:pt x="34" y="0"/>
                      <a:pt x="0" y="35"/>
                      <a:pt x="0" y="78"/>
                    </a:cubicBezTo>
                    <a:cubicBezTo>
                      <a:pt x="0" y="121"/>
                      <a:pt x="34" y="155"/>
                      <a:pt x="77" y="155"/>
                    </a:cubicBezTo>
                    <a:cubicBezTo>
                      <a:pt x="120" y="155"/>
                      <a:pt x="155" y="121"/>
                      <a:pt x="155" y="78"/>
                    </a:cubicBezTo>
                    <a:close/>
                    <a:moveTo>
                      <a:pt x="53" y="81"/>
                    </a:moveTo>
                    <a:cubicBezTo>
                      <a:pt x="40" y="81"/>
                      <a:pt x="29" y="71"/>
                      <a:pt x="29" y="58"/>
                    </a:cubicBezTo>
                    <a:cubicBezTo>
                      <a:pt x="29" y="45"/>
                      <a:pt x="40" y="34"/>
                      <a:pt x="53" y="34"/>
                    </a:cubicBezTo>
                    <a:cubicBezTo>
                      <a:pt x="66" y="34"/>
                      <a:pt x="76" y="45"/>
                      <a:pt x="76" y="58"/>
                    </a:cubicBezTo>
                    <a:cubicBezTo>
                      <a:pt x="76" y="71"/>
                      <a:pt x="66" y="81"/>
                      <a:pt x="53" y="81"/>
                    </a:cubicBezTo>
                    <a:close/>
                    <a:moveTo>
                      <a:pt x="53" y="81"/>
                    </a:moveTo>
                    <a:cubicBezTo>
                      <a:pt x="53" y="81"/>
                      <a:pt x="53" y="81"/>
                      <a:pt x="53" y="81"/>
                    </a:cubicBezTo>
                  </a:path>
                </a:pathLst>
              </a:custGeom>
              <a:grpFill/>
              <a:ln w="9525">
                <a:solidFill>
                  <a:schemeClr val="tx2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</p:grpSp>
      <p:grpSp>
        <p:nvGrpSpPr>
          <p:cNvPr id="42" name="组合 41"/>
          <p:cNvGrpSpPr/>
          <p:nvPr/>
        </p:nvGrpSpPr>
        <p:grpSpPr>
          <a:xfrm>
            <a:off x="6550044" y="5812790"/>
            <a:ext cx="595700" cy="595700"/>
            <a:chOff x="4976024" y="6262300"/>
            <a:chExt cx="595700" cy="595700"/>
          </a:xfrm>
        </p:grpSpPr>
        <p:sp>
          <p:nvSpPr>
            <p:cNvPr id="43" name="椭圆 42"/>
            <p:cNvSpPr/>
            <p:nvPr/>
          </p:nvSpPr>
          <p:spPr>
            <a:xfrm>
              <a:off x="4976024" y="6262300"/>
              <a:ext cx="595700" cy="595700"/>
            </a:xfrm>
            <a:prstGeom prst="ellipse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Freeform 10"/>
            <p:cNvSpPr>
              <a:spLocks noEditPoints="1"/>
            </p:cNvSpPr>
            <p:nvPr/>
          </p:nvSpPr>
          <p:spPr bwMode="auto">
            <a:xfrm>
              <a:off x="5057087" y="6335640"/>
              <a:ext cx="433575" cy="406511"/>
            </a:xfrm>
            <a:custGeom>
              <a:avLst/>
              <a:gdLst/>
              <a:ahLst/>
              <a:cxnLst>
                <a:cxn ang="0">
                  <a:pos x="491" y="0"/>
                </a:cxn>
                <a:cxn ang="0">
                  <a:pos x="982" y="492"/>
                </a:cxn>
                <a:cxn ang="0">
                  <a:pos x="729" y="921"/>
                </a:cxn>
                <a:cxn ang="0">
                  <a:pos x="253" y="921"/>
                </a:cxn>
                <a:cxn ang="0">
                  <a:pos x="0" y="492"/>
                </a:cxn>
                <a:cxn ang="0">
                  <a:pos x="491" y="0"/>
                </a:cxn>
                <a:cxn ang="0">
                  <a:pos x="769" y="770"/>
                </a:cxn>
                <a:cxn ang="0">
                  <a:pos x="885" y="492"/>
                </a:cxn>
                <a:cxn ang="0">
                  <a:pos x="798" y="492"/>
                </a:cxn>
                <a:cxn ang="0">
                  <a:pos x="798" y="430"/>
                </a:cxn>
                <a:cxn ang="0">
                  <a:pos x="880" y="430"/>
                </a:cxn>
                <a:cxn ang="0">
                  <a:pos x="839" y="307"/>
                </a:cxn>
                <a:cxn ang="0">
                  <a:pos x="737" y="307"/>
                </a:cxn>
                <a:cxn ang="0">
                  <a:pos x="737" y="246"/>
                </a:cxn>
                <a:cxn ang="0">
                  <a:pos x="798" y="246"/>
                </a:cxn>
                <a:cxn ang="0">
                  <a:pos x="769" y="214"/>
                </a:cxn>
                <a:cxn ang="0">
                  <a:pos x="614" y="118"/>
                </a:cxn>
                <a:cxn ang="0">
                  <a:pos x="614" y="185"/>
                </a:cxn>
                <a:cxn ang="0">
                  <a:pos x="553" y="185"/>
                </a:cxn>
                <a:cxn ang="0">
                  <a:pos x="553" y="103"/>
                </a:cxn>
                <a:cxn ang="0">
                  <a:pos x="491" y="98"/>
                </a:cxn>
                <a:cxn ang="0">
                  <a:pos x="430" y="103"/>
                </a:cxn>
                <a:cxn ang="0">
                  <a:pos x="430" y="185"/>
                </a:cxn>
                <a:cxn ang="0">
                  <a:pos x="368" y="185"/>
                </a:cxn>
                <a:cxn ang="0">
                  <a:pos x="368" y="118"/>
                </a:cxn>
                <a:cxn ang="0">
                  <a:pos x="213" y="214"/>
                </a:cxn>
                <a:cxn ang="0">
                  <a:pos x="184" y="246"/>
                </a:cxn>
                <a:cxn ang="0">
                  <a:pos x="246" y="246"/>
                </a:cxn>
                <a:cxn ang="0">
                  <a:pos x="246" y="307"/>
                </a:cxn>
                <a:cxn ang="0">
                  <a:pos x="143" y="307"/>
                </a:cxn>
                <a:cxn ang="0">
                  <a:pos x="103" y="430"/>
                </a:cxn>
                <a:cxn ang="0">
                  <a:pos x="184" y="430"/>
                </a:cxn>
                <a:cxn ang="0">
                  <a:pos x="184" y="492"/>
                </a:cxn>
                <a:cxn ang="0">
                  <a:pos x="98" y="492"/>
                </a:cxn>
                <a:cxn ang="0">
                  <a:pos x="213" y="770"/>
                </a:cxn>
                <a:cxn ang="0">
                  <a:pos x="245" y="799"/>
                </a:cxn>
                <a:cxn ang="0">
                  <a:pos x="430" y="799"/>
                </a:cxn>
                <a:cxn ang="0">
                  <a:pos x="465" y="307"/>
                </a:cxn>
                <a:cxn ang="0">
                  <a:pos x="518" y="307"/>
                </a:cxn>
                <a:cxn ang="0">
                  <a:pos x="553" y="799"/>
                </a:cxn>
                <a:cxn ang="0">
                  <a:pos x="737" y="799"/>
                </a:cxn>
                <a:cxn ang="0">
                  <a:pos x="769" y="770"/>
                </a:cxn>
                <a:cxn ang="0">
                  <a:pos x="769" y="770"/>
                </a:cxn>
                <a:cxn ang="0">
                  <a:pos x="769" y="770"/>
                </a:cxn>
              </a:cxnLst>
              <a:rect l="0" t="0" r="r" b="b"/>
              <a:pathLst>
                <a:path w="982" h="921">
                  <a:moveTo>
                    <a:pt x="491" y="0"/>
                  </a:moveTo>
                  <a:cubicBezTo>
                    <a:pt x="762" y="0"/>
                    <a:pt x="982" y="220"/>
                    <a:pt x="982" y="492"/>
                  </a:cubicBezTo>
                  <a:cubicBezTo>
                    <a:pt x="982" y="677"/>
                    <a:pt x="880" y="838"/>
                    <a:pt x="729" y="921"/>
                  </a:cubicBezTo>
                  <a:cubicBezTo>
                    <a:pt x="253" y="921"/>
                    <a:pt x="253" y="921"/>
                    <a:pt x="253" y="921"/>
                  </a:cubicBezTo>
                  <a:cubicBezTo>
                    <a:pt x="102" y="838"/>
                    <a:pt x="0" y="677"/>
                    <a:pt x="0" y="492"/>
                  </a:cubicBezTo>
                  <a:cubicBezTo>
                    <a:pt x="0" y="220"/>
                    <a:pt x="220" y="0"/>
                    <a:pt x="491" y="0"/>
                  </a:cubicBezTo>
                  <a:close/>
                  <a:moveTo>
                    <a:pt x="769" y="770"/>
                  </a:moveTo>
                  <a:cubicBezTo>
                    <a:pt x="844" y="696"/>
                    <a:pt x="885" y="597"/>
                    <a:pt x="885" y="492"/>
                  </a:cubicBezTo>
                  <a:cubicBezTo>
                    <a:pt x="798" y="492"/>
                    <a:pt x="798" y="492"/>
                    <a:pt x="798" y="492"/>
                  </a:cubicBezTo>
                  <a:cubicBezTo>
                    <a:pt x="798" y="430"/>
                    <a:pt x="798" y="430"/>
                    <a:pt x="798" y="430"/>
                  </a:cubicBezTo>
                  <a:cubicBezTo>
                    <a:pt x="880" y="430"/>
                    <a:pt x="880" y="430"/>
                    <a:pt x="880" y="430"/>
                  </a:cubicBezTo>
                  <a:cubicBezTo>
                    <a:pt x="873" y="387"/>
                    <a:pt x="859" y="346"/>
                    <a:pt x="839" y="307"/>
                  </a:cubicBezTo>
                  <a:cubicBezTo>
                    <a:pt x="737" y="307"/>
                    <a:pt x="737" y="307"/>
                    <a:pt x="737" y="307"/>
                  </a:cubicBezTo>
                  <a:cubicBezTo>
                    <a:pt x="737" y="246"/>
                    <a:pt x="737" y="246"/>
                    <a:pt x="737" y="246"/>
                  </a:cubicBezTo>
                  <a:cubicBezTo>
                    <a:pt x="798" y="246"/>
                    <a:pt x="798" y="246"/>
                    <a:pt x="798" y="246"/>
                  </a:cubicBezTo>
                  <a:cubicBezTo>
                    <a:pt x="789" y="235"/>
                    <a:pt x="780" y="224"/>
                    <a:pt x="769" y="214"/>
                  </a:cubicBezTo>
                  <a:cubicBezTo>
                    <a:pt x="725" y="169"/>
                    <a:pt x="672" y="137"/>
                    <a:pt x="614" y="118"/>
                  </a:cubicBezTo>
                  <a:cubicBezTo>
                    <a:pt x="614" y="185"/>
                    <a:pt x="614" y="185"/>
                    <a:pt x="614" y="185"/>
                  </a:cubicBezTo>
                  <a:cubicBezTo>
                    <a:pt x="553" y="185"/>
                    <a:pt x="553" y="185"/>
                    <a:pt x="553" y="185"/>
                  </a:cubicBezTo>
                  <a:cubicBezTo>
                    <a:pt x="553" y="103"/>
                    <a:pt x="553" y="103"/>
                    <a:pt x="553" y="103"/>
                  </a:cubicBezTo>
                  <a:cubicBezTo>
                    <a:pt x="532" y="100"/>
                    <a:pt x="512" y="98"/>
                    <a:pt x="491" y="98"/>
                  </a:cubicBezTo>
                  <a:cubicBezTo>
                    <a:pt x="470" y="98"/>
                    <a:pt x="450" y="100"/>
                    <a:pt x="430" y="103"/>
                  </a:cubicBezTo>
                  <a:cubicBezTo>
                    <a:pt x="430" y="185"/>
                    <a:pt x="430" y="185"/>
                    <a:pt x="430" y="185"/>
                  </a:cubicBezTo>
                  <a:cubicBezTo>
                    <a:pt x="368" y="185"/>
                    <a:pt x="368" y="185"/>
                    <a:pt x="368" y="185"/>
                  </a:cubicBezTo>
                  <a:cubicBezTo>
                    <a:pt x="368" y="118"/>
                    <a:pt x="368" y="118"/>
                    <a:pt x="368" y="118"/>
                  </a:cubicBezTo>
                  <a:cubicBezTo>
                    <a:pt x="310" y="137"/>
                    <a:pt x="257" y="169"/>
                    <a:pt x="213" y="214"/>
                  </a:cubicBezTo>
                  <a:cubicBezTo>
                    <a:pt x="203" y="224"/>
                    <a:pt x="193" y="235"/>
                    <a:pt x="184" y="246"/>
                  </a:cubicBezTo>
                  <a:cubicBezTo>
                    <a:pt x="246" y="246"/>
                    <a:pt x="246" y="246"/>
                    <a:pt x="246" y="246"/>
                  </a:cubicBezTo>
                  <a:cubicBezTo>
                    <a:pt x="246" y="307"/>
                    <a:pt x="246" y="307"/>
                    <a:pt x="246" y="307"/>
                  </a:cubicBezTo>
                  <a:cubicBezTo>
                    <a:pt x="143" y="307"/>
                    <a:pt x="143" y="307"/>
                    <a:pt x="143" y="307"/>
                  </a:cubicBezTo>
                  <a:cubicBezTo>
                    <a:pt x="123" y="346"/>
                    <a:pt x="109" y="387"/>
                    <a:pt x="103" y="430"/>
                  </a:cubicBezTo>
                  <a:cubicBezTo>
                    <a:pt x="184" y="430"/>
                    <a:pt x="184" y="430"/>
                    <a:pt x="184" y="430"/>
                  </a:cubicBezTo>
                  <a:cubicBezTo>
                    <a:pt x="184" y="492"/>
                    <a:pt x="184" y="492"/>
                    <a:pt x="184" y="492"/>
                  </a:cubicBezTo>
                  <a:cubicBezTo>
                    <a:pt x="98" y="492"/>
                    <a:pt x="98" y="492"/>
                    <a:pt x="98" y="492"/>
                  </a:cubicBezTo>
                  <a:cubicBezTo>
                    <a:pt x="98" y="597"/>
                    <a:pt x="139" y="696"/>
                    <a:pt x="213" y="770"/>
                  </a:cubicBezTo>
                  <a:cubicBezTo>
                    <a:pt x="223" y="780"/>
                    <a:pt x="234" y="790"/>
                    <a:pt x="245" y="799"/>
                  </a:cubicBezTo>
                  <a:cubicBezTo>
                    <a:pt x="430" y="799"/>
                    <a:pt x="430" y="799"/>
                    <a:pt x="430" y="799"/>
                  </a:cubicBezTo>
                  <a:cubicBezTo>
                    <a:pt x="465" y="307"/>
                    <a:pt x="465" y="307"/>
                    <a:pt x="465" y="307"/>
                  </a:cubicBezTo>
                  <a:cubicBezTo>
                    <a:pt x="518" y="307"/>
                    <a:pt x="518" y="307"/>
                    <a:pt x="518" y="307"/>
                  </a:cubicBezTo>
                  <a:cubicBezTo>
                    <a:pt x="553" y="799"/>
                    <a:pt x="553" y="799"/>
                    <a:pt x="553" y="799"/>
                  </a:cubicBezTo>
                  <a:cubicBezTo>
                    <a:pt x="737" y="799"/>
                    <a:pt x="737" y="799"/>
                    <a:pt x="737" y="799"/>
                  </a:cubicBezTo>
                  <a:cubicBezTo>
                    <a:pt x="748" y="790"/>
                    <a:pt x="759" y="780"/>
                    <a:pt x="769" y="770"/>
                  </a:cubicBezTo>
                  <a:close/>
                  <a:moveTo>
                    <a:pt x="769" y="770"/>
                  </a:moveTo>
                  <a:cubicBezTo>
                    <a:pt x="769" y="770"/>
                    <a:pt x="769" y="770"/>
                    <a:pt x="769" y="770"/>
                  </a:cubicBezTo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7850650" y="5809615"/>
            <a:ext cx="595700" cy="595700"/>
            <a:chOff x="5862991" y="6262300"/>
            <a:chExt cx="595700" cy="595700"/>
          </a:xfrm>
          <a:noFill/>
        </p:grpSpPr>
        <p:sp>
          <p:nvSpPr>
            <p:cNvPr id="46" name="椭圆 45"/>
            <p:cNvSpPr/>
            <p:nvPr/>
          </p:nvSpPr>
          <p:spPr>
            <a:xfrm>
              <a:off x="5862991" y="6262300"/>
              <a:ext cx="595700" cy="595700"/>
            </a:xfrm>
            <a:prstGeom prst="ellipse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Freeform 45"/>
            <p:cNvSpPr>
              <a:spLocks noEditPoints="1"/>
            </p:cNvSpPr>
            <p:nvPr/>
          </p:nvSpPr>
          <p:spPr bwMode="auto">
            <a:xfrm>
              <a:off x="5921969" y="6318250"/>
              <a:ext cx="433575" cy="469888"/>
            </a:xfrm>
            <a:custGeom>
              <a:avLst/>
              <a:gdLst/>
              <a:ahLst/>
              <a:cxnLst>
                <a:cxn ang="0">
                  <a:pos x="783" y="812"/>
                </a:cxn>
                <a:cxn ang="0">
                  <a:pos x="684" y="703"/>
                </a:cxn>
                <a:cxn ang="0">
                  <a:pos x="698" y="592"/>
                </a:cxn>
                <a:cxn ang="0">
                  <a:pos x="674" y="483"/>
                </a:cxn>
                <a:cxn ang="0">
                  <a:pos x="617" y="387"/>
                </a:cxn>
                <a:cxn ang="0">
                  <a:pos x="532" y="315"/>
                </a:cxn>
                <a:cxn ang="0">
                  <a:pos x="428" y="275"/>
                </a:cxn>
                <a:cxn ang="0">
                  <a:pos x="316" y="270"/>
                </a:cxn>
                <a:cxn ang="0">
                  <a:pos x="209" y="303"/>
                </a:cxn>
                <a:cxn ang="0">
                  <a:pos x="119" y="367"/>
                </a:cxn>
                <a:cxn ang="0">
                  <a:pos x="54" y="458"/>
                </a:cxn>
                <a:cxn ang="0">
                  <a:pos x="22" y="565"/>
                </a:cxn>
                <a:cxn ang="0">
                  <a:pos x="27" y="677"/>
                </a:cxn>
                <a:cxn ang="0">
                  <a:pos x="68" y="781"/>
                </a:cxn>
                <a:cxn ang="0">
                  <a:pos x="140" y="866"/>
                </a:cxn>
                <a:cxn ang="0">
                  <a:pos x="236" y="923"/>
                </a:cxn>
                <a:cxn ang="0">
                  <a:pos x="345" y="945"/>
                </a:cxn>
                <a:cxn ang="0">
                  <a:pos x="456" y="931"/>
                </a:cxn>
                <a:cxn ang="0">
                  <a:pos x="556" y="882"/>
                </a:cxn>
                <a:cxn ang="0">
                  <a:pos x="605" y="817"/>
                </a:cxn>
                <a:cxn ang="0">
                  <a:pos x="769" y="943"/>
                </a:cxn>
                <a:cxn ang="0">
                  <a:pos x="843" y="818"/>
                </a:cxn>
                <a:cxn ang="0">
                  <a:pos x="456" y="618"/>
                </a:cxn>
                <a:cxn ang="0">
                  <a:pos x="317" y="545"/>
                </a:cxn>
                <a:cxn ang="0">
                  <a:pos x="381" y="630"/>
                </a:cxn>
                <a:cxn ang="0">
                  <a:pos x="276" y="614"/>
                </a:cxn>
                <a:cxn ang="0">
                  <a:pos x="407" y="700"/>
                </a:cxn>
                <a:cxn ang="0">
                  <a:pos x="408" y="804"/>
                </a:cxn>
                <a:cxn ang="0">
                  <a:pos x="307" y="409"/>
                </a:cxn>
                <a:cxn ang="0">
                  <a:pos x="550" y="674"/>
                </a:cxn>
                <a:cxn ang="0">
                  <a:pos x="576" y="689"/>
                </a:cxn>
                <a:cxn ang="0">
                  <a:pos x="299" y="379"/>
                </a:cxn>
                <a:cxn ang="0">
                  <a:pos x="415" y="833"/>
                </a:cxn>
                <a:cxn ang="0">
                  <a:pos x="544" y="781"/>
                </a:cxn>
                <a:cxn ang="0">
                  <a:pos x="109" y="670"/>
                </a:cxn>
                <a:cxn ang="0">
                  <a:pos x="605" y="543"/>
                </a:cxn>
                <a:cxn ang="0">
                  <a:pos x="839" y="900"/>
                </a:cxn>
                <a:cxn ang="0">
                  <a:pos x="773" y="900"/>
                </a:cxn>
                <a:cxn ang="0">
                  <a:pos x="807" y="842"/>
                </a:cxn>
                <a:cxn ang="0">
                  <a:pos x="839" y="900"/>
                </a:cxn>
                <a:cxn ang="0">
                  <a:pos x="543" y="226"/>
                </a:cxn>
                <a:cxn ang="0">
                  <a:pos x="570" y="293"/>
                </a:cxn>
                <a:cxn ang="0">
                  <a:pos x="620" y="312"/>
                </a:cxn>
                <a:cxn ang="0">
                  <a:pos x="687" y="340"/>
                </a:cxn>
                <a:cxn ang="0">
                  <a:pos x="736" y="318"/>
                </a:cxn>
                <a:cxn ang="0">
                  <a:pos x="802" y="290"/>
                </a:cxn>
                <a:cxn ang="0">
                  <a:pos x="821" y="240"/>
                </a:cxn>
                <a:cxn ang="0">
                  <a:pos x="849" y="173"/>
                </a:cxn>
                <a:cxn ang="0">
                  <a:pos x="827" y="124"/>
                </a:cxn>
                <a:cxn ang="0">
                  <a:pos x="800" y="58"/>
                </a:cxn>
                <a:cxn ang="0">
                  <a:pos x="749" y="39"/>
                </a:cxn>
                <a:cxn ang="0">
                  <a:pos x="683" y="11"/>
                </a:cxn>
                <a:cxn ang="0">
                  <a:pos x="634" y="33"/>
                </a:cxn>
                <a:cxn ang="0">
                  <a:pos x="567" y="60"/>
                </a:cxn>
                <a:cxn ang="0">
                  <a:pos x="548" y="111"/>
                </a:cxn>
                <a:cxn ang="0">
                  <a:pos x="521" y="177"/>
                </a:cxn>
                <a:cxn ang="0">
                  <a:pos x="685" y="93"/>
                </a:cxn>
                <a:cxn ang="0">
                  <a:pos x="685" y="258"/>
                </a:cxn>
                <a:cxn ang="0">
                  <a:pos x="685" y="93"/>
                </a:cxn>
                <a:cxn ang="0">
                  <a:pos x="685" y="93"/>
                </a:cxn>
              </a:cxnLst>
              <a:rect l="0" t="0" r="r" b="b"/>
              <a:pathLst>
                <a:path w="889" h="965">
                  <a:moveTo>
                    <a:pt x="843" y="818"/>
                  </a:moveTo>
                  <a:cubicBezTo>
                    <a:pt x="824" y="807"/>
                    <a:pt x="803" y="806"/>
                    <a:pt x="783" y="812"/>
                  </a:cubicBezTo>
                  <a:cubicBezTo>
                    <a:pt x="657" y="737"/>
                    <a:pt x="657" y="737"/>
                    <a:pt x="657" y="737"/>
                  </a:cubicBezTo>
                  <a:cubicBezTo>
                    <a:pt x="659" y="722"/>
                    <a:pt x="669" y="709"/>
                    <a:pt x="684" y="703"/>
                  </a:cubicBezTo>
                  <a:cubicBezTo>
                    <a:pt x="707" y="694"/>
                    <a:pt x="712" y="672"/>
                    <a:pt x="694" y="654"/>
                  </a:cubicBezTo>
                  <a:cubicBezTo>
                    <a:pt x="677" y="636"/>
                    <a:pt x="679" y="608"/>
                    <a:pt x="698" y="592"/>
                  </a:cubicBezTo>
                  <a:cubicBezTo>
                    <a:pt x="716" y="576"/>
                    <a:pt x="714" y="554"/>
                    <a:pt x="691" y="542"/>
                  </a:cubicBezTo>
                  <a:cubicBezTo>
                    <a:pt x="670" y="531"/>
                    <a:pt x="662" y="504"/>
                    <a:pt x="674" y="483"/>
                  </a:cubicBezTo>
                  <a:cubicBezTo>
                    <a:pt x="687" y="462"/>
                    <a:pt x="677" y="441"/>
                    <a:pt x="653" y="438"/>
                  </a:cubicBezTo>
                  <a:cubicBezTo>
                    <a:pt x="628" y="434"/>
                    <a:pt x="612" y="412"/>
                    <a:pt x="617" y="387"/>
                  </a:cubicBezTo>
                  <a:cubicBezTo>
                    <a:pt x="622" y="363"/>
                    <a:pt x="606" y="347"/>
                    <a:pt x="582" y="352"/>
                  </a:cubicBezTo>
                  <a:cubicBezTo>
                    <a:pt x="557" y="356"/>
                    <a:pt x="535" y="340"/>
                    <a:pt x="532" y="315"/>
                  </a:cubicBezTo>
                  <a:cubicBezTo>
                    <a:pt x="529" y="291"/>
                    <a:pt x="508" y="281"/>
                    <a:pt x="487" y="293"/>
                  </a:cubicBezTo>
                  <a:cubicBezTo>
                    <a:pt x="465" y="305"/>
                    <a:pt x="439" y="297"/>
                    <a:pt x="428" y="275"/>
                  </a:cubicBezTo>
                  <a:cubicBezTo>
                    <a:pt x="417" y="253"/>
                    <a:pt x="395" y="250"/>
                    <a:pt x="378" y="268"/>
                  </a:cubicBezTo>
                  <a:cubicBezTo>
                    <a:pt x="362" y="287"/>
                    <a:pt x="334" y="288"/>
                    <a:pt x="316" y="270"/>
                  </a:cubicBezTo>
                  <a:cubicBezTo>
                    <a:pt x="299" y="253"/>
                    <a:pt x="277" y="258"/>
                    <a:pt x="267" y="280"/>
                  </a:cubicBezTo>
                  <a:cubicBezTo>
                    <a:pt x="258" y="303"/>
                    <a:pt x="232" y="313"/>
                    <a:pt x="209" y="303"/>
                  </a:cubicBezTo>
                  <a:cubicBezTo>
                    <a:pt x="187" y="292"/>
                    <a:pt x="168" y="303"/>
                    <a:pt x="166" y="328"/>
                  </a:cubicBezTo>
                  <a:cubicBezTo>
                    <a:pt x="165" y="353"/>
                    <a:pt x="143" y="370"/>
                    <a:pt x="119" y="367"/>
                  </a:cubicBezTo>
                  <a:cubicBezTo>
                    <a:pt x="94" y="365"/>
                    <a:pt x="80" y="382"/>
                    <a:pt x="86" y="405"/>
                  </a:cubicBezTo>
                  <a:cubicBezTo>
                    <a:pt x="93" y="429"/>
                    <a:pt x="78" y="453"/>
                    <a:pt x="54" y="458"/>
                  </a:cubicBezTo>
                  <a:cubicBezTo>
                    <a:pt x="30" y="464"/>
                    <a:pt x="21" y="485"/>
                    <a:pt x="35" y="505"/>
                  </a:cubicBezTo>
                  <a:cubicBezTo>
                    <a:pt x="50" y="525"/>
                    <a:pt x="44" y="553"/>
                    <a:pt x="22" y="565"/>
                  </a:cubicBezTo>
                  <a:cubicBezTo>
                    <a:pt x="1" y="578"/>
                    <a:pt x="0" y="601"/>
                    <a:pt x="20" y="616"/>
                  </a:cubicBezTo>
                  <a:cubicBezTo>
                    <a:pt x="40" y="630"/>
                    <a:pt x="43" y="658"/>
                    <a:pt x="27" y="677"/>
                  </a:cubicBezTo>
                  <a:cubicBezTo>
                    <a:pt x="11" y="696"/>
                    <a:pt x="18" y="718"/>
                    <a:pt x="41" y="725"/>
                  </a:cubicBezTo>
                  <a:cubicBezTo>
                    <a:pt x="65" y="733"/>
                    <a:pt x="77" y="758"/>
                    <a:pt x="68" y="781"/>
                  </a:cubicBezTo>
                  <a:cubicBezTo>
                    <a:pt x="59" y="804"/>
                    <a:pt x="72" y="822"/>
                    <a:pt x="97" y="822"/>
                  </a:cubicBezTo>
                  <a:cubicBezTo>
                    <a:pt x="122" y="821"/>
                    <a:pt x="141" y="841"/>
                    <a:pt x="140" y="866"/>
                  </a:cubicBezTo>
                  <a:cubicBezTo>
                    <a:pt x="139" y="891"/>
                    <a:pt x="158" y="904"/>
                    <a:pt x="181" y="895"/>
                  </a:cubicBezTo>
                  <a:cubicBezTo>
                    <a:pt x="204" y="887"/>
                    <a:pt x="229" y="899"/>
                    <a:pt x="236" y="923"/>
                  </a:cubicBezTo>
                  <a:cubicBezTo>
                    <a:pt x="243" y="946"/>
                    <a:pt x="265" y="953"/>
                    <a:pt x="284" y="937"/>
                  </a:cubicBezTo>
                  <a:cubicBezTo>
                    <a:pt x="303" y="922"/>
                    <a:pt x="331" y="925"/>
                    <a:pt x="345" y="945"/>
                  </a:cubicBezTo>
                  <a:cubicBezTo>
                    <a:pt x="360" y="965"/>
                    <a:pt x="383" y="965"/>
                    <a:pt x="395" y="944"/>
                  </a:cubicBezTo>
                  <a:cubicBezTo>
                    <a:pt x="409" y="923"/>
                    <a:pt x="436" y="917"/>
                    <a:pt x="456" y="931"/>
                  </a:cubicBezTo>
                  <a:cubicBezTo>
                    <a:pt x="476" y="946"/>
                    <a:pt x="497" y="938"/>
                    <a:pt x="503" y="914"/>
                  </a:cubicBezTo>
                  <a:cubicBezTo>
                    <a:pt x="509" y="889"/>
                    <a:pt x="533" y="875"/>
                    <a:pt x="556" y="882"/>
                  </a:cubicBezTo>
                  <a:cubicBezTo>
                    <a:pt x="580" y="889"/>
                    <a:pt x="597" y="875"/>
                    <a:pt x="595" y="850"/>
                  </a:cubicBezTo>
                  <a:cubicBezTo>
                    <a:pt x="593" y="838"/>
                    <a:pt x="598" y="826"/>
                    <a:pt x="605" y="817"/>
                  </a:cubicBezTo>
                  <a:cubicBezTo>
                    <a:pt x="735" y="894"/>
                    <a:pt x="735" y="894"/>
                    <a:pt x="735" y="894"/>
                  </a:cubicBezTo>
                  <a:cubicBezTo>
                    <a:pt x="739" y="914"/>
                    <a:pt x="750" y="932"/>
                    <a:pt x="769" y="943"/>
                  </a:cubicBezTo>
                  <a:cubicBezTo>
                    <a:pt x="804" y="964"/>
                    <a:pt x="848" y="952"/>
                    <a:pt x="869" y="918"/>
                  </a:cubicBezTo>
                  <a:cubicBezTo>
                    <a:pt x="889" y="883"/>
                    <a:pt x="878" y="839"/>
                    <a:pt x="843" y="818"/>
                  </a:cubicBezTo>
                  <a:close/>
                  <a:moveTo>
                    <a:pt x="550" y="674"/>
                  </a:moveTo>
                  <a:cubicBezTo>
                    <a:pt x="456" y="618"/>
                    <a:pt x="456" y="618"/>
                    <a:pt x="456" y="618"/>
                  </a:cubicBezTo>
                  <a:cubicBezTo>
                    <a:pt x="455" y="588"/>
                    <a:pt x="440" y="559"/>
                    <a:pt x="412" y="543"/>
                  </a:cubicBezTo>
                  <a:cubicBezTo>
                    <a:pt x="381" y="525"/>
                    <a:pt x="345" y="527"/>
                    <a:pt x="317" y="545"/>
                  </a:cubicBezTo>
                  <a:cubicBezTo>
                    <a:pt x="368" y="575"/>
                    <a:pt x="368" y="575"/>
                    <a:pt x="368" y="575"/>
                  </a:cubicBezTo>
                  <a:cubicBezTo>
                    <a:pt x="387" y="586"/>
                    <a:pt x="392" y="610"/>
                    <a:pt x="381" y="630"/>
                  </a:cubicBezTo>
                  <a:cubicBezTo>
                    <a:pt x="370" y="649"/>
                    <a:pt x="346" y="655"/>
                    <a:pt x="328" y="644"/>
                  </a:cubicBezTo>
                  <a:cubicBezTo>
                    <a:pt x="276" y="614"/>
                    <a:pt x="276" y="614"/>
                    <a:pt x="276" y="614"/>
                  </a:cubicBezTo>
                  <a:cubicBezTo>
                    <a:pt x="273" y="647"/>
                    <a:pt x="289" y="680"/>
                    <a:pt x="320" y="698"/>
                  </a:cubicBezTo>
                  <a:cubicBezTo>
                    <a:pt x="348" y="715"/>
                    <a:pt x="380" y="714"/>
                    <a:pt x="407" y="700"/>
                  </a:cubicBezTo>
                  <a:cubicBezTo>
                    <a:pt x="498" y="754"/>
                    <a:pt x="498" y="754"/>
                    <a:pt x="498" y="754"/>
                  </a:cubicBezTo>
                  <a:cubicBezTo>
                    <a:pt x="473" y="777"/>
                    <a:pt x="443" y="795"/>
                    <a:pt x="408" y="804"/>
                  </a:cubicBezTo>
                  <a:cubicBezTo>
                    <a:pt x="299" y="832"/>
                    <a:pt x="188" y="766"/>
                    <a:pt x="160" y="657"/>
                  </a:cubicBezTo>
                  <a:cubicBezTo>
                    <a:pt x="132" y="548"/>
                    <a:pt x="198" y="437"/>
                    <a:pt x="307" y="409"/>
                  </a:cubicBezTo>
                  <a:cubicBezTo>
                    <a:pt x="415" y="381"/>
                    <a:pt x="527" y="447"/>
                    <a:pt x="555" y="556"/>
                  </a:cubicBezTo>
                  <a:cubicBezTo>
                    <a:pt x="565" y="596"/>
                    <a:pt x="562" y="637"/>
                    <a:pt x="550" y="674"/>
                  </a:cubicBezTo>
                  <a:close/>
                  <a:moveTo>
                    <a:pt x="595" y="700"/>
                  </a:moveTo>
                  <a:cubicBezTo>
                    <a:pt x="576" y="689"/>
                    <a:pt x="576" y="689"/>
                    <a:pt x="576" y="689"/>
                  </a:cubicBezTo>
                  <a:cubicBezTo>
                    <a:pt x="592" y="646"/>
                    <a:pt x="597" y="597"/>
                    <a:pt x="584" y="548"/>
                  </a:cubicBezTo>
                  <a:cubicBezTo>
                    <a:pt x="552" y="423"/>
                    <a:pt x="424" y="347"/>
                    <a:pt x="299" y="379"/>
                  </a:cubicBezTo>
                  <a:cubicBezTo>
                    <a:pt x="174" y="412"/>
                    <a:pt x="98" y="539"/>
                    <a:pt x="130" y="665"/>
                  </a:cubicBezTo>
                  <a:cubicBezTo>
                    <a:pt x="163" y="790"/>
                    <a:pt x="290" y="865"/>
                    <a:pt x="415" y="833"/>
                  </a:cubicBezTo>
                  <a:cubicBezTo>
                    <a:pt x="459" y="822"/>
                    <a:pt x="496" y="799"/>
                    <a:pt x="524" y="770"/>
                  </a:cubicBezTo>
                  <a:cubicBezTo>
                    <a:pt x="544" y="781"/>
                    <a:pt x="544" y="781"/>
                    <a:pt x="544" y="781"/>
                  </a:cubicBezTo>
                  <a:cubicBezTo>
                    <a:pt x="512" y="815"/>
                    <a:pt x="470" y="841"/>
                    <a:pt x="421" y="854"/>
                  </a:cubicBezTo>
                  <a:cubicBezTo>
                    <a:pt x="284" y="889"/>
                    <a:pt x="145" y="807"/>
                    <a:pt x="109" y="670"/>
                  </a:cubicBezTo>
                  <a:cubicBezTo>
                    <a:pt x="74" y="533"/>
                    <a:pt x="157" y="394"/>
                    <a:pt x="294" y="359"/>
                  </a:cubicBezTo>
                  <a:cubicBezTo>
                    <a:pt x="430" y="323"/>
                    <a:pt x="570" y="406"/>
                    <a:pt x="605" y="543"/>
                  </a:cubicBezTo>
                  <a:cubicBezTo>
                    <a:pt x="619" y="597"/>
                    <a:pt x="614" y="652"/>
                    <a:pt x="595" y="700"/>
                  </a:cubicBezTo>
                  <a:close/>
                  <a:moveTo>
                    <a:pt x="839" y="900"/>
                  </a:moveTo>
                  <a:cubicBezTo>
                    <a:pt x="806" y="919"/>
                    <a:pt x="806" y="919"/>
                    <a:pt x="806" y="919"/>
                  </a:cubicBezTo>
                  <a:cubicBezTo>
                    <a:pt x="773" y="900"/>
                    <a:pt x="773" y="900"/>
                    <a:pt x="773" y="900"/>
                  </a:cubicBezTo>
                  <a:cubicBezTo>
                    <a:pt x="773" y="861"/>
                    <a:pt x="773" y="861"/>
                    <a:pt x="773" y="861"/>
                  </a:cubicBezTo>
                  <a:cubicBezTo>
                    <a:pt x="807" y="842"/>
                    <a:pt x="807" y="842"/>
                    <a:pt x="807" y="842"/>
                  </a:cubicBezTo>
                  <a:cubicBezTo>
                    <a:pt x="840" y="862"/>
                    <a:pt x="840" y="862"/>
                    <a:pt x="840" y="862"/>
                  </a:cubicBezTo>
                  <a:lnTo>
                    <a:pt x="839" y="900"/>
                  </a:lnTo>
                  <a:close/>
                  <a:moveTo>
                    <a:pt x="526" y="216"/>
                  </a:moveTo>
                  <a:cubicBezTo>
                    <a:pt x="543" y="226"/>
                    <a:pt x="543" y="226"/>
                    <a:pt x="543" y="226"/>
                  </a:cubicBezTo>
                  <a:cubicBezTo>
                    <a:pt x="557" y="235"/>
                    <a:pt x="569" y="256"/>
                    <a:pt x="569" y="273"/>
                  </a:cubicBezTo>
                  <a:cubicBezTo>
                    <a:pt x="570" y="293"/>
                    <a:pt x="570" y="293"/>
                    <a:pt x="570" y="293"/>
                  </a:cubicBezTo>
                  <a:cubicBezTo>
                    <a:pt x="571" y="309"/>
                    <a:pt x="585" y="320"/>
                    <a:pt x="601" y="316"/>
                  </a:cubicBezTo>
                  <a:cubicBezTo>
                    <a:pt x="620" y="312"/>
                    <a:pt x="620" y="312"/>
                    <a:pt x="620" y="312"/>
                  </a:cubicBezTo>
                  <a:cubicBezTo>
                    <a:pt x="637" y="308"/>
                    <a:pt x="660" y="315"/>
                    <a:pt x="672" y="326"/>
                  </a:cubicBezTo>
                  <a:cubicBezTo>
                    <a:pt x="687" y="340"/>
                    <a:pt x="687" y="340"/>
                    <a:pt x="687" y="340"/>
                  </a:cubicBezTo>
                  <a:cubicBezTo>
                    <a:pt x="699" y="351"/>
                    <a:pt x="716" y="349"/>
                    <a:pt x="725" y="335"/>
                  </a:cubicBezTo>
                  <a:cubicBezTo>
                    <a:pt x="736" y="318"/>
                    <a:pt x="736" y="318"/>
                    <a:pt x="736" y="318"/>
                  </a:cubicBezTo>
                  <a:cubicBezTo>
                    <a:pt x="745" y="304"/>
                    <a:pt x="766" y="291"/>
                    <a:pt x="782" y="291"/>
                  </a:cubicBezTo>
                  <a:cubicBezTo>
                    <a:pt x="802" y="290"/>
                    <a:pt x="802" y="290"/>
                    <a:pt x="802" y="290"/>
                  </a:cubicBezTo>
                  <a:cubicBezTo>
                    <a:pt x="819" y="290"/>
                    <a:pt x="830" y="276"/>
                    <a:pt x="826" y="259"/>
                  </a:cubicBezTo>
                  <a:cubicBezTo>
                    <a:pt x="821" y="240"/>
                    <a:pt x="821" y="240"/>
                    <a:pt x="821" y="240"/>
                  </a:cubicBezTo>
                  <a:cubicBezTo>
                    <a:pt x="818" y="224"/>
                    <a:pt x="824" y="200"/>
                    <a:pt x="835" y="188"/>
                  </a:cubicBezTo>
                  <a:cubicBezTo>
                    <a:pt x="849" y="173"/>
                    <a:pt x="849" y="173"/>
                    <a:pt x="849" y="173"/>
                  </a:cubicBezTo>
                  <a:cubicBezTo>
                    <a:pt x="860" y="161"/>
                    <a:pt x="858" y="144"/>
                    <a:pt x="844" y="135"/>
                  </a:cubicBezTo>
                  <a:cubicBezTo>
                    <a:pt x="827" y="124"/>
                    <a:pt x="827" y="124"/>
                    <a:pt x="827" y="124"/>
                  </a:cubicBezTo>
                  <a:cubicBezTo>
                    <a:pt x="813" y="115"/>
                    <a:pt x="801" y="95"/>
                    <a:pt x="800" y="78"/>
                  </a:cubicBezTo>
                  <a:cubicBezTo>
                    <a:pt x="800" y="58"/>
                    <a:pt x="800" y="58"/>
                    <a:pt x="800" y="58"/>
                  </a:cubicBezTo>
                  <a:cubicBezTo>
                    <a:pt x="799" y="41"/>
                    <a:pt x="785" y="31"/>
                    <a:pt x="769" y="34"/>
                  </a:cubicBezTo>
                  <a:cubicBezTo>
                    <a:pt x="749" y="39"/>
                    <a:pt x="749" y="39"/>
                    <a:pt x="749" y="39"/>
                  </a:cubicBezTo>
                  <a:cubicBezTo>
                    <a:pt x="733" y="42"/>
                    <a:pt x="710" y="36"/>
                    <a:pt x="698" y="25"/>
                  </a:cubicBezTo>
                  <a:cubicBezTo>
                    <a:pt x="683" y="11"/>
                    <a:pt x="683" y="11"/>
                    <a:pt x="683" y="11"/>
                  </a:cubicBezTo>
                  <a:cubicBezTo>
                    <a:pt x="671" y="0"/>
                    <a:pt x="653" y="2"/>
                    <a:pt x="645" y="16"/>
                  </a:cubicBezTo>
                  <a:cubicBezTo>
                    <a:pt x="634" y="33"/>
                    <a:pt x="634" y="33"/>
                    <a:pt x="634" y="33"/>
                  </a:cubicBezTo>
                  <a:cubicBezTo>
                    <a:pt x="625" y="47"/>
                    <a:pt x="604" y="59"/>
                    <a:pt x="587" y="60"/>
                  </a:cubicBezTo>
                  <a:cubicBezTo>
                    <a:pt x="567" y="60"/>
                    <a:pt x="567" y="60"/>
                    <a:pt x="567" y="60"/>
                  </a:cubicBezTo>
                  <a:cubicBezTo>
                    <a:pt x="551" y="61"/>
                    <a:pt x="540" y="75"/>
                    <a:pt x="544" y="91"/>
                  </a:cubicBezTo>
                  <a:cubicBezTo>
                    <a:pt x="548" y="111"/>
                    <a:pt x="548" y="111"/>
                    <a:pt x="548" y="111"/>
                  </a:cubicBezTo>
                  <a:cubicBezTo>
                    <a:pt x="552" y="127"/>
                    <a:pt x="546" y="150"/>
                    <a:pt x="534" y="163"/>
                  </a:cubicBezTo>
                  <a:cubicBezTo>
                    <a:pt x="521" y="177"/>
                    <a:pt x="521" y="177"/>
                    <a:pt x="521" y="177"/>
                  </a:cubicBezTo>
                  <a:cubicBezTo>
                    <a:pt x="509" y="189"/>
                    <a:pt x="512" y="207"/>
                    <a:pt x="526" y="216"/>
                  </a:cubicBezTo>
                  <a:close/>
                  <a:moveTo>
                    <a:pt x="685" y="93"/>
                  </a:moveTo>
                  <a:cubicBezTo>
                    <a:pt x="730" y="93"/>
                    <a:pt x="767" y="130"/>
                    <a:pt x="767" y="175"/>
                  </a:cubicBezTo>
                  <a:cubicBezTo>
                    <a:pt x="767" y="221"/>
                    <a:pt x="730" y="258"/>
                    <a:pt x="685" y="258"/>
                  </a:cubicBezTo>
                  <a:cubicBezTo>
                    <a:pt x="639" y="258"/>
                    <a:pt x="603" y="221"/>
                    <a:pt x="603" y="175"/>
                  </a:cubicBezTo>
                  <a:cubicBezTo>
                    <a:pt x="603" y="130"/>
                    <a:pt x="639" y="93"/>
                    <a:pt x="685" y="93"/>
                  </a:cubicBezTo>
                  <a:close/>
                  <a:moveTo>
                    <a:pt x="685" y="93"/>
                  </a:moveTo>
                  <a:cubicBezTo>
                    <a:pt x="685" y="93"/>
                    <a:pt x="685" y="93"/>
                    <a:pt x="685" y="93"/>
                  </a:cubicBezTo>
                </a:path>
              </a:pathLst>
            </a:custGeom>
            <a:grpFill/>
            <a:ln w="9525">
              <a:solidFill>
                <a:srgbClr val="C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pic>
        <p:nvPicPr>
          <p:cNvPr id="6" name="Image 0" descr="logo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4260" y="21590"/>
            <a:ext cx="2237740" cy="735965"/>
          </a:xfrm>
          <a:prstGeom prst="rect">
            <a:avLst/>
          </a:prstGeom>
        </p:spPr>
      </p:pic>
      <p:grpSp>
        <p:nvGrpSpPr>
          <p:cNvPr id="8" name="Group 66"/>
          <p:cNvGrpSpPr>
            <a:grpSpLocks noChangeAspect="1"/>
          </p:cNvGrpSpPr>
          <p:nvPr/>
        </p:nvGrpSpPr>
        <p:grpSpPr bwMode="auto">
          <a:xfrm>
            <a:off x="3246120" y="4177665"/>
            <a:ext cx="191770" cy="220980"/>
            <a:chOff x="2111" y="2322"/>
            <a:chExt cx="121" cy="131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9" name="Freeform 67"/>
            <p:cNvSpPr/>
            <p:nvPr/>
          </p:nvSpPr>
          <p:spPr bwMode="auto">
            <a:xfrm>
              <a:off x="2159" y="2350"/>
              <a:ext cx="40" cy="37"/>
            </a:xfrm>
            <a:custGeom>
              <a:avLst/>
              <a:gdLst>
                <a:gd name="T0" fmla="*/ 89 w 213"/>
                <a:gd name="T1" fmla="*/ 19 h 198"/>
                <a:gd name="T2" fmla="*/ 196 w 213"/>
                <a:gd name="T3" fmla="*/ 143 h 198"/>
                <a:gd name="T4" fmla="*/ 208 w 213"/>
                <a:gd name="T5" fmla="*/ 189 h 198"/>
                <a:gd name="T6" fmla="*/ 206 w 213"/>
                <a:gd name="T7" fmla="*/ 191 h 198"/>
                <a:gd name="T8" fmla="*/ 158 w 213"/>
                <a:gd name="T9" fmla="*/ 186 h 198"/>
                <a:gd name="T10" fmla="*/ 22 w 213"/>
                <a:gd name="T11" fmla="*/ 92 h 198"/>
                <a:gd name="T12" fmla="*/ 13 w 213"/>
                <a:gd name="T13" fmla="*/ 44 h 198"/>
                <a:gd name="T14" fmla="*/ 40 w 213"/>
                <a:gd name="T15" fmla="*/ 15 h 198"/>
                <a:gd name="T16" fmla="*/ 89 w 213"/>
                <a:gd name="T17" fmla="*/ 19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3" h="198">
                  <a:moveTo>
                    <a:pt x="89" y="19"/>
                  </a:moveTo>
                  <a:cubicBezTo>
                    <a:pt x="196" y="143"/>
                    <a:pt x="196" y="143"/>
                    <a:pt x="196" y="143"/>
                  </a:cubicBezTo>
                  <a:cubicBezTo>
                    <a:pt x="210" y="160"/>
                    <a:pt x="213" y="183"/>
                    <a:pt x="208" y="189"/>
                  </a:cubicBezTo>
                  <a:cubicBezTo>
                    <a:pt x="206" y="191"/>
                    <a:pt x="206" y="191"/>
                    <a:pt x="206" y="191"/>
                  </a:cubicBezTo>
                  <a:cubicBezTo>
                    <a:pt x="200" y="197"/>
                    <a:pt x="176" y="198"/>
                    <a:pt x="158" y="186"/>
                  </a:cubicBezTo>
                  <a:cubicBezTo>
                    <a:pt x="22" y="92"/>
                    <a:pt x="22" y="92"/>
                    <a:pt x="22" y="92"/>
                  </a:cubicBezTo>
                  <a:cubicBezTo>
                    <a:pt x="4" y="80"/>
                    <a:pt x="0" y="58"/>
                    <a:pt x="13" y="44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53" y="0"/>
                    <a:pt x="74" y="2"/>
                    <a:pt x="89" y="1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2834"/>
                </a:solidFill>
              </a:endParaRPr>
            </a:p>
          </p:txBody>
        </p:sp>
        <p:sp>
          <p:nvSpPr>
            <p:cNvPr id="10" name="Freeform 68"/>
            <p:cNvSpPr>
              <a:spLocks noEditPoints="1"/>
            </p:cNvSpPr>
            <p:nvPr/>
          </p:nvSpPr>
          <p:spPr bwMode="auto">
            <a:xfrm>
              <a:off x="2129" y="2322"/>
              <a:ext cx="71" cy="90"/>
            </a:xfrm>
            <a:custGeom>
              <a:avLst/>
              <a:gdLst>
                <a:gd name="T0" fmla="*/ 142 w 381"/>
                <a:gd name="T1" fmla="*/ 449 h 481"/>
                <a:gd name="T2" fmla="*/ 348 w 381"/>
                <a:gd name="T3" fmla="*/ 236 h 481"/>
                <a:gd name="T4" fmla="*/ 374 w 381"/>
                <a:gd name="T5" fmla="*/ 235 h 481"/>
                <a:gd name="T6" fmla="*/ 374 w 381"/>
                <a:gd name="T7" fmla="*/ 260 h 481"/>
                <a:gd name="T8" fmla="*/ 168 w 381"/>
                <a:gd name="T9" fmla="*/ 474 h 481"/>
                <a:gd name="T10" fmla="*/ 142 w 381"/>
                <a:gd name="T11" fmla="*/ 474 h 481"/>
                <a:gd name="T12" fmla="*/ 142 w 381"/>
                <a:gd name="T13" fmla="*/ 449 h 481"/>
                <a:gd name="T14" fmla="*/ 122 w 381"/>
                <a:gd name="T15" fmla="*/ 245 h 481"/>
                <a:gd name="T16" fmla="*/ 0 w 381"/>
                <a:gd name="T17" fmla="*/ 123 h 481"/>
                <a:gd name="T18" fmla="*/ 20 w 381"/>
                <a:gd name="T19" fmla="*/ 56 h 481"/>
                <a:gd name="T20" fmla="*/ 45 w 381"/>
                <a:gd name="T21" fmla="*/ 51 h 481"/>
                <a:gd name="T22" fmla="*/ 50 w 381"/>
                <a:gd name="T23" fmla="*/ 76 h 481"/>
                <a:gd name="T24" fmla="*/ 36 w 381"/>
                <a:gd name="T25" fmla="*/ 123 h 481"/>
                <a:gd name="T26" fmla="*/ 122 w 381"/>
                <a:gd name="T27" fmla="*/ 209 h 481"/>
                <a:gd name="T28" fmla="*/ 209 w 381"/>
                <a:gd name="T29" fmla="*/ 123 h 481"/>
                <a:gd name="T30" fmla="*/ 133 w 381"/>
                <a:gd name="T31" fmla="*/ 37 h 481"/>
                <a:gd name="T32" fmla="*/ 117 w 381"/>
                <a:gd name="T33" fmla="*/ 17 h 481"/>
                <a:gd name="T34" fmla="*/ 137 w 381"/>
                <a:gd name="T35" fmla="*/ 2 h 481"/>
                <a:gd name="T36" fmla="*/ 245 w 381"/>
                <a:gd name="T37" fmla="*/ 123 h 481"/>
                <a:gd name="T38" fmla="*/ 122 w 381"/>
                <a:gd name="T39" fmla="*/ 245 h 481"/>
                <a:gd name="T40" fmla="*/ 67 w 381"/>
                <a:gd name="T41" fmla="*/ 52 h 481"/>
                <a:gd name="T42" fmla="*/ 52 w 381"/>
                <a:gd name="T43" fmla="*/ 44 h 481"/>
                <a:gd name="T44" fmla="*/ 58 w 381"/>
                <a:gd name="T45" fmla="*/ 19 h 481"/>
                <a:gd name="T46" fmla="*/ 81 w 381"/>
                <a:gd name="T47" fmla="*/ 8 h 481"/>
                <a:gd name="T48" fmla="*/ 104 w 381"/>
                <a:gd name="T49" fmla="*/ 19 h 481"/>
                <a:gd name="T50" fmla="*/ 93 w 381"/>
                <a:gd name="T51" fmla="*/ 42 h 481"/>
                <a:gd name="T52" fmla="*/ 77 w 381"/>
                <a:gd name="T53" fmla="*/ 50 h 481"/>
                <a:gd name="T54" fmla="*/ 67 w 381"/>
                <a:gd name="T55" fmla="*/ 52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81" h="481">
                  <a:moveTo>
                    <a:pt x="142" y="449"/>
                  </a:moveTo>
                  <a:cubicBezTo>
                    <a:pt x="348" y="236"/>
                    <a:pt x="348" y="236"/>
                    <a:pt x="348" y="236"/>
                  </a:cubicBezTo>
                  <a:cubicBezTo>
                    <a:pt x="355" y="228"/>
                    <a:pt x="366" y="228"/>
                    <a:pt x="374" y="235"/>
                  </a:cubicBezTo>
                  <a:cubicBezTo>
                    <a:pt x="381" y="242"/>
                    <a:pt x="381" y="253"/>
                    <a:pt x="374" y="260"/>
                  </a:cubicBezTo>
                  <a:cubicBezTo>
                    <a:pt x="168" y="474"/>
                    <a:pt x="168" y="474"/>
                    <a:pt x="168" y="474"/>
                  </a:cubicBezTo>
                  <a:cubicBezTo>
                    <a:pt x="161" y="481"/>
                    <a:pt x="150" y="481"/>
                    <a:pt x="142" y="474"/>
                  </a:cubicBezTo>
                  <a:cubicBezTo>
                    <a:pt x="135" y="467"/>
                    <a:pt x="135" y="456"/>
                    <a:pt x="142" y="449"/>
                  </a:cubicBezTo>
                  <a:close/>
                  <a:moveTo>
                    <a:pt x="122" y="245"/>
                  </a:moveTo>
                  <a:cubicBezTo>
                    <a:pt x="55" y="245"/>
                    <a:pt x="0" y="190"/>
                    <a:pt x="0" y="123"/>
                  </a:cubicBezTo>
                  <a:cubicBezTo>
                    <a:pt x="0" y="99"/>
                    <a:pt x="7" y="76"/>
                    <a:pt x="20" y="56"/>
                  </a:cubicBezTo>
                  <a:cubicBezTo>
                    <a:pt x="26" y="48"/>
                    <a:pt x="37" y="45"/>
                    <a:pt x="45" y="51"/>
                  </a:cubicBezTo>
                  <a:cubicBezTo>
                    <a:pt x="53" y="56"/>
                    <a:pt x="56" y="67"/>
                    <a:pt x="50" y="76"/>
                  </a:cubicBezTo>
                  <a:cubicBezTo>
                    <a:pt x="41" y="90"/>
                    <a:pt x="36" y="106"/>
                    <a:pt x="36" y="123"/>
                  </a:cubicBezTo>
                  <a:cubicBezTo>
                    <a:pt x="36" y="171"/>
                    <a:pt x="75" y="209"/>
                    <a:pt x="122" y="209"/>
                  </a:cubicBezTo>
                  <a:cubicBezTo>
                    <a:pt x="170" y="209"/>
                    <a:pt x="209" y="171"/>
                    <a:pt x="209" y="123"/>
                  </a:cubicBezTo>
                  <a:cubicBezTo>
                    <a:pt x="209" y="79"/>
                    <a:pt x="176" y="42"/>
                    <a:pt x="133" y="37"/>
                  </a:cubicBezTo>
                  <a:cubicBezTo>
                    <a:pt x="123" y="36"/>
                    <a:pt x="116" y="27"/>
                    <a:pt x="117" y="17"/>
                  </a:cubicBezTo>
                  <a:cubicBezTo>
                    <a:pt x="118" y="7"/>
                    <a:pt x="127" y="0"/>
                    <a:pt x="137" y="2"/>
                  </a:cubicBezTo>
                  <a:cubicBezTo>
                    <a:pt x="198" y="9"/>
                    <a:pt x="245" y="61"/>
                    <a:pt x="245" y="123"/>
                  </a:cubicBezTo>
                  <a:cubicBezTo>
                    <a:pt x="245" y="190"/>
                    <a:pt x="190" y="245"/>
                    <a:pt x="122" y="245"/>
                  </a:cubicBezTo>
                  <a:close/>
                  <a:moveTo>
                    <a:pt x="67" y="52"/>
                  </a:moveTo>
                  <a:cubicBezTo>
                    <a:pt x="61" y="52"/>
                    <a:pt x="55" y="50"/>
                    <a:pt x="52" y="44"/>
                  </a:cubicBezTo>
                  <a:cubicBezTo>
                    <a:pt x="47" y="36"/>
                    <a:pt x="49" y="25"/>
                    <a:pt x="58" y="19"/>
                  </a:cubicBezTo>
                  <a:cubicBezTo>
                    <a:pt x="65" y="15"/>
                    <a:pt x="73" y="11"/>
                    <a:pt x="81" y="8"/>
                  </a:cubicBezTo>
                  <a:cubicBezTo>
                    <a:pt x="91" y="5"/>
                    <a:pt x="101" y="9"/>
                    <a:pt x="104" y="19"/>
                  </a:cubicBezTo>
                  <a:cubicBezTo>
                    <a:pt x="107" y="28"/>
                    <a:pt x="103" y="38"/>
                    <a:pt x="93" y="42"/>
                  </a:cubicBezTo>
                  <a:cubicBezTo>
                    <a:pt x="87" y="44"/>
                    <a:pt x="82" y="47"/>
                    <a:pt x="77" y="50"/>
                  </a:cubicBezTo>
                  <a:cubicBezTo>
                    <a:pt x="74" y="52"/>
                    <a:pt x="71" y="52"/>
                    <a:pt x="67" y="5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2834"/>
                </a:solidFill>
              </a:endParaRPr>
            </a:p>
          </p:txBody>
        </p:sp>
        <p:sp>
          <p:nvSpPr>
            <p:cNvPr id="11" name="Freeform 69"/>
            <p:cNvSpPr>
              <a:spLocks noEditPoints="1"/>
            </p:cNvSpPr>
            <p:nvPr/>
          </p:nvSpPr>
          <p:spPr bwMode="auto">
            <a:xfrm>
              <a:off x="2111" y="2406"/>
              <a:ext cx="121" cy="47"/>
            </a:xfrm>
            <a:custGeom>
              <a:avLst/>
              <a:gdLst>
                <a:gd name="T0" fmla="*/ 597 w 648"/>
                <a:gd name="T1" fmla="*/ 249 h 249"/>
                <a:gd name="T2" fmla="*/ 50 w 648"/>
                <a:gd name="T3" fmla="*/ 249 h 249"/>
                <a:gd name="T4" fmla="*/ 0 w 648"/>
                <a:gd name="T5" fmla="*/ 198 h 249"/>
                <a:gd name="T6" fmla="*/ 0 w 648"/>
                <a:gd name="T7" fmla="*/ 50 h 249"/>
                <a:gd name="T8" fmla="*/ 50 w 648"/>
                <a:gd name="T9" fmla="*/ 0 h 249"/>
                <a:gd name="T10" fmla="*/ 597 w 648"/>
                <a:gd name="T11" fmla="*/ 0 h 249"/>
                <a:gd name="T12" fmla="*/ 648 w 648"/>
                <a:gd name="T13" fmla="*/ 50 h 249"/>
                <a:gd name="T14" fmla="*/ 648 w 648"/>
                <a:gd name="T15" fmla="*/ 198 h 249"/>
                <a:gd name="T16" fmla="*/ 597 w 648"/>
                <a:gd name="T17" fmla="*/ 249 h 249"/>
                <a:gd name="T18" fmla="*/ 50 w 648"/>
                <a:gd name="T19" fmla="*/ 35 h 249"/>
                <a:gd name="T20" fmla="*/ 36 w 648"/>
                <a:gd name="T21" fmla="*/ 50 h 249"/>
                <a:gd name="T22" fmla="*/ 36 w 648"/>
                <a:gd name="T23" fmla="*/ 198 h 249"/>
                <a:gd name="T24" fmla="*/ 50 w 648"/>
                <a:gd name="T25" fmla="*/ 213 h 249"/>
                <a:gd name="T26" fmla="*/ 597 w 648"/>
                <a:gd name="T27" fmla="*/ 213 h 249"/>
                <a:gd name="T28" fmla="*/ 612 w 648"/>
                <a:gd name="T29" fmla="*/ 198 h 249"/>
                <a:gd name="T30" fmla="*/ 612 w 648"/>
                <a:gd name="T31" fmla="*/ 50 h 249"/>
                <a:gd name="T32" fmla="*/ 597 w 648"/>
                <a:gd name="T33" fmla="*/ 35 h 249"/>
                <a:gd name="T34" fmla="*/ 50 w 648"/>
                <a:gd name="T35" fmla="*/ 3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48" h="249">
                  <a:moveTo>
                    <a:pt x="597" y="249"/>
                  </a:moveTo>
                  <a:cubicBezTo>
                    <a:pt x="50" y="249"/>
                    <a:pt x="50" y="249"/>
                    <a:pt x="50" y="249"/>
                  </a:cubicBezTo>
                  <a:cubicBezTo>
                    <a:pt x="22" y="249"/>
                    <a:pt x="0" y="226"/>
                    <a:pt x="0" y="198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22"/>
                    <a:pt x="22" y="0"/>
                    <a:pt x="50" y="0"/>
                  </a:cubicBezTo>
                  <a:cubicBezTo>
                    <a:pt x="597" y="0"/>
                    <a:pt x="597" y="0"/>
                    <a:pt x="597" y="0"/>
                  </a:cubicBezTo>
                  <a:cubicBezTo>
                    <a:pt x="625" y="0"/>
                    <a:pt x="648" y="22"/>
                    <a:pt x="648" y="50"/>
                  </a:cubicBezTo>
                  <a:cubicBezTo>
                    <a:pt x="648" y="198"/>
                    <a:pt x="648" y="198"/>
                    <a:pt x="648" y="198"/>
                  </a:cubicBezTo>
                  <a:cubicBezTo>
                    <a:pt x="648" y="226"/>
                    <a:pt x="625" y="249"/>
                    <a:pt x="597" y="249"/>
                  </a:cubicBezTo>
                  <a:close/>
                  <a:moveTo>
                    <a:pt x="50" y="35"/>
                  </a:moveTo>
                  <a:cubicBezTo>
                    <a:pt x="42" y="35"/>
                    <a:pt x="36" y="42"/>
                    <a:pt x="36" y="50"/>
                  </a:cubicBezTo>
                  <a:cubicBezTo>
                    <a:pt x="36" y="198"/>
                    <a:pt x="36" y="198"/>
                    <a:pt x="36" y="198"/>
                  </a:cubicBezTo>
                  <a:cubicBezTo>
                    <a:pt x="36" y="206"/>
                    <a:pt x="42" y="213"/>
                    <a:pt x="50" y="213"/>
                  </a:cubicBezTo>
                  <a:cubicBezTo>
                    <a:pt x="597" y="213"/>
                    <a:pt x="597" y="213"/>
                    <a:pt x="597" y="213"/>
                  </a:cubicBezTo>
                  <a:cubicBezTo>
                    <a:pt x="605" y="213"/>
                    <a:pt x="612" y="206"/>
                    <a:pt x="612" y="198"/>
                  </a:cubicBezTo>
                  <a:cubicBezTo>
                    <a:pt x="612" y="50"/>
                    <a:pt x="612" y="50"/>
                    <a:pt x="612" y="50"/>
                  </a:cubicBezTo>
                  <a:cubicBezTo>
                    <a:pt x="612" y="42"/>
                    <a:pt x="605" y="35"/>
                    <a:pt x="597" y="35"/>
                  </a:cubicBezTo>
                  <a:lnTo>
                    <a:pt x="50" y="3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2834"/>
                </a:solidFill>
              </a:endParaRPr>
            </a:p>
          </p:txBody>
        </p:sp>
      </p:grpSp>
      <p:sp>
        <p:nvSpPr>
          <p:cNvPr id="1048642" name="文本框 69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<p:cNvSpPr txBox="1">
            <a:spLocks noChangeArrowheads="1"/>
          </p:cNvSpPr>
          <p:nvPr/>
        </p:nvSpPr>
        <p:spPr bwMode="auto">
          <a:xfrm>
            <a:off x="3587750" y="4107180"/>
            <a:ext cx="1683385" cy="368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defTabSz="514350" fontAlgn="base">
              <a:spcBef>
                <a:spcPct val="0"/>
              </a:spcBef>
              <a:spcAft>
                <a:spcPct val="0"/>
              </a:spcAft>
              <a:tabLst>
                <a:tab pos="2149475" algn="l"/>
              </a:tabLst>
            </a:pPr>
            <a:r>
              <a:rPr lang="zh-CN" altLang="en-US" sz="1800" b="1" dirty="0">
                <a:solidFill>
                  <a:schemeClr val="tx2"/>
                </a:solidFill>
                <a:latin typeface="微软雅黑" panose="020B0503020204020204" charset="-122"/>
                <a:cs typeface="微软雅黑" panose="020B0503020204020204" charset="-122"/>
                <a:sym typeface="Calibri" panose="020F0502020204030204" charset="0"/>
              </a:rPr>
              <a:t>汇报人：</a:t>
            </a:r>
            <a:r>
              <a:rPr altLang="en-US" sz="1800" b="1" dirty="0">
                <a:solidFill>
                  <a:schemeClr val="tx2"/>
                </a:solidFill>
                <a:latin typeface="微软雅黑" panose="020B0503020204020204" charset="-122"/>
                <a:cs typeface="微软雅黑" panose="020B0503020204020204" charset="-122"/>
                <a:sym typeface="Calibri" panose="020F0502020204030204" charset="0"/>
              </a:rPr>
              <a:t>高申</a:t>
            </a:r>
            <a:endParaRPr altLang="en-US" sz="1800" b="1" dirty="0">
              <a:solidFill>
                <a:schemeClr val="tx2"/>
              </a:solidFill>
              <a:latin typeface="微软雅黑" panose="020B0503020204020204" charset="-122"/>
              <a:cs typeface="微软雅黑" panose="020B0503020204020204" charset="-122"/>
              <a:sym typeface="Calibri" panose="020F0502020204030204" charset="0"/>
            </a:endParaRPr>
          </a:p>
        </p:txBody>
      </p:sp>
      <p:sp>
        <p:nvSpPr>
          <p:cNvPr id="18" name="文本框 69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<p:cNvSpPr txBox="1">
            <a:spLocks noChangeArrowheads="1"/>
          </p:cNvSpPr>
          <p:nvPr/>
        </p:nvSpPr>
        <p:spPr bwMode="auto">
          <a:xfrm>
            <a:off x="7493635" y="4107180"/>
            <a:ext cx="3373120" cy="368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defTabSz="514350" fontAlgn="base">
              <a:spcBef>
                <a:spcPct val="0"/>
              </a:spcBef>
              <a:spcAft>
                <a:spcPct val="0"/>
              </a:spcAft>
              <a:tabLst>
                <a:tab pos="2149475" algn="l"/>
              </a:tabLst>
            </a:pPr>
            <a:r>
              <a:rPr lang="zh-CN" altLang="en-US" sz="1800" b="1" dirty="0">
                <a:solidFill>
                  <a:schemeClr val="tx2"/>
                </a:solidFill>
                <a:latin typeface="微软雅黑" panose="020B0503020204020204" charset="-122"/>
                <a:cs typeface="微软雅黑" panose="020B0503020204020204" charset="-122"/>
                <a:sym typeface="Calibri" panose="020F0502020204030204" charset="0"/>
              </a:rPr>
              <a:t>指导老师</a:t>
            </a:r>
            <a:r>
              <a:rPr lang="en-US" altLang="zh-CN" sz="1800" b="1" dirty="0">
                <a:solidFill>
                  <a:schemeClr val="tx2"/>
                </a:solidFill>
                <a:latin typeface="微软雅黑" panose="020B0503020204020204" charset="-122"/>
                <a:cs typeface="微软雅黑" panose="020B0503020204020204" charset="-122"/>
                <a:sym typeface="Calibri" panose="020F0502020204030204" charset="0"/>
              </a:rPr>
              <a:t>:</a:t>
            </a:r>
            <a:r>
              <a:rPr altLang="en-US" sz="1800" b="1" dirty="0">
                <a:solidFill>
                  <a:schemeClr val="tx2"/>
                </a:solidFill>
                <a:latin typeface="微软雅黑" panose="020B0503020204020204" charset="-122"/>
                <a:cs typeface="微软雅黑" panose="020B0503020204020204" charset="-122"/>
                <a:sym typeface="Calibri" panose="020F0502020204030204" charset="0"/>
              </a:rPr>
              <a:t>雷鸿、刘湛湛、</a:t>
            </a:r>
            <a:r>
              <a:rPr altLang="en-US" sz="1800" b="1" dirty="0">
                <a:solidFill>
                  <a:schemeClr val="tx2"/>
                </a:solidFill>
                <a:latin typeface="微软雅黑" panose="020B0503020204020204" charset="-122"/>
                <a:cs typeface="微软雅黑" panose="020B0503020204020204" charset="-122"/>
                <a:sym typeface="Calibri" panose="020F0502020204030204" charset="0"/>
              </a:rPr>
              <a:t>洪峰</a:t>
            </a:r>
            <a:endParaRPr altLang="en-US" sz="1800" b="1" dirty="0">
              <a:solidFill>
                <a:schemeClr val="tx2"/>
              </a:solidFill>
              <a:latin typeface="微软雅黑" panose="020B0503020204020204" charset="-122"/>
              <a:cs typeface="微软雅黑" panose="020B0503020204020204" charset="-122"/>
              <a:sym typeface="Calibri" panose="020F0502020204030204" charset="0"/>
            </a:endParaRPr>
          </a:p>
        </p:txBody>
      </p:sp>
      <p:pic>
        <p:nvPicPr>
          <p:cNvPr id="19" name="图片 18" descr="培训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1825" y="4036695"/>
            <a:ext cx="511810" cy="51181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2950210" y="4674235"/>
            <a:ext cx="6947535" cy="9150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b="1">
                <a:solidFill>
                  <a:schemeClr val="accent6"/>
                </a:solidFill>
              </a:rPr>
              <a:t>小组成员：</a:t>
            </a:r>
            <a:r>
              <a:rPr lang="en-US" altLang="zh-CN" b="1">
                <a:solidFill>
                  <a:schemeClr val="accent6"/>
                </a:solidFill>
              </a:rPr>
              <a:t>    </a:t>
            </a:r>
            <a:r>
              <a:rPr lang="zh-CN" altLang="en-US" b="1">
                <a:solidFill>
                  <a:schemeClr val="accent6"/>
                </a:solidFill>
              </a:rPr>
              <a:t>何思君（</a:t>
            </a:r>
            <a:r>
              <a:rPr lang="en-US" altLang="zh-CN" b="1">
                <a:solidFill>
                  <a:schemeClr val="accent6"/>
                </a:solidFill>
              </a:rPr>
              <a:t>032430128</a:t>
            </a:r>
            <a:r>
              <a:rPr altLang="en-US" b="1">
                <a:solidFill>
                  <a:schemeClr val="accent6"/>
                </a:solidFill>
              </a:rPr>
              <a:t>）、高</a:t>
            </a:r>
            <a:r>
              <a:rPr lang="en-US" altLang="zh-CN" b="1">
                <a:solidFill>
                  <a:schemeClr val="accent6"/>
                </a:solidFill>
              </a:rPr>
              <a:t>    </a:t>
            </a:r>
            <a:r>
              <a:rPr altLang="en-US" b="1">
                <a:solidFill>
                  <a:schemeClr val="accent6"/>
                </a:solidFill>
              </a:rPr>
              <a:t>申（</a:t>
            </a:r>
            <a:r>
              <a:rPr lang="en-US" altLang="zh-CN" b="1">
                <a:solidFill>
                  <a:schemeClr val="accent6"/>
                </a:solidFill>
              </a:rPr>
              <a:t>032430125</a:t>
            </a:r>
            <a:r>
              <a:rPr altLang="en-US" b="1">
                <a:solidFill>
                  <a:schemeClr val="accent6"/>
                </a:solidFill>
              </a:rPr>
              <a:t>）、</a:t>
            </a:r>
            <a:endParaRPr altLang="en-US" b="1">
              <a:solidFill>
                <a:schemeClr val="accent6"/>
              </a:solidFill>
            </a:endParaRPr>
          </a:p>
          <a:p>
            <a:pPr algn="ctr"/>
            <a:r>
              <a:rPr lang="en-US" altLang="zh-CN" b="1">
                <a:solidFill>
                  <a:schemeClr val="accent6"/>
                </a:solidFill>
              </a:rPr>
              <a:t>                  </a:t>
            </a:r>
            <a:r>
              <a:rPr altLang="en-US" b="1">
                <a:solidFill>
                  <a:schemeClr val="accent6"/>
                </a:solidFill>
              </a:rPr>
              <a:t>黄诗宸（</a:t>
            </a:r>
            <a:r>
              <a:rPr lang="en-US" altLang="zh-CN" b="1">
                <a:solidFill>
                  <a:schemeClr val="accent6"/>
                </a:solidFill>
              </a:rPr>
              <a:t>032430126</a:t>
            </a:r>
            <a:r>
              <a:rPr altLang="en-US" b="1">
                <a:solidFill>
                  <a:schemeClr val="accent6"/>
                </a:solidFill>
              </a:rPr>
              <a:t>）、苏波汗（</a:t>
            </a:r>
            <a:r>
              <a:rPr lang="en-US" altLang="zh-CN" b="1">
                <a:solidFill>
                  <a:schemeClr val="accent6"/>
                </a:solidFill>
              </a:rPr>
              <a:t>032430127</a:t>
            </a:r>
            <a:r>
              <a:rPr altLang="en-US" b="1">
                <a:solidFill>
                  <a:schemeClr val="accent6"/>
                </a:solidFill>
              </a:rPr>
              <a:t>）</a:t>
            </a:r>
            <a:endParaRPr altLang="en-US" b="1">
              <a:solidFill>
                <a:schemeClr val="accent6"/>
              </a:solidFill>
            </a:endParaRPr>
          </a:p>
        </p:txBody>
      </p:sp>
      <p:pic>
        <p:nvPicPr>
          <p:cNvPr id="2097176" name="Picture 83" descr="77-南京航空航天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10" y="1210310"/>
            <a:ext cx="2054860" cy="205486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>
            <p:custDataLst>
              <p:tags r:id="rId1"/>
            </p:custDataLst>
          </p:nvPr>
        </p:nvGrpSpPr>
        <p:grpSpPr>
          <a:xfrm>
            <a:off x="631662" y="581211"/>
            <a:ext cx="8320783" cy="5611185"/>
            <a:chOff x="321552" y="699542"/>
            <a:chExt cx="5552566" cy="3744416"/>
          </a:xfrm>
        </p:grpSpPr>
        <p:sp>
          <p:nvSpPr>
            <p:cNvPr id="23" name="文本框 22"/>
            <p:cNvSpPr txBox="1"/>
            <p:nvPr/>
          </p:nvSpPr>
          <p:spPr>
            <a:xfrm>
              <a:off x="321552" y="834687"/>
              <a:ext cx="1308735" cy="3474085"/>
            </a:xfrm>
            <a:prstGeom prst="rect">
              <a:avLst/>
            </a:prstGeom>
            <a:noFill/>
          </p:spPr>
          <p:txBody>
            <a:bodyPr vert="eaVert" wrap="square" rtlCol="0">
              <a:noAutofit/>
            </a:bodyPr>
            <a:lstStyle/>
            <a:p>
              <a:pPr algn="ctr"/>
              <a:r>
                <a:rPr lang="en-US" altLang="zh-CN" sz="8800" b="1" kern="1900" spc="250" dirty="0">
                  <a:solidFill>
                    <a:srgbClr val="14326C">
                      <a:alpha val="61000"/>
                    </a:srgbClr>
                  </a:solidFill>
                  <a:latin typeface="Impact" panose="020B0806030902050204" pitchFamily="34" charset="0"/>
                  <a:ea typeface="微软雅黑" panose="020B0503020204020204" charset="-122"/>
                </a:rPr>
                <a:t>CONTENT</a:t>
              </a:r>
              <a:endParaRPr lang="en-US" altLang="zh-CN" sz="8800" b="1" kern="1900" spc="250" dirty="0">
                <a:solidFill>
                  <a:srgbClr val="14326C">
                    <a:alpha val="61000"/>
                  </a:srgbClr>
                </a:solidFill>
                <a:latin typeface="Impact" panose="020B0806030902050204" pitchFamily="34" charset="0"/>
                <a:ea typeface="微软雅黑" panose="020B0503020204020204" charset="-122"/>
              </a:endParaRPr>
            </a:p>
          </p:txBody>
        </p:sp>
        <p:cxnSp>
          <p:nvCxnSpPr>
            <p:cNvPr id="24" name="Straight Connector 3"/>
            <p:cNvCxnSpPr/>
            <p:nvPr/>
          </p:nvCxnSpPr>
          <p:spPr>
            <a:xfrm>
              <a:off x="2834392" y="699542"/>
              <a:ext cx="0" cy="3744416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</a:ln>
            <a:effectLst/>
          </p:spPr>
        </p:cxnSp>
        <p:grpSp>
          <p:nvGrpSpPr>
            <p:cNvPr id="25" name="组合 24"/>
            <p:cNvGrpSpPr/>
            <p:nvPr/>
          </p:nvGrpSpPr>
          <p:grpSpPr>
            <a:xfrm>
              <a:off x="3475243" y="958439"/>
              <a:ext cx="2256902" cy="488167"/>
              <a:chOff x="3475243" y="588538"/>
              <a:chExt cx="2256902" cy="488167"/>
            </a:xfrm>
          </p:grpSpPr>
          <p:sp>
            <p:nvSpPr>
              <p:cNvPr id="26" name="文本框 25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4421930" y="637915"/>
                <a:ext cx="1310215" cy="3894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3200" b="1" kern="0" spc="300" dirty="0">
                    <a:solidFill>
                      <a:prstClr val="black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项目简介</a:t>
                </a:r>
                <a:endParaRPr lang="zh-CN" altLang="en-US" sz="3200" b="1" kern="0" spc="3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7" name="矩形 26"/>
              <p:cNvSpPr/>
              <p:nvPr>
                <p:custDataLst>
                  <p:tags r:id="rId3"/>
                </p:custDataLst>
              </p:nvPr>
            </p:nvSpPr>
            <p:spPr>
              <a:xfrm>
                <a:off x="3475243" y="588538"/>
                <a:ext cx="720000" cy="488167"/>
              </a:xfrm>
              <a:prstGeom prst="rect">
                <a:avLst/>
              </a:prstGeom>
              <a:solidFill>
                <a:schemeClr val="tx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01</a:t>
                </a:r>
                <a:endParaRPr kumimoji="0" lang="zh-CN" altLang="en-US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4"/>
              </p:custDataLst>
            </p:nvPr>
          </p:nvSpPr>
          <p:spPr>
            <a:xfrm>
              <a:off x="4421911" y="3172175"/>
              <a:ext cx="206787" cy="3894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矩形 32"/>
            <p:cNvSpPr/>
            <p:nvPr>
              <p:custDataLst>
                <p:tags r:id="rId5"/>
              </p:custDataLst>
            </p:nvPr>
          </p:nvSpPr>
          <p:spPr>
            <a:xfrm>
              <a:off x="3475243" y="1820078"/>
              <a:ext cx="720000" cy="488167"/>
            </a:xfrm>
            <a:prstGeom prst="rect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02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文本框 34"/>
            <p:cNvSpPr txBox="1"/>
            <p:nvPr>
              <p:custDataLst>
                <p:tags r:id="rId6"/>
              </p:custDataLst>
            </p:nvPr>
          </p:nvSpPr>
          <p:spPr>
            <a:xfrm>
              <a:off x="4421833" y="3944579"/>
              <a:ext cx="206787" cy="3894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475243" y="1869875"/>
              <a:ext cx="2398875" cy="1300384"/>
              <a:chOff x="3475243" y="1452639"/>
              <a:chExt cx="2398875" cy="1300384"/>
            </a:xfrm>
          </p:grpSpPr>
          <p:sp>
            <p:nvSpPr>
              <p:cNvPr id="38" name="文本框 37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447355" y="1452639"/>
                <a:ext cx="1426763" cy="3894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200" b="1" i="0" u="none" strike="noStrike" kern="0" cap="none" spc="3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rPr>
                  <a:t>基础与拓展功能实现</a:t>
                </a:r>
                <a:endParaRPr kumimoji="0" lang="zh-CN" altLang="en-US" sz="3200" b="1" i="0" u="none" strike="noStrike" kern="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9" name="矩形 38"/>
              <p:cNvSpPr/>
              <p:nvPr>
                <p:custDataLst>
                  <p:tags r:id="rId8"/>
                </p:custDataLst>
              </p:nvPr>
            </p:nvSpPr>
            <p:spPr>
              <a:xfrm>
                <a:off x="3475243" y="2264856"/>
                <a:ext cx="720000" cy="488167"/>
              </a:xfrm>
              <a:prstGeom prst="rect">
                <a:avLst/>
              </a:prstGeom>
              <a:solidFill>
                <a:schemeClr val="tx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03</a:t>
                </a:r>
                <a:endParaRPr kumimoji="0" lang="zh-CN" altLang="en-US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40" name="标题 1"/>
            <p:cNvSpPr txBox="1"/>
            <p:nvPr/>
          </p:nvSpPr>
          <p:spPr>
            <a:xfrm>
              <a:off x="1630244" y="2074565"/>
              <a:ext cx="723900" cy="857250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8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目</a:t>
              </a:r>
              <a:r>
                <a:rPr lang="en-US" altLang="zh-CN" sz="48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</a:t>
              </a:r>
              <a:r>
                <a:rPr lang="zh-CN" altLang="en-US" sz="48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录</a:t>
              </a:r>
              <a:endParaRPr lang="zh-CN" altLang="en-US" sz="4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>
            <p:custDataLst>
              <p:tags r:id="rId9"/>
            </p:custDataLst>
          </p:nvPr>
        </p:nvSpPr>
        <p:spPr>
          <a:xfrm>
            <a:off x="6776273" y="3626780"/>
            <a:ext cx="41833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软件创新与实验验证</a:t>
            </a:r>
            <a:endParaRPr kumimoji="0" lang="zh-CN" altLang="en-US" sz="3200" b="1" i="0" u="none" strike="noStrike" kern="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右箭头 3"/>
          <p:cNvSpPr/>
          <p:nvPr userDrawn="1"/>
        </p:nvSpPr>
        <p:spPr>
          <a:xfrm>
            <a:off x="4378447" y="1043206"/>
            <a:ext cx="979170" cy="485775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>
            <p:custDataLst>
              <p:tags r:id="rId10"/>
            </p:custDataLst>
          </p:nvPr>
        </p:nvSpPr>
        <p:spPr>
          <a:xfrm>
            <a:off x="5357617" y="4843746"/>
            <a:ext cx="1078954" cy="731541"/>
          </a:xfrm>
          <a:prstGeom prst="rect">
            <a:avLst/>
          </a:prstGeom>
          <a:solidFill>
            <a:schemeClr val="tx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04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/>
          <p:cNvSpPr txBox="1"/>
          <p:nvPr>
            <p:custDataLst>
              <p:tags r:id="rId11"/>
            </p:custDataLst>
          </p:nvPr>
        </p:nvSpPr>
        <p:spPr>
          <a:xfrm>
            <a:off x="6814373" y="4918370"/>
            <a:ext cx="24053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总结与体会</a:t>
            </a:r>
            <a:endParaRPr kumimoji="0" lang="zh-CN" altLang="en-US" sz="3200" b="1" i="0" u="none" strike="noStrike" kern="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左箭头 88"/>
          <p:cNvSpPr/>
          <p:nvPr userDrawn="1"/>
        </p:nvSpPr>
        <p:spPr>
          <a:xfrm rot="10800000">
            <a:off x="7477125" y="2732405"/>
            <a:ext cx="449580" cy="210820"/>
          </a:xfrm>
          <a:prstGeom prst="leftArrow">
            <a:avLst/>
          </a:prstGeom>
          <a:solidFill>
            <a:srgbClr val="C00000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0" y="635"/>
            <a:ext cx="12192000" cy="756920"/>
          </a:xfrm>
          <a:prstGeom prst="rect">
            <a:avLst/>
          </a:prstGeom>
          <a:solidFill>
            <a:schemeClr val="tx2"/>
          </a:solidFill>
          <a:ln>
            <a:solidFill>
              <a:srgbClr val="0070C0"/>
            </a:solidFill>
          </a:ln>
        </p:spPr>
        <p:txBody>
          <a:bodyPr wrap="square" anchor="ctr" anchorCtr="0">
            <a:noAutofit/>
          </a:bodyPr>
          <a:lstStyle/>
          <a:p>
            <a:pPr algn="ctr"/>
            <a:endParaRPr lang="en-US" altLang="en-US" sz="2000" b="1" spc="300" dirty="0">
              <a:solidFill>
                <a:schemeClr val="accent5">
                  <a:lumMod val="20000"/>
                  <a:lumOff val="8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7" name="图片 26" descr="任务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595" y="83820"/>
            <a:ext cx="590550" cy="59055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720090" y="83820"/>
            <a:ext cx="30505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项目简介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58750" y="2550795"/>
            <a:ext cx="3787140" cy="4168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 b="1">
                <a:solidFill>
                  <a:schemeClr val="tx2"/>
                </a:solidFill>
              </a:rPr>
              <a:t>1. 基本要求</a:t>
            </a:r>
            <a:endParaRPr lang="zh-CN" altLang="en-US" sz="1400" b="1">
              <a:solidFill>
                <a:schemeClr val="tx2"/>
              </a:solidFill>
            </a:endParaRPr>
          </a:p>
          <a:p>
            <a:r>
              <a:rPr lang="zh-CN" altLang="en-US" sz="1400" b="1">
                <a:solidFill>
                  <a:schemeClr val="tx2"/>
                </a:solidFill>
              </a:rPr>
              <a:t>（1）设计并实现一种有明确医疗意义的刺激波形，并可以实际验证；</a:t>
            </a:r>
            <a:endParaRPr lang="zh-CN" altLang="en-US" sz="1400" b="1">
              <a:solidFill>
                <a:schemeClr val="tx2"/>
              </a:solidFill>
            </a:endParaRPr>
          </a:p>
          <a:p>
            <a:r>
              <a:rPr lang="zh-CN" altLang="en-US" sz="1400" b="1">
                <a:solidFill>
                  <a:schemeClr val="tx2"/>
                </a:solidFill>
              </a:rPr>
              <a:t>（2）恒流输出：固定负载电阻2</a:t>
            </a:r>
            <a:r>
              <a:rPr lang="en-US" altLang="zh-CN" sz="1400" b="1">
                <a:solidFill>
                  <a:schemeClr val="tx2"/>
                </a:solidFill>
              </a:rPr>
              <a:t>kΩ，</a:t>
            </a:r>
            <a:r>
              <a:rPr lang="zh-CN" altLang="en-US" sz="1400" b="1">
                <a:solidFill>
                  <a:schemeClr val="tx2"/>
                </a:solidFill>
              </a:rPr>
              <a:t>输出0～10</a:t>
            </a:r>
            <a:r>
              <a:rPr lang="en-US" altLang="zh-CN" sz="1400" b="1">
                <a:solidFill>
                  <a:schemeClr val="tx2"/>
                </a:solidFill>
              </a:rPr>
              <a:t>mA，</a:t>
            </a:r>
            <a:r>
              <a:rPr lang="zh-CN" altLang="en-US" sz="1400" b="1">
                <a:solidFill>
                  <a:schemeClr val="tx2"/>
                </a:solidFill>
              </a:rPr>
              <a:t>连续可调，步进≤1</a:t>
            </a:r>
            <a:r>
              <a:rPr lang="en-US" altLang="zh-CN" sz="1400" b="1">
                <a:solidFill>
                  <a:schemeClr val="tx2"/>
                </a:solidFill>
              </a:rPr>
              <a:t>mA，</a:t>
            </a:r>
            <a:r>
              <a:rPr lang="zh-CN" altLang="en-US" sz="1400" b="1">
                <a:solidFill>
                  <a:schemeClr val="tx2"/>
                </a:solidFill>
              </a:rPr>
              <a:t>精度</a:t>
            </a:r>
            <a:endParaRPr lang="zh-CN" altLang="en-US" sz="1400" b="1">
              <a:solidFill>
                <a:schemeClr val="tx2"/>
              </a:solidFill>
            </a:endParaRPr>
          </a:p>
          <a:p>
            <a:r>
              <a:rPr lang="en-US" altLang="zh-CN" sz="1400" b="1">
                <a:solidFill>
                  <a:schemeClr val="tx2"/>
                </a:solidFill>
              </a:rPr>
              <a:t>≤±5%；</a:t>
            </a:r>
            <a:endParaRPr lang="en-US" altLang="zh-CN" sz="1400" b="1">
              <a:solidFill>
                <a:schemeClr val="tx2"/>
              </a:solidFill>
            </a:endParaRPr>
          </a:p>
          <a:p>
            <a:r>
              <a:rPr lang="zh-CN" altLang="en-US" sz="1400" b="1">
                <a:solidFill>
                  <a:schemeClr val="tx2"/>
                </a:solidFill>
              </a:rPr>
              <a:t>（3）可以输出指数衰减波：时间常数可调，频率可调；</a:t>
            </a:r>
            <a:endParaRPr lang="zh-CN" altLang="en-US" sz="1400" b="1">
              <a:solidFill>
                <a:schemeClr val="tx2"/>
              </a:solidFill>
            </a:endParaRPr>
          </a:p>
          <a:p>
            <a:r>
              <a:rPr lang="zh-CN" altLang="en-US" sz="1400" b="1">
                <a:solidFill>
                  <a:schemeClr val="tx2"/>
                </a:solidFill>
              </a:rPr>
              <a:t>（4）人机控制：触屏操作，显示当前模式、频率、脉宽、电流幅度、波形。</a:t>
            </a:r>
            <a:endParaRPr lang="zh-CN" altLang="en-US" sz="1400" b="1">
              <a:solidFill>
                <a:schemeClr val="tx2"/>
              </a:solidFill>
            </a:endParaRPr>
          </a:p>
          <a:p>
            <a:r>
              <a:rPr lang="zh-CN" altLang="en-US" sz="1400" b="1">
                <a:solidFill>
                  <a:schemeClr val="tx2"/>
                </a:solidFill>
              </a:rPr>
              <a:t>2. 发挥部分</a:t>
            </a:r>
            <a:endParaRPr lang="zh-CN" altLang="en-US" sz="1400" b="1">
              <a:solidFill>
                <a:schemeClr val="tx2"/>
              </a:solidFill>
            </a:endParaRPr>
          </a:p>
          <a:p>
            <a:r>
              <a:rPr lang="zh-CN" altLang="en-US" sz="1400" b="1">
                <a:solidFill>
                  <a:schemeClr val="tx2"/>
                </a:solidFill>
              </a:rPr>
              <a:t>（1）可以输出带直偏的对称双向方波：频率可调，脉宽可调。；</a:t>
            </a:r>
            <a:endParaRPr lang="zh-CN" altLang="en-US" sz="1400" b="1">
              <a:solidFill>
                <a:schemeClr val="tx2"/>
              </a:solidFill>
            </a:endParaRPr>
          </a:p>
          <a:p>
            <a:r>
              <a:rPr lang="zh-CN" altLang="en-US" sz="1400" b="1">
                <a:solidFill>
                  <a:schemeClr val="tx2"/>
                </a:solidFill>
              </a:rPr>
              <a:t>（2）实现负载自动阻抗检测；</a:t>
            </a:r>
            <a:endParaRPr lang="zh-CN" altLang="en-US" sz="1400" b="1">
              <a:solidFill>
                <a:schemeClr val="tx2"/>
              </a:solidFill>
            </a:endParaRPr>
          </a:p>
          <a:p>
            <a:r>
              <a:rPr lang="zh-CN" altLang="en-US" sz="1400" b="1">
                <a:solidFill>
                  <a:schemeClr val="tx2"/>
                </a:solidFill>
              </a:rPr>
              <a:t>（3）可以通过无线模块，实现治疗方案管理与执行；</a:t>
            </a:r>
            <a:endParaRPr lang="zh-CN" altLang="en-US" sz="1400" b="1">
              <a:solidFill>
                <a:schemeClr val="tx2"/>
              </a:solidFill>
            </a:endParaRPr>
          </a:p>
          <a:p>
            <a:r>
              <a:rPr lang="zh-CN" altLang="en-US" sz="1400" b="1">
                <a:solidFill>
                  <a:schemeClr val="tx2"/>
                </a:solidFill>
              </a:rPr>
              <a:t>（4）其他自选有意义的拓展功能，需要在报告中阐明设计思想与实际效果。</a:t>
            </a:r>
            <a:endParaRPr lang="zh-CN" altLang="en-US" sz="1400" b="1">
              <a:solidFill>
                <a:schemeClr val="tx2"/>
              </a:solidFill>
            </a:endParaRPr>
          </a:p>
        </p:txBody>
      </p:sp>
      <p:sp>
        <p:nvSpPr>
          <p:cNvPr id="48" name="矩形: 圆角 39"/>
          <p:cNvSpPr/>
          <p:nvPr>
            <p:custDataLst>
              <p:tags r:id="rId3"/>
            </p:custDataLst>
          </p:nvPr>
        </p:nvSpPr>
        <p:spPr>
          <a:xfrm>
            <a:off x="100330" y="2511425"/>
            <a:ext cx="3787140" cy="4216400"/>
          </a:xfrm>
          <a:prstGeom prst="roundRect">
            <a:avLst>
              <a:gd name="adj" fmla="val 5160"/>
            </a:avLst>
          </a:prstGeom>
          <a:noFill/>
          <a:ln w="19050">
            <a:solidFill>
              <a:schemeClr val="tx2">
                <a:alpha val="8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DEEBF7">
                    <a:alpha val="3000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1595" y="847725"/>
            <a:ext cx="3422650" cy="5187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b="1">
                <a:solidFill>
                  <a:schemeClr val="accent6"/>
                </a:solidFill>
              </a:rPr>
              <a:t>——</a:t>
            </a:r>
            <a:r>
              <a:rPr lang="zh-CN" altLang="en-US" sz="2000" b="1">
                <a:solidFill>
                  <a:schemeClr val="accent6"/>
                </a:solidFill>
              </a:rPr>
              <a:t>课程任务与功能要求</a:t>
            </a:r>
            <a:endParaRPr lang="zh-CN" altLang="en-US" sz="2000" b="1">
              <a:solidFill>
                <a:schemeClr val="accent6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0330" y="1366520"/>
            <a:ext cx="3963670" cy="105600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altLang="en-US" sz="16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课程任务：</a:t>
            </a:r>
            <a:r>
              <a:rPr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设计并制作</a:t>
            </a:r>
            <a:r>
              <a:rPr altLang="en-US" sz="16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一台</a:t>
            </a:r>
            <a:r>
              <a:rPr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可编程</a:t>
            </a:r>
            <a:r>
              <a:rPr altLang="en-US" sz="16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的医疗电刺激装置，该装置可将</a:t>
            </a:r>
            <a:r>
              <a:rPr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直流电压</a:t>
            </a:r>
            <a:r>
              <a:rPr altLang="en-US" sz="16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转换为</a:t>
            </a:r>
            <a:r>
              <a:rPr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受控交流电流</a:t>
            </a:r>
            <a:r>
              <a:rPr altLang="en-US" sz="16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输出，</a:t>
            </a:r>
            <a:r>
              <a:rPr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满足多种治疗场景</a:t>
            </a:r>
            <a:r>
              <a:rPr altLang="en-US" sz="16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altLang="en-US" sz="1600" b="1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7400925" y="938530"/>
            <a:ext cx="1863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C00000"/>
                </a:solidFill>
              </a:rPr>
              <a:t>任务构架</a:t>
            </a:r>
            <a:endParaRPr lang="en-US" altLang="zh-CN" sz="2800" b="1">
              <a:solidFill>
                <a:srgbClr val="C00000"/>
              </a:solidFill>
            </a:endParaRPr>
          </a:p>
        </p:txBody>
      </p:sp>
      <p:sp>
        <p:nvSpPr>
          <p:cNvPr id="64" name="矩形: 圆角 1776"/>
          <p:cNvSpPr/>
          <p:nvPr/>
        </p:nvSpPr>
        <p:spPr>
          <a:xfrm>
            <a:off x="4126865" y="2511425"/>
            <a:ext cx="1405255" cy="590550"/>
          </a:xfrm>
          <a:prstGeom prst="roundRect">
            <a:avLst>
              <a:gd name="adj" fmla="val 2401"/>
            </a:avLst>
          </a:prstGeom>
          <a:noFill/>
          <a:ln w="19050" cmpd="sng">
            <a:solidFill>
              <a:srgbClr val="0070C0">
                <a:alpha val="100000"/>
              </a:srgbClr>
            </a:solidFill>
            <a:prstDash val="dash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kumimoji="1" lang="en-US" altLang="zh-CN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5" name="矩形: 圆角 1776"/>
          <p:cNvSpPr/>
          <p:nvPr/>
        </p:nvSpPr>
        <p:spPr>
          <a:xfrm>
            <a:off x="5974080" y="2422525"/>
            <a:ext cx="1537335" cy="830580"/>
          </a:xfrm>
          <a:prstGeom prst="roundRect">
            <a:avLst>
              <a:gd name="adj" fmla="val 2401"/>
            </a:avLst>
          </a:prstGeom>
          <a:noFill/>
          <a:ln w="19050" cmpd="sng">
            <a:solidFill>
              <a:srgbClr val="C00000">
                <a:alpha val="100000"/>
              </a:srgbClr>
            </a:solidFill>
            <a:prstDash val="dash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kumimoji="1" lang="en-US" altLang="zh-CN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6" name="矩形: 圆角 1776"/>
          <p:cNvSpPr/>
          <p:nvPr/>
        </p:nvSpPr>
        <p:spPr>
          <a:xfrm>
            <a:off x="7862570" y="2508250"/>
            <a:ext cx="1276985" cy="593725"/>
          </a:xfrm>
          <a:prstGeom prst="roundRect">
            <a:avLst>
              <a:gd name="adj" fmla="val 2401"/>
            </a:avLst>
          </a:prstGeom>
          <a:noFill/>
          <a:ln w="19050" cmpd="sng">
            <a:solidFill>
              <a:srgbClr val="0070C0">
                <a:alpha val="100000"/>
              </a:srgbClr>
            </a:solidFill>
            <a:prstDash val="dash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kumimoji="1" lang="en-US" altLang="zh-CN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7" name="矩形: 圆角 1776"/>
          <p:cNvSpPr/>
          <p:nvPr/>
        </p:nvSpPr>
        <p:spPr>
          <a:xfrm>
            <a:off x="8434705" y="4017010"/>
            <a:ext cx="1151255" cy="593725"/>
          </a:xfrm>
          <a:prstGeom prst="roundRect">
            <a:avLst>
              <a:gd name="adj" fmla="val 2401"/>
            </a:avLst>
          </a:prstGeom>
          <a:noFill/>
          <a:ln w="19050" cmpd="sng">
            <a:solidFill>
              <a:srgbClr val="C00000">
                <a:alpha val="100000"/>
              </a:srgbClr>
            </a:solidFill>
            <a:prstDash val="dash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kumimoji="1" lang="en-US" altLang="zh-CN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8" name="矩形: 圆角 1776"/>
          <p:cNvSpPr/>
          <p:nvPr/>
        </p:nvSpPr>
        <p:spPr>
          <a:xfrm>
            <a:off x="11248390" y="2518410"/>
            <a:ext cx="885190" cy="559435"/>
          </a:xfrm>
          <a:prstGeom prst="roundRect">
            <a:avLst>
              <a:gd name="adj" fmla="val 13271"/>
            </a:avLst>
          </a:prstGeom>
          <a:noFill/>
          <a:ln w="19050" cmpd="sng">
            <a:solidFill>
              <a:srgbClr val="0070C0">
                <a:alpha val="100000"/>
              </a:srgbClr>
            </a:solidFill>
            <a:prstDash val="dash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kumimoji="1" lang="en-US" altLang="zh-CN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9" name="矩形: 圆角 1776"/>
          <p:cNvSpPr/>
          <p:nvPr/>
        </p:nvSpPr>
        <p:spPr>
          <a:xfrm>
            <a:off x="9522460" y="2452370"/>
            <a:ext cx="1343025" cy="649605"/>
          </a:xfrm>
          <a:prstGeom prst="roundRect">
            <a:avLst>
              <a:gd name="adj" fmla="val 0"/>
            </a:avLst>
          </a:prstGeom>
          <a:noFill/>
          <a:ln w="19050" cmpd="sng">
            <a:solidFill>
              <a:srgbClr val="0070C0">
                <a:alpha val="100000"/>
              </a:srgbClr>
            </a:solidFill>
            <a:prstDash val="dash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kumimoji="1" lang="en-US" altLang="zh-CN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4147820" y="2511425"/>
            <a:ext cx="1483995" cy="6254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16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触屏 / Wi-Fi</a:t>
            </a:r>
            <a:endParaRPr sz="16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sz="16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参数与处方</a:t>
            </a:r>
            <a:endParaRPr lang="zh-CN" altLang="en-US" sz="1600" b="1" dirty="0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157595" y="1960880"/>
            <a:ext cx="1150620" cy="4108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b="1" dirty="0">
                <a:solidFill>
                  <a:srgbClr val="C00000"/>
                </a:solidFill>
                <a:sym typeface="+mn-ea"/>
              </a:rPr>
              <a:t>控制核心</a:t>
            </a:r>
            <a:endParaRPr lang="zh-CN" altLang="en-US" b="1" dirty="0">
              <a:solidFill>
                <a:srgbClr val="C00000"/>
              </a:solidFill>
              <a:sym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5920105" y="2452370"/>
            <a:ext cx="1628775" cy="7670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STM32F103</a:t>
            </a:r>
            <a:endParaRPr lang="en-US" sz="16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lang="en-US" sz="16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72 MHz · DAC</a:t>
            </a:r>
            <a:endParaRPr lang="en-US" sz="16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sz="16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 kHz 调度</a:t>
            </a:r>
            <a:endParaRPr lang="en-US" altLang="en-US" sz="1600" b="1" dirty="0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4" name="TextBox 16"/>
          <p:cNvSpPr txBox="1"/>
          <p:nvPr/>
        </p:nvSpPr>
        <p:spPr>
          <a:xfrm>
            <a:off x="8048117" y="2067560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波形引擎</a:t>
            </a:r>
            <a:endParaRPr lang="zh-CN" sz="1650" b="1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7820025" y="2496185"/>
            <a:ext cx="143700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16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查表 / 参数化</a:t>
            </a:r>
            <a:endParaRPr sz="16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sz="16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三类输出</a:t>
            </a:r>
            <a:endParaRPr lang="zh-CN" altLang="en-US" sz="16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7" name="TextBox 7"/>
          <p:cNvSpPr txBox="1"/>
          <p:nvPr/>
        </p:nvSpPr>
        <p:spPr>
          <a:xfrm>
            <a:off x="4487608" y="2130425"/>
            <a:ext cx="68313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交互层</a:t>
            </a:r>
            <a:endParaRPr lang="zh-CN" sz="1650" b="1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9" name="TextBox 20"/>
          <p:cNvSpPr txBox="1"/>
          <p:nvPr/>
        </p:nvSpPr>
        <p:spPr>
          <a:xfrm>
            <a:off x="9774555" y="2033905"/>
            <a:ext cx="838200" cy="2533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功率输出</a:t>
            </a:r>
            <a:endParaRPr lang="zh-CN" sz="165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9421495" y="2452370"/>
            <a:ext cx="1615440" cy="8737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54 V + VCCS</a:t>
            </a:r>
            <a:endParaRPr lang="en-US" sz="16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sz="16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恒流刺激</a:t>
            </a:r>
            <a:endParaRPr lang="zh-CN" sz="16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zh-CN" altLang="en-US" sz="16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11014075" y="2107565"/>
            <a:ext cx="1305560" cy="344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165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人体</a:t>
            </a:r>
            <a:endParaRPr lang="zh-CN" altLang="en-US" sz="165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11173460" y="2508250"/>
            <a:ext cx="98742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16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电极</a:t>
            </a:r>
            <a:endParaRPr sz="16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负载</a:t>
            </a:r>
            <a:endParaRPr lang="zh-CN" altLang="en-US" sz="16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5" name="TextBox 28"/>
          <p:cNvSpPr txBox="1"/>
          <p:nvPr/>
        </p:nvSpPr>
        <p:spPr>
          <a:xfrm>
            <a:off x="8638540" y="4732655"/>
            <a:ext cx="812800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测量反馈</a:t>
            </a:r>
            <a:endParaRPr lang="zh-CN" sz="1600" b="1" dirty="0">
              <a:solidFill>
                <a:srgbClr val="C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8496300" y="4083050"/>
            <a:ext cx="955040" cy="4362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sz="1350" b="1" dirty="0">
                <a:solidFill>
                  <a:schemeClr val="tx2"/>
                </a:solidFill>
                <a:sym typeface="+mn-ea"/>
              </a:rPr>
              <a:t>电流采样</a:t>
            </a:r>
            <a:endParaRPr sz="1350" b="1" dirty="0">
              <a:solidFill>
                <a:schemeClr val="tx2"/>
              </a:solidFill>
              <a:sym typeface="+mn-ea"/>
            </a:endParaRPr>
          </a:p>
          <a:p>
            <a:pPr algn="ctr"/>
            <a:r>
              <a:rPr sz="1350" b="1" dirty="0">
                <a:solidFill>
                  <a:schemeClr val="tx2"/>
                </a:solidFill>
                <a:sym typeface="+mn-ea"/>
              </a:rPr>
              <a:t> </a:t>
            </a:r>
            <a:r>
              <a:rPr sz="1350" b="1" dirty="0">
                <a:solidFill>
                  <a:schemeClr val="accent1"/>
                </a:solidFill>
                <a:sym typeface="+mn-ea"/>
              </a:rPr>
              <a:t>阻抗估计</a:t>
            </a:r>
            <a:endParaRPr lang="zh-CN" altLang="en-US" sz="1350" b="1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88" name="左箭头 87"/>
          <p:cNvSpPr/>
          <p:nvPr userDrawn="1"/>
        </p:nvSpPr>
        <p:spPr>
          <a:xfrm rot="10800000">
            <a:off x="5532120" y="2732405"/>
            <a:ext cx="449580" cy="210820"/>
          </a:xfrm>
          <a:prstGeom prst="leftArrow">
            <a:avLst/>
          </a:prstGeom>
          <a:solidFill>
            <a:srgbClr val="C00000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0" name="左箭头 89"/>
          <p:cNvSpPr/>
          <p:nvPr userDrawn="1"/>
        </p:nvSpPr>
        <p:spPr>
          <a:xfrm rot="10800000">
            <a:off x="9136380" y="2732405"/>
            <a:ext cx="449580" cy="210820"/>
          </a:xfrm>
          <a:prstGeom prst="leftArrow">
            <a:avLst/>
          </a:prstGeom>
          <a:solidFill>
            <a:srgbClr val="C00000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1" name="左箭头 90"/>
          <p:cNvSpPr/>
          <p:nvPr userDrawn="1"/>
        </p:nvSpPr>
        <p:spPr>
          <a:xfrm rot="10800000">
            <a:off x="10859135" y="2732405"/>
            <a:ext cx="449580" cy="210820"/>
          </a:xfrm>
          <a:prstGeom prst="leftArrow">
            <a:avLst/>
          </a:prstGeom>
          <a:solidFill>
            <a:srgbClr val="C00000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2" name="Freeform 30"/>
          <p:cNvSpPr/>
          <p:nvPr/>
        </p:nvSpPr>
        <p:spPr>
          <a:xfrm>
            <a:off x="4685665" y="3242310"/>
            <a:ext cx="7066915" cy="1066800"/>
          </a:xfrm>
          <a:custGeom>
            <a:avLst/>
            <a:gdLst/>
            <a:ahLst/>
            <a:cxnLst/>
            <a:rect l="l" t="t" r="r" b="b"/>
            <a:pathLst>
              <a:path w="6886575" h="1133475">
                <a:moveTo>
                  <a:pt x="6886575" y="0"/>
                </a:moveTo>
                <a:lnTo>
                  <a:pt x="6886575" y="1133475"/>
                </a:lnTo>
                <a:lnTo>
                  <a:pt x="5715000" y="1133475"/>
                </a:lnTo>
                <a:moveTo>
                  <a:pt x="3000375" y="1133475"/>
                </a:moveTo>
                <a:lnTo>
                  <a:pt x="0" y="1133475"/>
                </a:lnTo>
                <a:lnTo>
                  <a:pt x="0" y="238125"/>
                </a:lnTo>
              </a:path>
            </a:pathLst>
          </a:custGeom>
          <a:noFill/>
          <a:ln w="28575" cmpd="sng">
            <a:solidFill>
              <a:schemeClr val="accent1"/>
            </a:solidFill>
            <a:custDash>
              <a:ds d="266667" sp="200000"/>
            </a:custDash>
            <a:tailEnd type="triangle" w="lg" len="lg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4260" y="21590"/>
            <a:ext cx="2237740" cy="735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/>
          <p:cNvSpPr/>
          <p:nvPr/>
        </p:nvSpPr>
        <p:spPr>
          <a:xfrm>
            <a:off x="0" y="635"/>
            <a:ext cx="12192000" cy="756920"/>
          </a:xfrm>
          <a:prstGeom prst="rect">
            <a:avLst/>
          </a:prstGeom>
          <a:solidFill>
            <a:schemeClr val="tx2"/>
          </a:solidFill>
          <a:ln>
            <a:solidFill>
              <a:srgbClr val="0070C0"/>
            </a:solidFill>
          </a:ln>
        </p:spPr>
        <p:txBody>
          <a:bodyPr wrap="square" anchor="ctr" anchorCtr="0">
            <a:noAutofit/>
          </a:bodyPr>
          <a:lstStyle/>
          <a:p>
            <a:pPr algn="ctr"/>
            <a:endParaRPr lang="en-US" altLang="zh-CN" sz="2000" b="1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9" name="图片 48" descr="任务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" y="83820"/>
            <a:ext cx="590550" cy="590550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720090" y="83820"/>
            <a:ext cx="30505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项目简介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8100" y="808990"/>
            <a:ext cx="368617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66700"/>
            <a:r>
              <a:rPr lang="en-US" altLang="zh-CN" sz="2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altLang="en-US" sz="2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总体方案与硬件链路实现</a:t>
            </a:r>
            <a:endParaRPr altLang="en-US" sz="2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3" name="图片 52" descr="屏幕截图 2026-10-09 0836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05" y="1556385"/>
            <a:ext cx="5389245" cy="2823845"/>
          </a:xfrm>
          <a:prstGeom prst="rect">
            <a:avLst/>
          </a:prstGeom>
        </p:spPr>
      </p:pic>
      <p:sp>
        <p:nvSpPr>
          <p:cNvPr id="54" name="矩形: 圆角 39"/>
          <p:cNvSpPr/>
          <p:nvPr>
            <p:custDataLst>
              <p:tags r:id="rId4"/>
            </p:custDataLst>
          </p:nvPr>
        </p:nvSpPr>
        <p:spPr>
          <a:xfrm>
            <a:off x="103796" y="1439806"/>
            <a:ext cx="5517171" cy="3285431"/>
          </a:xfrm>
          <a:prstGeom prst="roundRect">
            <a:avLst>
              <a:gd name="adj" fmla="val 5160"/>
            </a:avLst>
          </a:prstGeom>
          <a:noFill/>
          <a:ln w="19050">
            <a:solidFill>
              <a:schemeClr val="tx2">
                <a:alpha val="8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DEEBF7">
                    <a:alpha val="3000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272415" y="4996180"/>
            <a:ext cx="4586605" cy="14312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1.压流转换输出安全电流</a:t>
            </a:r>
            <a:endParaRPr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r>
              <a:rPr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MCU</a:t>
            </a:r>
            <a:r>
              <a:rPr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编程产生治疗波形</a:t>
            </a:r>
            <a:endParaRPr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r>
              <a:rPr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3.配交互与电源，验证完整流程</a:t>
            </a:r>
            <a:r>
              <a:rPr altLang="en-US" sz="24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4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7" name="矩形: 圆角 39"/>
          <p:cNvSpPr/>
          <p:nvPr>
            <p:custDataLst>
              <p:tags r:id="rId5"/>
            </p:custDataLst>
          </p:nvPr>
        </p:nvSpPr>
        <p:spPr>
          <a:xfrm>
            <a:off x="103505" y="4885055"/>
            <a:ext cx="5525135" cy="1652905"/>
          </a:xfrm>
          <a:prstGeom prst="roundRect">
            <a:avLst>
              <a:gd name="adj" fmla="val 5160"/>
            </a:avLst>
          </a:prstGeom>
          <a:noFill/>
          <a:ln w="19050">
            <a:solidFill>
              <a:srgbClr val="C00000">
                <a:alpha val="80000"/>
              </a:srgb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DEEBF7">
                    <a:alpha val="3000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227965" y="1499870"/>
            <a:ext cx="1116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总体方案</a:t>
            </a:r>
            <a:endParaRPr lang="zh-CN" altLang="en-US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9" name="Straight Connector 3"/>
          <p:cNvCxnSpPr/>
          <p:nvPr/>
        </p:nvCxnSpPr>
        <p:spPr>
          <a:xfrm>
            <a:off x="5739661" y="816161"/>
            <a:ext cx="0" cy="5988685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/>
        </p:nvSpPr>
        <p:spPr>
          <a:xfrm>
            <a:off x="5813425" y="808990"/>
            <a:ext cx="1638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硬件链路实现</a:t>
            </a:r>
            <a:endParaRPr lang="zh-CN" altLang="en-US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1" name="Imag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2020" y="1228725"/>
            <a:ext cx="4189095" cy="1665605"/>
          </a:xfrm>
          <a:prstGeom prst="rect">
            <a:avLst/>
          </a:prstGeom>
        </p:spPr>
      </p:pic>
      <p:sp>
        <p:nvSpPr>
          <p:cNvPr id="63" name="文本框 62"/>
          <p:cNvSpPr txBox="1"/>
          <p:nvPr/>
        </p:nvSpPr>
        <p:spPr>
          <a:xfrm>
            <a:off x="6026785" y="1201420"/>
            <a:ext cx="1348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升压模块</a:t>
            </a:r>
            <a:endParaRPr lang="zh-CN" altLang="en-US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矩形: 圆角 39"/>
          <p:cNvSpPr/>
          <p:nvPr>
            <p:custDataLst>
              <p:tags r:id="rId7"/>
            </p:custDataLst>
          </p:nvPr>
        </p:nvSpPr>
        <p:spPr>
          <a:xfrm>
            <a:off x="7143115" y="1177290"/>
            <a:ext cx="4586605" cy="1760220"/>
          </a:xfrm>
          <a:prstGeom prst="roundRect">
            <a:avLst>
              <a:gd name="adj" fmla="val 5160"/>
            </a:avLst>
          </a:prstGeom>
          <a:noFill/>
          <a:ln w="19050">
            <a:solidFill>
              <a:schemeClr val="tx2">
                <a:alpha val="8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DEEBF7">
                    <a:alpha val="3000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0" name="hardware-chain"/>
          <p:cNvGrpSpPr/>
          <p:nvPr>
            <p:custDataLst>
              <p:tags r:id="rId8"/>
            </p:custDataLst>
          </p:nvPr>
        </p:nvGrpSpPr>
        <p:grpSpPr>
          <a:xfrm>
            <a:off x="5814060" y="3100705"/>
            <a:ext cx="6365875" cy="704215"/>
            <a:chOff x="960474" y="4476750"/>
            <a:chExt cx="10374276" cy="1428750"/>
          </a:xfrm>
        </p:grpSpPr>
        <p:sp>
          <p:nvSpPr>
            <p:cNvPr id="81" name="Line 10"/>
            <p:cNvSpPr/>
            <p:nvPr>
              <p:custDataLst>
                <p:tags r:id="rId9"/>
              </p:custDataLst>
            </p:nvPr>
          </p:nvSpPr>
          <p:spPr>
            <a:xfrm>
              <a:off x="3971390" y="5191125"/>
              <a:ext cx="619125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82" name="Line 11"/>
            <p:cNvSpPr/>
            <p:nvPr>
              <p:custDataLst>
                <p:tags r:id="rId10"/>
              </p:custDataLst>
            </p:nvPr>
          </p:nvSpPr>
          <p:spPr>
            <a:xfrm>
              <a:off x="7667625" y="5191125"/>
              <a:ext cx="619125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83" name="Rectangle 12"/>
            <p:cNvSpPr/>
            <p:nvPr>
              <p:custDataLst>
                <p:tags r:id="rId11"/>
              </p:custDataLst>
            </p:nvPr>
          </p:nvSpPr>
          <p:spPr>
            <a:xfrm flipH="1">
              <a:off x="960474" y="4476750"/>
              <a:ext cx="2857171" cy="1373352"/>
            </a:xfrm>
            <a:prstGeom prst="roundRect">
              <a:avLst>
                <a:gd name="adj" fmla="val 14667"/>
              </a:avLst>
            </a:prstGeom>
            <a:noFill/>
            <a:ln w="28575">
              <a:solidFill>
                <a:schemeClr val="accent2"/>
              </a:solidFill>
              <a:prstDash val="sysDot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2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Rectangle 16"/>
            <p:cNvSpPr/>
            <p:nvPr>
              <p:custDataLst>
                <p:tags r:id="rId12"/>
              </p:custDataLst>
            </p:nvPr>
          </p:nvSpPr>
          <p:spPr>
            <a:xfrm>
              <a:off x="4705562" y="4476750"/>
              <a:ext cx="2962748" cy="1428750"/>
            </a:xfrm>
            <a:prstGeom prst="roundRect">
              <a:avLst>
                <a:gd name="adj" fmla="val 14667"/>
              </a:avLst>
            </a:prstGeom>
            <a:noFill/>
            <a:ln w="28575">
              <a:solidFill>
                <a:srgbClr val="C00000"/>
              </a:solidFill>
              <a:prstDash val="sysDot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2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Rectangle 20"/>
            <p:cNvSpPr/>
            <p:nvPr>
              <p:custDataLst>
                <p:tags r:id="rId13"/>
              </p:custDataLst>
            </p:nvPr>
          </p:nvSpPr>
          <p:spPr>
            <a:xfrm>
              <a:off x="8286750" y="4476750"/>
              <a:ext cx="3048000" cy="1428750"/>
            </a:xfrm>
            <a:prstGeom prst="roundRect">
              <a:avLst>
                <a:gd name="adj" fmla="val 14667"/>
              </a:avLst>
            </a:prstGeom>
            <a:noFill/>
            <a:ln w="28575">
              <a:solidFill>
                <a:schemeClr val="accent1"/>
              </a:solidFill>
              <a:prstDash val="sysDot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2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6" name="文本框 95"/>
          <p:cNvSpPr txBox="1"/>
          <p:nvPr/>
        </p:nvSpPr>
        <p:spPr>
          <a:xfrm>
            <a:off x="5739765" y="2732405"/>
            <a:ext cx="1892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b="1" dirty="0">
                <a:solidFill>
                  <a:schemeClr val="accent2"/>
                </a:solidFill>
                <a:sym typeface="+mn-ea"/>
              </a:rPr>
              <a:t>① LM5158 升压</a:t>
            </a:r>
            <a:endParaRPr lang="zh-CN" altLang="en-US"/>
          </a:p>
        </p:txBody>
      </p:sp>
      <p:sp>
        <p:nvSpPr>
          <p:cNvPr id="97" name="文本框 96"/>
          <p:cNvSpPr txBox="1"/>
          <p:nvPr/>
        </p:nvSpPr>
        <p:spPr>
          <a:xfrm>
            <a:off x="8112125" y="2778760"/>
            <a:ext cx="1818005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C00000"/>
                </a:solidFill>
                <a:sym typeface="+mn-ea"/>
              </a:rPr>
              <a:t>② Howland VCCS</a:t>
            </a:r>
            <a:endParaRPr lang="en-US" altLang="en-US" sz="1500" b="1" dirty="0">
              <a:solidFill>
                <a:srgbClr val="C00000"/>
              </a:solidFill>
              <a:sym typeface="+mn-ea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10599420" y="2778760"/>
            <a:ext cx="1753235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1500" b="1" dirty="0">
                <a:solidFill>
                  <a:schemeClr val="accent1"/>
                </a:solidFill>
                <a:sym typeface="+mn-ea"/>
              </a:rPr>
              <a:t>③ 反馈采样</a:t>
            </a:r>
            <a:endParaRPr lang="zh-CN" altLang="en-US" sz="1500" b="1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5581650" y="3129280"/>
            <a:ext cx="2150745" cy="675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2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54 V</a:t>
            </a:r>
            <a:endParaRPr lang="en-US" sz="1200" b="1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sz="12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为高阻负载保留电压余量</a:t>
            </a:r>
            <a:endParaRPr lang="zh-CN" sz="1400" b="1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zh-CN" altLang="en-US" sz="1400" b="1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111490" y="3159760"/>
            <a:ext cx="1838325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OPA551UA + BCP56</a:t>
            </a:r>
            <a:endParaRPr lang="en-US" sz="1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sz="1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电压指令转换为稳定刺激电流</a:t>
            </a:r>
            <a:endParaRPr lang="zh-CN" sz="1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zh-CN" altLang="en-US" sz="1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10283825" y="3159760"/>
            <a:ext cx="19729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l-GR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100 kΩ / 4.7 kΩ</a:t>
            </a:r>
            <a:endParaRPr lang="el-GR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分压后送入 PA0 量化</a:t>
            </a:r>
            <a:endParaRPr lang="el-GR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02" name="Imag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97245" y="1697355"/>
            <a:ext cx="1217295" cy="1006475"/>
          </a:xfrm>
          <a:prstGeom prst="rect">
            <a:avLst/>
          </a:prstGeom>
        </p:spPr>
      </p:pic>
      <p:cxnSp>
        <p:nvCxnSpPr>
          <p:cNvPr id="103" name="Straight Connector 3"/>
          <p:cNvCxnSpPr/>
          <p:nvPr/>
        </p:nvCxnSpPr>
        <p:spPr>
          <a:xfrm>
            <a:off x="5986676" y="4012116"/>
            <a:ext cx="5862955" cy="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4" name="图片 10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86780" y="4174490"/>
            <a:ext cx="2229485" cy="1146810"/>
          </a:xfrm>
          <a:prstGeom prst="rect">
            <a:avLst/>
          </a:prstGeom>
        </p:spPr>
      </p:pic>
      <p:sp>
        <p:nvSpPr>
          <p:cNvPr id="105" name="Rectangle 16"/>
          <p:cNvSpPr/>
          <p:nvPr>
            <p:custDataLst>
              <p:tags r:id="rId16"/>
            </p:custDataLst>
          </p:nvPr>
        </p:nvSpPr>
        <p:spPr>
          <a:xfrm>
            <a:off x="5914390" y="4174490"/>
            <a:ext cx="2349500" cy="1138555"/>
          </a:xfrm>
          <a:prstGeom prst="roundRect">
            <a:avLst>
              <a:gd name="adj" fmla="val 14667"/>
            </a:avLst>
          </a:prstGeom>
          <a:noFill/>
          <a:ln w="28575">
            <a:solidFill>
              <a:schemeClr val="tx2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lt2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" name="Rectangle 16"/>
          <p:cNvSpPr/>
          <p:nvPr>
            <p:custDataLst>
              <p:tags r:id="rId17"/>
            </p:custDataLst>
          </p:nvPr>
        </p:nvSpPr>
        <p:spPr>
          <a:xfrm>
            <a:off x="9344025" y="4174490"/>
            <a:ext cx="2349500" cy="1138555"/>
          </a:xfrm>
          <a:prstGeom prst="roundRect">
            <a:avLst>
              <a:gd name="adj" fmla="val 14667"/>
            </a:avLst>
          </a:prstGeom>
          <a:noFill/>
          <a:ln w="28575">
            <a:solidFill>
              <a:schemeClr val="tx2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lt2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7" name="Image 14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9443085" y="4218940"/>
            <a:ext cx="2150745" cy="1052195"/>
          </a:xfrm>
          <a:prstGeom prst="rect">
            <a:avLst/>
          </a:prstGeom>
        </p:spPr>
      </p:pic>
      <p:sp>
        <p:nvSpPr>
          <p:cNvPr id="108" name="文本框 107"/>
          <p:cNvSpPr txBox="1"/>
          <p:nvPr/>
        </p:nvSpPr>
        <p:spPr>
          <a:xfrm>
            <a:off x="9886315" y="5436235"/>
            <a:ext cx="1159510" cy="2254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12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阻抗检测电路 </a:t>
            </a:r>
            <a:endParaRPr lang="zh-CN" altLang="en-US" sz="12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6473190" y="5364480"/>
            <a:ext cx="1158875" cy="3689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12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恒流源设计图</a:t>
            </a:r>
            <a:r>
              <a:rPr sz="1200" dirty="0">
                <a:solidFill>
                  <a:schemeClr val="accent5"/>
                </a:solidFill>
                <a:sym typeface="+mn-ea"/>
              </a:rPr>
              <a:t> </a:t>
            </a:r>
            <a:endParaRPr lang="zh-CN" altLang="en-US" sz="1200" dirty="0">
              <a:solidFill>
                <a:schemeClr val="accent5"/>
              </a:solidFill>
              <a:sym typeface="+mn-ea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8162290" y="4516755"/>
            <a:ext cx="13481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altLang="en-US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恒流源模块</a:t>
            </a:r>
            <a:endParaRPr lang="zh-CN" altLang="en-US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5882005" y="5826760"/>
            <a:ext cx="5862955" cy="4432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系统逻辑：以</a:t>
            </a:r>
            <a:r>
              <a:rPr altLang="zh-CN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STM32 </a:t>
            </a:r>
            <a:r>
              <a:rPr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为核心，通过</a:t>
            </a:r>
            <a:r>
              <a:rPr altLang="zh-CN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Howland </a:t>
            </a:r>
            <a:r>
              <a:rPr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恒流源产生稳定电流，通过电极作用于人体；同时集成人机交互与安全保护机制，确保系统高效、 安全运行。 </a:t>
            </a:r>
            <a:endParaRPr altLang="en-US" sz="1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Image 0" descr="logo_whit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954260" y="21590"/>
            <a:ext cx="2237740" cy="735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/>
          <p:cNvSpPr/>
          <p:nvPr/>
        </p:nvSpPr>
        <p:spPr>
          <a:xfrm>
            <a:off x="0" y="635"/>
            <a:ext cx="12192000" cy="756920"/>
          </a:xfrm>
          <a:prstGeom prst="rect">
            <a:avLst/>
          </a:prstGeom>
          <a:solidFill>
            <a:schemeClr val="tx2"/>
          </a:solidFill>
          <a:ln>
            <a:solidFill>
              <a:srgbClr val="0070C0"/>
            </a:solidFill>
          </a:ln>
        </p:spPr>
        <p:txBody>
          <a:bodyPr wrap="square" anchor="ctr" anchorCtr="0">
            <a:noAutofit/>
          </a:bodyPr>
          <a:lstStyle/>
          <a:p>
            <a:pPr algn="ctr"/>
            <a:endParaRPr lang="en-US" altLang="zh-CN" sz="2000" b="1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9" name="图片 48" descr="任务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" y="83820"/>
            <a:ext cx="590550" cy="590550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720090" y="83820"/>
            <a:ext cx="30505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项目简介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8100" y="808990"/>
            <a:ext cx="368617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66700"/>
            <a:r>
              <a:rPr lang="en-US" altLang="zh-CN" sz="2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altLang="en-US" sz="2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总体方案与硬件链路实现</a:t>
            </a:r>
            <a:endParaRPr altLang="en-US" sz="2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矩形: 圆角 39"/>
          <p:cNvSpPr/>
          <p:nvPr>
            <p:custDataLst>
              <p:tags r:id="rId3"/>
            </p:custDataLst>
          </p:nvPr>
        </p:nvSpPr>
        <p:spPr>
          <a:xfrm>
            <a:off x="103505" y="1439545"/>
            <a:ext cx="5516880" cy="5215255"/>
          </a:xfrm>
          <a:prstGeom prst="roundRect">
            <a:avLst>
              <a:gd name="adj" fmla="val 5160"/>
            </a:avLst>
          </a:prstGeom>
          <a:noFill/>
          <a:ln w="19050">
            <a:solidFill>
              <a:schemeClr val="tx2">
                <a:alpha val="8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DEEBF7">
                    <a:alpha val="3000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227965" y="1499870"/>
            <a:ext cx="2112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硬件总体框图</a:t>
            </a:r>
            <a:endParaRPr lang="zh-CN" altLang="en-US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9" name="Straight Connector 3"/>
          <p:cNvCxnSpPr/>
          <p:nvPr/>
        </p:nvCxnSpPr>
        <p:spPr>
          <a:xfrm>
            <a:off x="5739661" y="816161"/>
            <a:ext cx="0" cy="5988685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/>
        </p:nvSpPr>
        <p:spPr>
          <a:xfrm>
            <a:off x="5813425" y="808990"/>
            <a:ext cx="1638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硬件链路实现</a:t>
            </a:r>
            <a:endParaRPr lang="zh-CN" altLang="en-US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1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020" y="1228725"/>
            <a:ext cx="4189095" cy="1665605"/>
          </a:xfrm>
          <a:prstGeom prst="rect">
            <a:avLst/>
          </a:prstGeom>
        </p:spPr>
      </p:pic>
      <p:sp>
        <p:nvSpPr>
          <p:cNvPr id="63" name="文本框 62"/>
          <p:cNvSpPr txBox="1"/>
          <p:nvPr/>
        </p:nvSpPr>
        <p:spPr>
          <a:xfrm>
            <a:off x="6026785" y="1201420"/>
            <a:ext cx="1348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升压模块</a:t>
            </a:r>
            <a:endParaRPr lang="zh-CN" altLang="en-US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矩形: 圆角 39"/>
          <p:cNvSpPr/>
          <p:nvPr>
            <p:custDataLst>
              <p:tags r:id="rId5"/>
            </p:custDataLst>
          </p:nvPr>
        </p:nvSpPr>
        <p:spPr>
          <a:xfrm>
            <a:off x="7143115" y="1177290"/>
            <a:ext cx="4586605" cy="1760220"/>
          </a:xfrm>
          <a:prstGeom prst="roundRect">
            <a:avLst>
              <a:gd name="adj" fmla="val 5160"/>
            </a:avLst>
          </a:prstGeom>
          <a:noFill/>
          <a:ln w="19050">
            <a:solidFill>
              <a:schemeClr val="tx2">
                <a:alpha val="8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DEEBF7">
                    <a:alpha val="3000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0" name="hardware-chain"/>
          <p:cNvGrpSpPr/>
          <p:nvPr>
            <p:custDataLst>
              <p:tags r:id="rId6"/>
            </p:custDataLst>
          </p:nvPr>
        </p:nvGrpSpPr>
        <p:grpSpPr>
          <a:xfrm>
            <a:off x="5814060" y="3100705"/>
            <a:ext cx="6365875" cy="704215"/>
            <a:chOff x="960474" y="4476750"/>
            <a:chExt cx="10374276" cy="1428750"/>
          </a:xfrm>
        </p:grpSpPr>
        <p:sp>
          <p:nvSpPr>
            <p:cNvPr id="81" name="Line 10"/>
            <p:cNvSpPr/>
            <p:nvPr>
              <p:custDataLst>
                <p:tags r:id="rId7"/>
              </p:custDataLst>
            </p:nvPr>
          </p:nvSpPr>
          <p:spPr>
            <a:xfrm>
              <a:off x="3971390" y="5191125"/>
              <a:ext cx="619125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82" name="Line 11"/>
            <p:cNvSpPr/>
            <p:nvPr>
              <p:custDataLst>
                <p:tags r:id="rId8"/>
              </p:custDataLst>
            </p:nvPr>
          </p:nvSpPr>
          <p:spPr>
            <a:xfrm>
              <a:off x="7667625" y="5191125"/>
              <a:ext cx="619125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83" name="Rectangle 12"/>
            <p:cNvSpPr/>
            <p:nvPr>
              <p:custDataLst>
                <p:tags r:id="rId9"/>
              </p:custDataLst>
            </p:nvPr>
          </p:nvSpPr>
          <p:spPr>
            <a:xfrm flipH="1">
              <a:off x="960474" y="4476750"/>
              <a:ext cx="2857171" cy="1373352"/>
            </a:xfrm>
            <a:prstGeom prst="roundRect">
              <a:avLst>
                <a:gd name="adj" fmla="val 14667"/>
              </a:avLst>
            </a:prstGeom>
            <a:noFill/>
            <a:ln w="28575">
              <a:solidFill>
                <a:schemeClr val="accent2"/>
              </a:solidFill>
              <a:prstDash val="sysDot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2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Rectangle 16"/>
            <p:cNvSpPr/>
            <p:nvPr>
              <p:custDataLst>
                <p:tags r:id="rId10"/>
              </p:custDataLst>
            </p:nvPr>
          </p:nvSpPr>
          <p:spPr>
            <a:xfrm>
              <a:off x="4705562" y="4476750"/>
              <a:ext cx="2962748" cy="1428750"/>
            </a:xfrm>
            <a:prstGeom prst="roundRect">
              <a:avLst>
                <a:gd name="adj" fmla="val 14667"/>
              </a:avLst>
            </a:prstGeom>
            <a:noFill/>
            <a:ln w="28575">
              <a:solidFill>
                <a:srgbClr val="C00000"/>
              </a:solidFill>
              <a:prstDash val="sysDot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2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Rectangle 20"/>
            <p:cNvSpPr/>
            <p:nvPr>
              <p:custDataLst>
                <p:tags r:id="rId11"/>
              </p:custDataLst>
            </p:nvPr>
          </p:nvSpPr>
          <p:spPr>
            <a:xfrm>
              <a:off x="8286750" y="4476750"/>
              <a:ext cx="3048000" cy="1428750"/>
            </a:xfrm>
            <a:prstGeom prst="roundRect">
              <a:avLst>
                <a:gd name="adj" fmla="val 14667"/>
              </a:avLst>
            </a:prstGeom>
            <a:noFill/>
            <a:ln w="28575">
              <a:solidFill>
                <a:schemeClr val="accent1"/>
              </a:solidFill>
              <a:prstDash val="sysDot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2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6" name="文本框 95"/>
          <p:cNvSpPr txBox="1"/>
          <p:nvPr/>
        </p:nvSpPr>
        <p:spPr>
          <a:xfrm>
            <a:off x="5739765" y="2732405"/>
            <a:ext cx="1892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b="1" dirty="0">
                <a:solidFill>
                  <a:schemeClr val="accent2"/>
                </a:solidFill>
                <a:sym typeface="+mn-ea"/>
              </a:rPr>
              <a:t>① LM5158 升压</a:t>
            </a:r>
            <a:endParaRPr lang="zh-CN" altLang="en-US"/>
          </a:p>
        </p:txBody>
      </p:sp>
      <p:sp>
        <p:nvSpPr>
          <p:cNvPr id="97" name="文本框 96"/>
          <p:cNvSpPr txBox="1"/>
          <p:nvPr/>
        </p:nvSpPr>
        <p:spPr>
          <a:xfrm>
            <a:off x="8112125" y="2778760"/>
            <a:ext cx="1818005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sz="1500" b="1" dirty="0">
                <a:solidFill>
                  <a:srgbClr val="C00000"/>
                </a:solidFill>
                <a:sym typeface="+mn-ea"/>
              </a:rPr>
              <a:t>② Howland VCCS</a:t>
            </a:r>
            <a:endParaRPr lang="en-US" altLang="en-US" sz="1500" b="1" dirty="0">
              <a:solidFill>
                <a:srgbClr val="C00000"/>
              </a:solidFill>
              <a:sym typeface="+mn-ea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10599420" y="2778760"/>
            <a:ext cx="1753235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1500" b="1" dirty="0">
                <a:solidFill>
                  <a:schemeClr val="accent1"/>
                </a:solidFill>
                <a:sym typeface="+mn-ea"/>
              </a:rPr>
              <a:t>③ 反馈采样</a:t>
            </a:r>
            <a:endParaRPr lang="zh-CN" altLang="en-US" sz="1500" b="1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5581650" y="3129280"/>
            <a:ext cx="2150745" cy="675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2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54 V</a:t>
            </a:r>
            <a:endParaRPr lang="en-US" sz="1200" b="1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sz="12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为高阻负载保留电压余量</a:t>
            </a:r>
            <a:endParaRPr lang="zh-CN" sz="1400" b="1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zh-CN" altLang="en-US" sz="1400" b="1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111490" y="3159760"/>
            <a:ext cx="1838325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OPA551UA + BCP56</a:t>
            </a:r>
            <a:endParaRPr lang="en-US" sz="1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sz="1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电压指令转换为稳定刺激电流</a:t>
            </a:r>
            <a:endParaRPr lang="zh-CN" sz="1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zh-CN" altLang="en-US" sz="1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10283825" y="3159760"/>
            <a:ext cx="19729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l-GR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100 kΩ / 4.7 kΩ</a:t>
            </a:r>
            <a:endParaRPr lang="el-GR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分压后送入 PA0 量化</a:t>
            </a:r>
            <a:endParaRPr lang="el-GR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02" name="Imag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97245" y="1697355"/>
            <a:ext cx="1217295" cy="1006475"/>
          </a:xfrm>
          <a:prstGeom prst="rect">
            <a:avLst/>
          </a:prstGeom>
        </p:spPr>
      </p:pic>
      <p:cxnSp>
        <p:nvCxnSpPr>
          <p:cNvPr id="103" name="Straight Connector 3"/>
          <p:cNvCxnSpPr/>
          <p:nvPr/>
        </p:nvCxnSpPr>
        <p:spPr>
          <a:xfrm>
            <a:off x="5986676" y="4012116"/>
            <a:ext cx="5862955" cy="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4" name="图片 10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86780" y="4174490"/>
            <a:ext cx="2229485" cy="1146810"/>
          </a:xfrm>
          <a:prstGeom prst="rect">
            <a:avLst/>
          </a:prstGeom>
        </p:spPr>
      </p:pic>
      <p:sp>
        <p:nvSpPr>
          <p:cNvPr id="105" name="Rectangle 16"/>
          <p:cNvSpPr/>
          <p:nvPr>
            <p:custDataLst>
              <p:tags r:id="rId14"/>
            </p:custDataLst>
          </p:nvPr>
        </p:nvSpPr>
        <p:spPr>
          <a:xfrm>
            <a:off x="5914390" y="4174490"/>
            <a:ext cx="2349500" cy="1138555"/>
          </a:xfrm>
          <a:prstGeom prst="roundRect">
            <a:avLst>
              <a:gd name="adj" fmla="val 14667"/>
            </a:avLst>
          </a:prstGeom>
          <a:noFill/>
          <a:ln w="28575">
            <a:solidFill>
              <a:schemeClr val="tx2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lt2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" name="Rectangle 16"/>
          <p:cNvSpPr/>
          <p:nvPr>
            <p:custDataLst>
              <p:tags r:id="rId15"/>
            </p:custDataLst>
          </p:nvPr>
        </p:nvSpPr>
        <p:spPr>
          <a:xfrm>
            <a:off x="9344025" y="4174490"/>
            <a:ext cx="2349500" cy="1138555"/>
          </a:xfrm>
          <a:prstGeom prst="roundRect">
            <a:avLst>
              <a:gd name="adj" fmla="val 14667"/>
            </a:avLst>
          </a:prstGeom>
          <a:noFill/>
          <a:ln w="28575">
            <a:solidFill>
              <a:schemeClr val="tx2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lt2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7" name="Image 14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9443085" y="4218940"/>
            <a:ext cx="2150745" cy="1052195"/>
          </a:xfrm>
          <a:prstGeom prst="rect">
            <a:avLst/>
          </a:prstGeom>
        </p:spPr>
      </p:pic>
      <p:sp>
        <p:nvSpPr>
          <p:cNvPr id="108" name="文本框 107"/>
          <p:cNvSpPr txBox="1"/>
          <p:nvPr/>
        </p:nvSpPr>
        <p:spPr>
          <a:xfrm>
            <a:off x="9886315" y="5436235"/>
            <a:ext cx="1159510" cy="2254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12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阻抗检测电路 </a:t>
            </a:r>
            <a:endParaRPr lang="zh-CN" altLang="en-US" sz="12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6473190" y="5364480"/>
            <a:ext cx="1158875" cy="3689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12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恒流源设计图</a:t>
            </a:r>
            <a:r>
              <a:rPr sz="1200" dirty="0">
                <a:solidFill>
                  <a:schemeClr val="accent5"/>
                </a:solidFill>
                <a:sym typeface="+mn-ea"/>
              </a:rPr>
              <a:t> </a:t>
            </a:r>
            <a:endParaRPr lang="zh-CN" altLang="en-US" sz="1200" dirty="0">
              <a:solidFill>
                <a:schemeClr val="accent5"/>
              </a:solidFill>
              <a:sym typeface="+mn-ea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8162290" y="4516755"/>
            <a:ext cx="13481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altLang="en-US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恒流源模块</a:t>
            </a:r>
            <a:endParaRPr lang="zh-CN" altLang="en-US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5882005" y="5826760"/>
            <a:ext cx="5862955" cy="4432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系统逻辑：以</a:t>
            </a:r>
            <a:r>
              <a:rPr altLang="zh-CN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STM32 </a:t>
            </a:r>
            <a:r>
              <a:rPr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为核心，通过</a:t>
            </a:r>
            <a:r>
              <a:rPr altLang="zh-CN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Howland </a:t>
            </a:r>
            <a:r>
              <a:rPr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恒流源产生稳定电流，通过电极作用于人体；同时集成人机交互与安全保护机制，确保系统高效、 安全运行。 </a:t>
            </a:r>
            <a:endParaRPr altLang="en-US" sz="1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3695" y="1864995"/>
            <a:ext cx="5167630" cy="4596765"/>
          </a:xfrm>
          <a:prstGeom prst="rect">
            <a:avLst/>
          </a:prstGeom>
        </p:spPr>
      </p:pic>
      <p:sp>
        <p:nvSpPr>
          <p:cNvPr id="4" name="右箭头 3"/>
          <p:cNvSpPr/>
          <p:nvPr userDrawn="1"/>
        </p:nvSpPr>
        <p:spPr>
          <a:xfrm rot="10800000">
            <a:off x="5121275" y="3714115"/>
            <a:ext cx="960755" cy="460375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6" name="Image 0" descr="logo_whit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54260" y="21590"/>
            <a:ext cx="2237740" cy="735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>
            <p:custDataLst>
              <p:tags r:id="rId1"/>
            </p:custDataLst>
          </p:nvPr>
        </p:nvGrpSpPr>
        <p:grpSpPr>
          <a:xfrm>
            <a:off x="631662" y="581211"/>
            <a:ext cx="8320783" cy="5611185"/>
            <a:chOff x="321552" y="699542"/>
            <a:chExt cx="5552566" cy="3744416"/>
          </a:xfrm>
        </p:grpSpPr>
        <p:sp>
          <p:nvSpPr>
            <p:cNvPr id="23" name="文本框 22"/>
            <p:cNvSpPr txBox="1"/>
            <p:nvPr/>
          </p:nvSpPr>
          <p:spPr>
            <a:xfrm>
              <a:off x="321552" y="834687"/>
              <a:ext cx="1308735" cy="3474085"/>
            </a:xfrm>
            <a:prstGeom prst="rect">
              <a:avLst/>
            </a:prstGeom>
            <a:noFill/>
          </p:spPr>
          <p:txBody>
            <a:bodyPr vert="eaVert" wrap="square" rtlCol="0">
              <a:noAutofit/>
            </a:bodyPr>
            <a:lstStyle/>
            <a:p>
              <a:pPr algn="ctr"/>
              <a:r>
                <a:rPr lang="en-US" altLang="zh-CN" sz="8800" b="1" kern="1900" spc="250" dirty="0">
                  <a:solidFill>
                    <a:srgbClr val="14326C">
                      <a:alpha val="61000"/>
                    </a:srgbClr>
                  </a:solidFill>
                  <a:latin typeface="Impact" panose="020B0806030902050204" pitchFamily="34" charset="0"/>
                  <a:ea typeface="微软雅黑" panose="020B0503020204020204" charset="-122"/>
                </a:rPr>
                <a:t>CONTENT</a:t>
              </a:r>
              <a:endParaRPr lang="en-US" altLang="zh-CN" sz="8800" b="1" kern="1900" spc="250" dirty="0">
                <a:solidFill>
                  <a:srgbClr val="14326C">
                    <a:alpha val="61000"/>
                  </a:srgbClr>
                </a:solidFill>
                <a:latin typeface="Impact" panose="020B0806030902050204" pitchFamily="34" charset="0"/>
                <a:ea typeface="微软雅黑" panose="020B0503020204020204" charset="-122"/>
              </a:endParaRPr>
            </a:p>
          </p:txBody>
        </p:sp>
        <p:cxnSp>
          <p:nvCxnSpPr>
            <p:cNvPr id="24" name="Straight Connector 3"/>
            <p:cNvCxnSpPr/>
            <p:nvPr/>
          </p:nvCxnSpPr>
          <p:spPr>
            <a:xfrm>
              <a:off x="2834392" y="699542"/>
              <a:ext cx="0" cy="3744416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</a:ln>
            <a:effectLst/>
          </p:spPr>
        </p:cxnSp>
        <p:grpSp>
          <p:nvGrpSpPr>
            <p:cNvPr id="25" name="组合 24"/>
            <p:cNvGrpSpPr/>
            <p:nvPr/>
          </p:nvGrpSpPr>
          <p:grpSpPr>
            <a:xfrm>
              <a:off x="3475243" y="958439"/>
              <a:ext cx="2256902" cy="488167"/>
              <a:chOff x="3475243" y="588538"/>
              <a:chExt cx="2256902" cy="488167"/>
            </a:xfrm>
          </p:grpSpPr>
          <p:sp>
            <p:nvSpPr>
              <p:cNvPr id="26" name="文本框 25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4421930" y="637915"/>
                <a:ext cx="1310215" cy="3894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3200" b="1" kern="0" spc="300" dirty="0">
                    <a:solidFill>
                      <a:prstClr val="black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项目简介</a:t>
                </a:r>
                <a:endParaRPr lang="zh-CN" altLang="en-US" sz="3200" b="1" kern="0" spc="3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7" name="矩形 26"/>
              <p:cNvSpPr/>
              <p:nvPr>
                <p:custDataLst>
                  <p:tags r:id="rId3"/>
                </p:custDataLst>
              </p:nvPr>
            </p:nvSpPr>
            <p:spPr>
              <a:xfrm>
                <a:off x="3475243" y="588538"/>
                <a:ext cx="720000" cy="488167"/>
              </a:xfrm>
              <a:prstGeom prst="rect">
                <a:avLst/>
              </a:prstGeom>
              <a:solidFill>
                <a:schemeClr val="tx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01</a:t>
                </a:r>
                <a:endParaRPr kumimoji="0" lang="zh-CN" altLang="en-US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4"/>
              </p:custDataLst>
            </p:nvPr>
          </p:nvSpPr>
          <p:spPr>
            <a:xfrm>
              <a:off x="4421911" y="3172175"/>
              <a:ext cx="206787" cy="3894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矩形 32"/>
            <p:cNvSpPr/>
            <p:nvPr>
              <p:custDataLst>
                <p:tags r:id="rId5"/>
              </p:custDataLst>
            </p:nvPr>
          </p:nvSpPr>
          <p:spPr>
            <a:xfrm>
              <a:off x="3475243" y="1820078"/>
              <a:ext cx="720000" cy="488167"/>
            </a:xfrm>
            <a:prstGeom prst="rect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02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文本框 34"/>
            <p:cNvSpPr txBox="1"/>
            <p:nvPr>
              <p:custDataLst>
                <p:tags r:id="rId6"/>
              </p:custDataLst>
            </p:nvPr>
          </p:nvSpPr>
          <p:spPr>
            <a:xfrm>
              <a:off x="4421833" y="3944579"/>
              <a:ext cx="206787" cy="3894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475243" y="1869875"/>
              <a:ext cx="2398875" cy="1300384"/>
              <a:chOff x="3475243" y="1452639"/>
              <a:chExt cx="2398875" cy="1300384"/>
            </a:xfrm>
          </p:grpSpPr>
          <p:sp>
            <p:nvSpPr>
              <p:cNvPr id="38" name="文本框 37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447355" y="1452639"/>
                <a:ext cx="1426763" cy="3894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200" b="1" i="0" u="none" strike="noStrike" kern="0" cap="none" spc="3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rPr>
                  <a:t>基础与拓展功能实现</a:t>
                </a:r>
                <a:endParaRPr kumimoji="0" lang="zh-CN" altLang="en-US" sz="3200" b="1" i="0" u="none" strike="noStrike" kern="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9" name="矩形 38"/>
              <p:cNvSpPr/>
              <p:nvPr>
                <p:custDataLst>
                  <p:tags r:id="rId8"/>
                </p:custDataLst>
              </p:nvPr>
            </p:nvSpPr>
            <p:spPr>
              <a:xfrm>
                <a:off x="3475243" y="2264856"/>
                <a:ext cx="720000" cy="488167"/>
              </a:xfrm>
              <a:prstGeom prst="rect">
                <a:avLst/>
              </a:prstGeom>
              <a:solidFill>
                <a:schemeClr val="tx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03</a:t>
                </a:r>
                <a:endParaRPr kumimoji="0" lang="zh-CN" altLang="en-US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40" name="标题 1"/>
            <p:cNvSpPr txBox="1"/>
            <p:nvPr/>
          </p:nvSpPr>
          <p:spPr>
            <a:xfrm>
              <a:off x="1630244" y="2074565"/>
              <a:ext cx="723900" cy="857250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8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目</a:t>
              </a:r>
              <a:r>
                <a:rPr lang="en-US" altLang="zh-CN" sz="48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</a:t>
              </a:r>
              <a:r>
                <a:rPr lang="zh-CN" altLang="en-US" sz="48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录</a:t>
              </a:r>
              <a:endParaRPr lang="zh-CN" altLang="en-US" sz="4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>
            <p:custDataLst>
              <p:tags r:id="rId9"/>
            </p:custDataLst>
          </p:nvPr>
        </p:nvSpPr>
        <p:spPr>
          <a:xfrm>
            <a:off x="6776273" y="3626780"/>
            <a:ext cx="41833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软件创新与实验验证</a:t>
            </a:r>
            <a:endParaRPr kumimoji="0" lang="zh-CN" altLang="en-US" sz="3200" b="1" i="0" u="none" strike="noStrike" kern="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右箭头 3"/>
          <p:cNvSpPr/>
          <p:nvPr userDrawn="1"/>
        </p:nvSpPr>
        <p:spPr>
          <a:xfrm>
            <a:off x="4397497" y="2383691"/>
            <a:ext cx="979170" cy="485775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" name="矩形 2"/>
          <p:cNvSpPr/>
          <p:nvPr>
            <p:custDataLst>
              <p:tags r:id="rId10"/>
            </p:custDataLst>
          </p:nvPr>
        </p:nvSpPr>
        <p:spPr>
          <a:xfrm>
            <a:off x="5357617" y="4843746"/>
            <a:ext cx="1078954" cy="731541"/>
          </a:xfrm>
          <a:prstGeom prst="rect">
            <a:avLst/>
          </a:prstGeom>
          <a:solidFill>
            <a:schemeClr val="tx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04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/>
          <p:cNvSpPr txBox="1"/>
          <p:nvPr>
            <p:custDataLst>
              <p:tags r:id="rId11"/>
            </p:custDataLst>
          </p:nvPr>
        </p:nvSpPr>
        <p:spPr>
          <a:xfrm>
            <a:off x="6814373" y="4918370"/>
            <a:ext cx="24053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总结与体会</a:t>
            </a:r>
            <a:endParaRPr kumimoji="0" lang="zh-CN" altLang="en-US" sz="3200" b="1" i="0" u="none" strike="noStrike" kern="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0" y="0"/>
            <a:ext cx="12192000" cy="756920"/>
          </a:xfrm>
          <a:prstGeom prst="rect">
            <a:avLst/>
          </a:prstGeom>
          <a:solidFill>
            <a:schemeClr val="tx2"/>
          </a:solidFill>
          <a:ln>
            <a:solidFill>
              <a:srgbClr val="0070C0"/>
            </a:solidFill>
          </a:ln>
        </p:spPr>
        <p:txBody>
          <a:bodyPr wrap="square" anchor="ctr" anchorCtr="0">
            <a:noAutofit/>
          </a:bodyPr>
          <a:lstStyle/>
          <a:p>
            <a:pPr algn="ctr"/>
            <a:endParaRPr lang="zh-CN" altLang="en-US" sz="3200" b="1" spc="200" dirty="0">
              <a:solidFill>
                <a:schemeClr val="accent5">
                  <a:lumMod val="20000"/>
                  <a:lumOff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图片 32" descr="齿轮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12" y="63869"/>
            <a:ext cx="630538" cy="630538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763144" y="63881"/>
            <a:ext cx="4618110" cy="64516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基础与拓展功能实现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56920"/>
            <a:ext cx="22688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altLang="en-US" sz="2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波形生成逻辑</a:t>
            </a:r>
            <a:endParaRPr altLang="en-US" sz="2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2" name="physiology-chain"/>
          <p:cNvGrpSpPr/>
          <p:nvPr/>
        </p:nvGrpSpPr>
        <p:grpSpPr>
          <a:xfrm>
            <a:off x="172085" y="1270000"/>
            <a:ext cx="6584315" cy="1184910"/>
            <a:chOff x="517152" y="2524125"/>
            <a:chExt cx="10728316" cy="959101"/>
          </a:xfrm>
        </p:grpSpPr>
        <p:sp>
          <p:nvSpPr>
            <p:cNvPr id="4" name="Line 3"/>
            <p:cNvSpPr/>
            <p:nvPr/>
          </p:nvSpPr>
          <p:spPr>
            <a:xfrm>
              <a:off x="2208463" y="2956645"/>
              <a:ext cx="1143000" cy="1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tailEnd type="triangle" w="lg" len="lg"/>
            </a:ln>
          </p:spPr>
        </p:sp>
        <p:sp>
          <p:nvSpPr>
            <p:cNvPr id="5" name="Line 4"/>
            <p:cNvSpPr/>
            <p:nvPr/>
          </p:nvSpPr>
          <p:spPr>
            <a:xfrm>
              <a:off x="5047897" y="3003675"/>
              <a:ext cx="1143291" cy="514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tailEnd type="triangle" w="lg" len="lg"/>
            </a:ln>
          </p:spPr>
        </p:sp>
        <p:sp>
          <p:nvSpPr>
            <p:cNvPr id="6" name="Line 5"/>
            <p:cNvSpPr/>
            <p:nvPr/>
          </p:nvSpPr>
          <p:spPr>
            <a:xfrm>
              <a:off x="7715250" y="3003932"/>
              <a:ext cx="1143000" cy="1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tailEnd type="triangle" w="lg" len="lg"/>
            </a:ln>
          </p:spPr>
        </p:sp>
        <p:sp>
          <p:nvSpPr>
            <p:cNvPr id="7" name="Rectangle 6"/>
            <p:cNvSpPr/>
            <p:nvPr/>
          </p:nvSpPr>
          <p:spPr>
            <a:xfrm>
              <a:off x="517152" y="2729720"/>
              <a:ext cx="1691657" cy="453337"/>
            </a:xfrm>
            <a:prstGeom prst="roundRect">
              <a:avLst>
                <a:gd name="adj" fmla="val 15730"/>
              </a:avLst>
            </a:prstGeom>
            <a:noFill/>
            <a:ln w="28575" cmpd="dbl">
              <a:solidFill>
                <a:schemeClr val="accent1">
                  <a:shade val="50000"/>
                </a:schemeClr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2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351066" y="2792426"/>
              <a:ext cx="1707177" cy="389089"/>
            </a:xfrm>
            <a:prstGeom prst="roundRect">
              <a:avLst>
                <a:gd name="adj" fmla="val 17500"/>
              </a:avLst>
            </a:prstGeom>
            <a:noFill/>
            <a:ln w="28575" cmpd="dbl">
              <a:solidFill>
                <a:schemeClr val="accent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2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191188" y="2524125"/>
              <a:ext cx="1524044" cy="959101"/>
            </a:xfrm>
            <a:prstGeom prst="roundRect">
              <a:avLst>
                <a:gd name="adj" fmla="val 17500"/>
              </a:avLst>
            </a:prstGeom>
            <a:noFill/>
            <a:ln w="28575" cmpd="dbl">
              <a:solidFill>
                <a:schemeClr val="accent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2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858524" y="2730234"/>
              <a:ext cx="2386944" cy="521697"/>
            </a:xfrm>
            <a:prstGeom prst="roundRect">
              <a:avLst>
                <a:gd name="adj" fmla="val 14737"/>
              </a:avLst>
            </a:prstGeom>
            <a:noFill/>
            <a:ln w="28575" cmpd="dbl">
              <a:solidFill>
                <a:schemeClr val="accent3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2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" name="TextBox 7"/>
          <p:cNvSpPr txBox="1"/>
          <p:nvPr/>
        </p:nvSpPr>
        <p:spPr>
          <a:xfrm>
            <a:off x="171768" y="2169795"/>
            <a:ext cx="1005205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① 外源刺激</a:t>
            </a:r>
            <a:endParaRPr lang="zh-CN" sz="1500" b="1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TextBox 11"/>
          <p:cNvSpPr txBox="1"/>
          <p:nvPr/>
        </p:nvSpPr>
        <p:spPr>
          <a:xfrm>
            <a:off x="1978978" y="2169795"/>
            <a:ext cx="814705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② 去极化</a:t>
            </a:r>
            <a:endParaRPr lang="zh-CN" sz="150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TextBox 15"/>
          <p:cNvSpPr txBox="1"/>
          <p:nvPr/>
        </p:nvSpPr>
        <p:spPr>
          <a:xfrm>
            <a:off x="3584258" y="2538730"/>
            <a:ext cx="1005205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③ 动作电位</a:t>
            </a:r>
            <a:endParaRPr lang="zh-CN" sz="1500" b="1" dirty="0">
              <a:solidFill>
                <a:schemeClr val="accent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7" name="TextBox 19"/>
          <p:cNvSpPr txBox="1"/>
          <p:nvPr/>
        </p:nvSpPr>
        <p:spPr>
          <a:xfrm>
            <a:off x="5593397" y="2538730"/>
            <a:ext cx="1005205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④ 肌肉响应</a:t>
            </a:r>
            <a:endParaRPr lang="zh-CN" sz="1500" b="1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72720" y="1601470"/>
            <a:ext cx="1030605" cy="5594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2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I(t)</a:t>
            </a:r>
            <a:endParaRPr lang="en-US" sz="12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sz="12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跨越膜阈值</a:t>
            </a:r>
            <a:endParaRPr lang="zh-CN" sz="12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zh-CN" altLang="en-US" sz="12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027555" y="1615440"/>
            <a:ext cx="8147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膜电位↑</a:t>
            </a:r>
            <a:endParaRPr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神经兴奋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1" name="Freeform 16"/>
          <p:cNvSpPr/>
          <p:nvPr/>
        </p:nvSpPr>
        <p:spPr>
          <a:xfrm>
            <a:off x="3717925" y="1438275"/>
            <a:ext cx="814705" cy="480695"/>
          </a:xfrm>
          <a:custGeom>
            <a:avLst/>
            <a:gdLst/>
            <a:ahLst/>
            <a:cxnLst/>
            <a:rect l="l" t="t" r="r" b="b"/>
            <a:pathLst>
              <a:path w="1104900" h="857250">
                <a:moveTo>
                  <a:pt x="0" y="552450"/>
                </a:moveTo>
                <a:cubicBezTo>
                  <a:pt x="171450" y="552450"/>
                  <a:pt x="200025" y="285750"/>
                  <a:pt x="314325" y="285750"/>
                </a:cubicBezTo>
                <a:cubicBezTo>
                  <a:pt x="428625" y="285750"/>
                  <a:pt x="438150" y="857250"/>
                  <a:pt x="571500" y="857250"/>
                </a:cubicBezTo>
                <a:cubicBezTo>
                  <a:pt x="714375" y="857250"/>
                  <a:pt x="723900" y="0"/>
                  <a:pt x="857250" y="0"/>
                </a:cubicBezTo>
                <a:cubicBezTo>
                  <a:pt x="990600" y="0"/>
                  <a:pt x="1009650" y="552450"/>
                  <a:pt x="1104900" y="552450"/>
                </a:cubicBezTo>
              </a:path>
            </a:pathLst>
          </a:custGeom>
          <a:noFill/>
          <a:ln w="47625">
            <a:solidFill>
              <a:schemeClr val="accent2"/>
            </a:solidFill>
          </a:ln>
        </p:spPr>
      </p:sp>
      <p:sp>
        <p:nvSpPr>
          <p:cNvPr id="32" name="文本框 31"/>
          <p:cNvSpPr txBox="1"/>
          <p:nvPr/>
        </p:nvSpPr>
        <p:spPr>
          <a:xfrm>
            <a:off x="3659505" y="2070100"/>
            <a:ext cx="1029970" cy="2933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12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沿轴突传播</a:t>
            </a:r>
            <a:endParaRPr lang="zh-CN" altLang="en-US" sz="1200" b="1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285105" y="1609725"/>
            <a:ext cx="14166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12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募集 → 收缩</a:t>
            </a:r>
            <a:endParaRPr sz="1200" b="1" dirty="0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sz="1200" b="1" dirty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治疗效果可观察</a:t>
            </a:r>
            <a:endParaRPr lang="zh-CN" altLang="en-US" sz="1200" b="1" dirty="0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Rectangle 10"/>
          <p:cNvSpPr/>
          <p:nvPr/>
        </p:nvSpPr>
        <p:spPr>
          <a:xfrm>
            <a:off x="50165" y="3119755"/>
            <a:ext cx="1653540" cy="2334895"/>
          </a:xfrm>
          <a:prstGeom prst="roundRect">
            <a:avLst>
              <a:gd name="adj" fmla="val 17500"/>
            </a:avLst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lt2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10"/>
          <p:cNvSpPr/>
          <p:nvPr/>
        </p:nvSpPr>
        <p:spPr>
          <a:xfrm>
            <a:off x="2576195" y="3119755"/>
            <a:ext cx="1653540" cy="2334895"/>
          </a:xfrm>
          <a:prstGeom prst="roundRect">
            <a:avLst>
              <a:gd name="adj" fmla="val 17500"/>
            </a:avLst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lt2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 10"/>
          <p:cNvSpPr/>
          <p:nvPr/>
        </p:nvSpPr>
        <p:spPr>
          <a:xfrm>
            <a:off x="5102860" y="3138805"/>
            <a:ext cx="1653540" cy="2334895"/>
          </a:xfrm>
          <a:prstGeom prst="roundRect">
            <a:avLst>
              <a:gd name="adj" fmla="val 17500"/>
            </a:avLst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lt2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0165" y="2740025"/>
            <a:ext cx="13176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三类波形</a:t>
            </a:r>
            <a:endParaRPr lang="zh-CN" altLang="en-US" sz="20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03" name="Straight Connector 3"/>
          <p:cNvCxnSpPr/>
          <p:nvPr/>
        </p:nvCxnSpPr>
        <p:spPr>
          <a:xfrm>
            <a:off x="123721" y="2787836"/>
            <a:ext cx="6804660" cy="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Straight Connector 3"/>
          <p:cNvCxnSpPr/>
          <p:nvPr/>
        </p:nvCxnSpPr>
        <p:spPr>
          <a:xfrm>
            <a:off x="6928381" y="757106"/>
            <a:ext cx="0" cy="606933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TextBox 6"/>
          <p:cNvSpPr txBox="1"/>
          <p:nvPr/>
        </p:nvSpPr>
        <p:spPr>
          <a:xfrm>
            <a:off x="50165" y="5533390"/>
            <a:ext cx="1816100" cy="245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600" b="1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01 · 平滑刺激包络</a:t>
            </a:r>
            <a:endParaRPr lang="zh-CN" sz="1600" b="1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508885" y="5473700"/>
            <a:ext cx="187833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sz="16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02 · 对称双相脉冲</a:t>
            </a:r>
            <a:endParaRPr lang="zh-CN" altLang="en-US" sz="16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197475" y="5473700"/>
            <a:ext cx="146431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16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03 · 直流输出</a:t>
            </a:r>
            <a:endParaRPr lang="zh-CN" altLang="en-US" sz="16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Freeform 8"/>
          <p:cNvSpPr/>
          <p:nvPr/>
        </p:nvSpPr>
        <p:spPr>
          <a:xfrm>
            <a:off x="83185" y="3328670"/>
            <a:ext cx="1619885" cy="960120"/>
          </a:xfrm>
          <a:custGeom>
            <a:avLst/>
            <a:gdLst/>
            <a:ahLst/>
            <a:cxnLst/>
            <a:rect l="l" t="t" r="r" b="b"/>
            <a:pathLst>
              <a:path w="2895600" h="1219200">
                <a:moveTo>
                  <a:pt x="0" y="1219200"/>
                </a:moveTo>
                <a:cubicBezTo>
                  <a:pt x="361950" y="1219200"/>
                  <a:pt x="457200" y="552450"/>
                  <a:pt x="895350" y="266700"/>
                </a:cubicBezTo>
                <a:cubicBezTo>
                  <a:pt x="1333500" y="0"/>
                  <a:pt x="1600200" y="171450"/>
                  <a:pt x="1847850" y="476250"/>
                </a:cubicBezTo>
                <a:cubicBezTo>
                  <a:pt x="2171700" y="876300"/>
                  <a:pt x="2457450" y="1123950"/>
                  <a:pt x="2895600" y="1219200"/>
                </a:cubicBezTo>
              </a:path>
            </a:pathLst>
          </a:custGeom>
          <a:noFill/>
          <a:ln w="57150">
            <a:solidFill>
              <a:schemeClr val="tx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-126365" y="4615180"/>
            <a:ext cx="2105660" cy="4813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sin² 上升 + 指数衰减</a:t>
            </a:r>
            <a:endParaRPr sz="1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降低突变感，改善舒适性</a:t>
            </a:r>
            <a:endParaRPr lang="zh-CN" sz="1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zh-CN" altLang="en-US" sz="1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" name="Freeform 14"/>
          <p:cNvSpPr/>
          <p:nvPr/>
        </p:nvSpPr>
        <p:spPr>
          <a:xfrm>
            <a:off x="2543175" y="3457575"/>
            <a:ext cx="1720215" cy="1014095"/>
          </a:xfrm>
          <a:custGeom>
            <a:avLst/>
            <a:gdLst/>
            <a:ahLst/>
            <a:cxnLst/>
            <a:rect l="l" t="t" r="r" b="b"/>
            <a:pathLst>
              <a:path w="2895600" h="1809750">
                <a:moveTo>
                  <a:pt x="0" y="904875"/>
                </a:moveTo>
                <a:lnTo>
                  <a:pt x="447675" y="904875"/>
                </a:lnTo>
                <a:lnTo>
                  <a:pt x="447675" y="0"/>
                </a:lnTo>
                <a:lnTo>
                  <a:pt x="971550" y="0"/>
                </a:lnTo>
                <a:lnTo>
                  <a:pt x="971550" y="904875"/>
                </a:lnTo>
                <a:lnTo>
                  <a:pt x="1543050" y="904875"/>
                </a:lnTo>
                <a:lnTo>
                  <a:pt x="1543050" y="1809750"/>
                </a:lnTo>
                <a:lnTo>
                  <a:pt x="2066925" y="1809750"/>
                </a:lnTo>
                <a:lnTo>
                  <a:pt x="2066925" y="904875"/>
                </a:lnTo>
                <a:lnTo>
                  <a:pt x="2895600" y="904875"/>
                </a:lnTo>
              </a:path>
            </a:pathLst>
          </a:custGeom>
          <a:noFill/>
          <a:ln w="571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2613660" y="4675505"/>
            <a:ext cx="2242820" cy="4806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1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正负面积相等</a:t>
            </a:r>
            <a:endParaRPr sz="10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sz="1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净电荷≈0，降低电极极化</a:t>
            </a:r>
            <a:endParaRPr lang="zh-CN" sz="10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0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5" name="Freeform 20"/>
          <p:cNvSpPr/>
          <p:nvPr/>
        </p:nvSpPr>
        <p:spPr>
          <a:xfrm>
            <a:off x="5103495" y="3770630"/>
            <a:ext cx="1633220" cy="481330"/>
          </a:xfrm>
          <a:custGeom>
            <a:avLst/>
            <a:gdLst/>
            <a:ahLst/>
            <a:cxnLst/>
            <a:rect l="l" t="t" r="r" b="b"/>
            <a:pathLst>
              <a:path w="2895600" h="742950">
                <a:moveTo>
                  <a:pt x="0" y="742950"/>
                </a:moveTo>
                <a:lnTo>
                  <a:pt x="438150" y="742950"/>
                </a:lnTo>
                <a:lnTo>
                  <a:pt x="438150" y="0"/>
                </a:lnTo>
                <a:lnTo>
                  <a:pt x="2438400" y="0"/>
                </a:lnTo>
                <a:lnTo>
                  <a:pt x="2438400" y="742950"/>
                </a:lnTo>
                <a:lnTo>
                  <a:pt x="2895600" y="742950"/>
                </a:lnTo>
              </a:path>
            </a:pathLst>
          </a:custGeom>
          <a:noFill/>
          <a:ln w="571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5017135" y="4615180"/>
            <a:ext cx="17195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12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稳定幅值平台</a:t>
            </a:r>
            <a:endParaRPr sz="12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sz="12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用于校准与阻抗测量</a:t>
            </a:r>
            <a:endParaRPr lang="zh-CN" altLang="en-US" sz="12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本框 36"/>
              <p:cNvSpPr txBox="1"/>
              <p:nvPr/>
            </p:nvSpPr>
            <p:spPr>
              <a:xfrm>
                <a:off x="-20320" y="6174105"/>
                <a:ext cx="2862580" cy="42354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sz="2250" dirty="0">
                          <a:solidFill>
                            <a:schemeClr val="tx2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𝐴</m:t>
                      </m:r>
                      <m:func>
                        <m:funcPr>
                          <m:ctrlPr>
                            <a:rPr lang="zh-CN" sz="2250" i="1" dirty="0">
                              <a:solidFill>
                                <a:schemeClr val="tx2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sz="2250" dirty="0">
                                  <a:solidFill>
                                    <a:schemeClr val="tx2"/>
                                  </a:solidFill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sz="2250" dirty="0">
                                  <a:solidFill>
                                    <a:schemeClr val="tx2"/>
                                  </a:solidFill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zh-CN" sz="2250" dirty="0">
                                  <a:solidFill>
                                    <a:schemeClr val="tx2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zh-CN" sz="2250" dirty="0">
                                  <a:solidFill>
                                    <a:schemeClr val="tx2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r>
                                <a:rPr lang="zh-CN" sz="2250" dirty="0">
                                  <a:solidFill>
                                    <a:schemeClr val="tx2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𝜋</m:t>
                              </m:r>
                              <m:r>
                                <a:rPr lang="zh-CN" sz="2250" dirty="0">
                                  <a:solidFill>
                                    <a:schemeClr val="tx2"/>
                                  </a:solidFill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  <m:r>
                                <a:rPr lang="zh-CN" sz="2250" dirty="0">
                                  <a:solidFill>
                                    <a:schemeClr val="tx2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zh-CN" sz="2250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sz="2250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zh-CN" sz="2250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2250" dirty="0">
                  <a:solidFill>
                    <a:schemeClr val="tx2"/>
                  </a:solidFill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7" name="文本框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320" y="6174105"/>
                <a:ext cx="2862580" cy="42354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本框 37"/>
              <p:cNvSpPr txBox="1"/>
              <p:nvPr/>
            </p:nvSpPr>
            <p:spPr>
              <a:xfrm>
                <a:off x="2842260" y="6159500"/>
                <a:ext cx="3613785" cy="44069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sz="2250" dirty="0">
                          <a:solidFill>
                            <a:srgbClr val="C00000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𝐴</m:t>
                      </m:r>
                      <m:sSup>
                        <m:sSupPr>
                          <m:ctrlPr>
                            <a:rPr lang="zh-CN" sz="2250" dirty="0">
                              <a:solidFill>
                                <a:srgbClr val="C00000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zh-CN" sz="2250" dirty="0">
                              <a:solidFill>
                                <a:srgbClr val="C00000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𝑒</m:t>
                          </m:r>
                        </m:e>
                        <m:sup>
                          <m:r>
                            <a:rPr lang="zh-CN" sz="2250" dirty="0">
                              <a:solidFill>
                                <a:srgbClr val="C0000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zh-CN" sz="2250" dirty="0">
                              <a:solidFill>
                                <a:srgbClr val="C00000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lang="zh-CN" sz="2250" dirty="0">
                              <a:solidFill>
                                <a:srgbClr val="C0000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/</m:t>
                          </m:r>
                          <m:r>
                            <a:rPr lang="zh-CN" sz="2250" dirty="0">
                              <a:solidFill>
                                <a:srgbClr val="C00000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𝜏</m:t>
                          </m:r>
                        </m:sup>
                      </m:sSup>
                    </m:oMath>
                  </m:oMathPara>
                </a14:m>
                <a:endParaRPr lang="zh-CN" altLang="en-US" sz="2250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38" name="文本框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260" y="6159500"/>
                <a:ext cx="3613785" cy="44069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本框 38"/>
          <p:cNvSpPr txBox="1"/>
          <p:nvPr/>
        </p:nvSpPr>
        <p:spPr>
          <a:xfrm>
            <a:off x="7027545" y="787400"/>
            <a:ext cx="1149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2"/>
                </a:solidFill>
              </a:rPr>
              <a:t>实物展示</a:t>
            </a:r>
            <a:endParaRPr lang="zh-CN" altLang="en-US" b="1">
              <a:solidFill>
                <a:schemeClr val="tx2"/>
              </a:solidFill>
            </a:endParaRPr>
          </a:p>
        </p:txBody>
      </p:sp>
      <p:pic>
        <p:nvPicPr>
          <p:cNvPr id="40" name="图片 39" descr="547d78f9573ed74b57b25c8ca00e206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1585" y="3072765"/>
            <a:ext cx="3576320" cy="1641475"/>
          </a:xfrm>
          <a:prstGeom prst="rect">
            <a:avLst/>
          </a:prstGeom>
        </p:spPr>
      </p:pic>
      <p:pic>
        <p:nvPicPr>
          <p:cNvPr id="41" name="图片 40" descr="3fd880a03f3b08530be56275eb4b291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1585" y="1121410"/>
            <a:ext cx="3538220" cy="1642110"/>
          </a:xfrm>
          <a:prstGeom prst="rect">
            <a:avLst/>
          </a:prstGeom>
        </p:spPr>
      </p:pic>
      <p:pic>
        <p:nvPicPr>
          <p:cNvPr id="42" name="图片 41" descr="bcad52fd5bacad734b8d37065e17aac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1585" y="5075555"/>
            <a:ext cx="3566795" cy="1542415"/>
          </a:xfrm>
          <a:prstGeom prst="rect">
            <a:avLst/>
          </a:prstGeom>
        </p:spPr>
      </p:pic>
      <p:pic>
        <p:nvPicPr>
          <p:cNvPr id="43" name="Image 0" descr="logo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54260" y="21590"/>
            <a:ext cx="2237740" cy="735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635"/>
            <a:ext cx="12192000" cy="756920"/>
          </a:xfrm>
          <a:prstGeom prst="rect">
            <a:avLst/>
          </a:prstGeom>
          <a:solidFill>
            <a:schemeClr val="tx2"/>
          </a:solidFill>
          <a:ln>
            <a:solidFill>
              <a:srgbClr val="0070C0"/>
            </a:solidFill>
          </a:ln>
        </p:spPr>
        <p:txBody>
          <a:bodyPr wrap="square" anchor="ctr" anchorCtr="0">
            <a:noAutofit/>
          </a:bodyPr>
          <a:lstStyle/>
          <a:p>
            <a:pPr algn="ctr"/>
            <a:endParaRPr lang="en-US" altLang="zh-CN" sz="2000" b="1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3" name="图片 32" descr="齿轮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12" y="63869"/>
            <a:ext cx="630538" cy="630538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763144" y="63881"/>
            <a:ext cx="4618110" cy="64516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基础与拓展功能实现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4385"/>
            <a:ext cx="278955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66700"/>
            <a:r>
              <a:rPr lang="en-US" altLang="zh-CN" sz="2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altLang="en-US" sz="2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恒流输出精度标定</a:t>
            </a:r>
            <a:endParaRPr altLang="en-US" sz="2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22045" y="5637530"/>
            <a:ext cx="312039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实测最大相对误差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±0.10%”</a:t>
            </a:r>
            <a:r>
              <a:rPr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altLang="en-US" sz="1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current-accuracy"/>
          <p:cNvGraphicFramePr>
            <a:graphicFrameLocks noGrp="1"/>
          </p:cNvGraphicFramePr>
          <p:nvPr/>
        </p:nvGraphicFramePr>
        <p:xfrm>
          <a:off x="534035" y="1899285"/>
          <a:ext cx="4555490" cy="303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Rectangle 10"/>
          <p:cNvSpPr/>
          <p:nvPr/>
        </p:nvSpPr>
        <p:spPr>
          <a:xfrm>
            <a:off x="50165" y="1376045"/>
            <a:ext cx="5523865" cy="4078605"/>
          </a:xfrm>
          <a:prstGeom prst="roundRect">
            <a:avLst>
              <a:gd name="adj" fmla="val 17500"/>
            </a:avLst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lt2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999730" y="5728335"/>
            <a:ext cx="1798955" cy="1129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135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示波器实测</a:t>
            </a:r>
            <a:endParaRPr sz="135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lang="en-US" sz="135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 Hz</a:t>
            </a:r>
            <a:endParaRPr lang="en-US" sz="135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sz="135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波形周期与设定一致</a:t>
            </a:r>
            <a:endParaRPr sz="135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sz="135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仪器画面完整保留</a:t>
            </a:r>
            <a:endParaRPr lang="zh-CN" sz="135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zh-CN" altLang="en-US" sz="135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4"/>
            </p:custDataLst>
          </p:nvPr>
        </p:nvGraphicFramePr>
        <p:xfrm>
          <a:off x="5688965" y="1180465"/>
          <a:ext cx="6175375" cy="4449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5075"/>
                <a:gridCol w="1235075"/>
                <a:gridCol w="1235075"/>
                <a:gridCol w="1235075"/>
                <a:gridCol w="1235075"/>
              </a:tblGrid>
              <a:tr h="404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档位</a:t>
                      </a:r>
                      <a:endParaRPr lang="zh-CN" altLang="en-US" sz="100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理论电压(</a:t>
                      </a:r>
                      <a:r>
                        <a:rPr lang="en-US" altLang="zh-CN" sz="100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Ix2.2k)</a:t>
                      </a:r>
                      <a:endParaRPr lang="en-US" altLang="zh-CN" sz="100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实测电压（</a:t>
                      </a:r>
                      <a:r>
                        <a:rPr lang="en-US" altLang="zh-CN" sz="100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</a:t>
                      </a:r>
                      <a:r>
                        <a:rPr lang="zh-CN" altLang="en-US" sz="100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00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计算真实电流(</a:t>
                      </a:r>
                      <a:r>
                        <a:rPr lang="en-US" altLang="zh-CN" sz="100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mA)</a:t>
                      </a:r>
                      <a:endParaRPr lang="en-US" altLang="zh-CN" sz="100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实测相对误差</a:t>
                      </a:r>
                      <a:endParaRPr lang="zh-CN" altLang="en-US" sz="100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1.00mA</a:t>
                      </a:r>
                      <a:endParaRPr lang="en-US" altLang="zh-CN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2.200V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2.201V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1.0005mA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+0.045%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2.00mA</a:t>
                      </a:r>
                      <a:endParaRPr lang="en-US" altLang="zh-CN" sz="1200" b="1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4.400V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4.401V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2.0005mA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+0.023%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3.00mA</a:t>
                      </a:r>
                      <a:endParaRPr lang="en-US" altLang="zh-CN" sz="1200" b="1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6.600V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6.601V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3.0005mA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+0.015%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4.00mA</a:t>
                      </a:r>
                      <a:endParaRPr lang="en-US" altLang="zh-CN" sz="1200" b="1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8.800V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8.798V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3.9991mA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-0.023%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5.00mA</a:t>
                      </a:r>
                      <a:endParaRPr lang="en-US" altLang="zh-CN" sz="1200" b="1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11.00V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11.003V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5.0014mA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+0.027%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6.00mA</a:t>
                      </a:r>
                      <a:endParaRPr lang="en-US" altLang="zh-CN" sz="1200" b="1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13.200V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13.200V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6.000mA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0.000%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7.00mA</a:t>
                      </a:r>
                      <a:endParaRPr lang="en-US" altLang="zh-CN" sz="1200" b="1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15.400V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15.405V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7.0023mA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+0.032%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8.00mA</a:t>
                      </a:r>
                      <a:endParaRPr lang="en-US" altLang="zh-CN" sz="1200" b="1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17.600V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17.602V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8.0009mA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+0.011%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9.00mA</a:t>
                      </a:r>
                      <a:endParaRPr lang="en-US" altLang="zh-CN" sz="1200" b="1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19.800V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19.797V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8.9986mA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-0.015%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10.00mA</a:t>
                      </a:r>
                      <a:endParaRPr lang="en-US" altLang="zh-CN" sz="1200" b="1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22.000V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22.002V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10.0009mA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chemeClr val="tx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+0.009%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6237605" y="5874385"/>
            <a:ext cx="10756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i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RL</a:t>
            </a:r>
            <a:r>
              <a:rPr lang="en-US" altLang="zh-CN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=2.2K</a:t>
            </a:r>
            <a:endParaRPr lang="en-US" altLang="zh-CN" sz="12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Image 0" descr="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4260" y="21590"/>
            <a:ext cx="2237740" cy="735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1562100"/>
            <a:ext cx="3193415" cy="2239645"/>
          </a:xfrm>
          <a:prstGeom prst="rect">
            <a:avLst/>
          </a:prstGeom>
        </p:spPr>
      </p:pic>
      <p:sp>
        <p:nvSpPr>
          <p:cNvPr id="36" name="矩形 35"/>
          <p:cNvSpPr/>
          <p:nvPr/>
        </p:nvSpPr>
        <p:spPr>
          <a:xfrm>
            <a:off x="0" y="635"/>
            <a:ext cx="12192000" cy="756920"/>
          </a:xfrm>
          <a:prstGeom prst="rect">
            <a:avLst/>
          </a:prstGeom>
          <a:solidFill>
            <a:schemeClr val="tx2"/>
          </a:solidFill>
          <a:ln>
            <a:solidFill>
              <a:srgbClr val="0070C0"/>
            </a:solidFill>
          </a:ln>
        </p:spPr>
        <p:txBody>
          <a:bodyPr wrap="square" anchor="ctr" anchorCtr="0">
            <a:noAutofit/>
          </a:bodyPr>
          <a:lstStyle/>
          <a:p>
            <a:pPr algn="ctr"/>
            <a:endParaRPr lang="en-US" altLang="zh-CN" sz="2000" b="1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3" name="图片 32" descr="齿轮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12" y="63869"/>
            <a:ext cx="630538" cy="630538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763144" y="63881"/>
            <a:ext cx="4618110" cy="64516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基础与拓展功能实现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57555"/>
            <a:ext cx="320675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66700"/>
            <a:r>
              <a:rPr lang="en-US" altLang="zh-CN" sz="2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altLang="en-US" sz="2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触屏交互与实时显示</a:t>
            </a:r>
            <a:endParaRPr altLang="en-US" sz="2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Imag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75" y="4361815"/>
            <a:ext cx="3193415" cy="19881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95300" y="1676400"/>
            <a:ext cx="3078480" cy="299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sz="135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现场触屏：参数设置 + 阻抗/电流反馈</a:t>
            </a:r>
            <a:endParaRPr lang="zh-CN" altLang="en-US" sz="135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18210" y="5937250"/>
            <a:ext cx="2362200" cy="2984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实时波形：输出形态可见</a:t>
            </a:r>
            <a:endParaRPr lang="zh-CN" altLang="en-US" sz="1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32910" y="2482850"/>
            <a:ext cx="244856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1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参数可追溯</a:t>
            </a:r>
            <a:endParaRPr sz="1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sz="1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状态可回看</a:t>
            </a:r>
            <a:endParaRPr sz="1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sz="1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人机操作不侵入实时控制</a:t>
            </a:r>
            <a:endParaRPr lang="zh-CN" altLang="en-US" sz="1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Rectangle 10"/>
          <p:cNvSpPr/>
          <p:nvPr/>
        </p:nvSpPr>
        <p:spPr>
          <a:xfrm>
            <a:off x="50165" y="1376045"/>
            <a:ext cx="3684905" cy="2611755"/>
          </a:xfrm>
          <a:prstGeom prst="roundRect">
            <a:avLst>
              <a:gd name="adj" fmla="val 17500"/>
            </a:avLst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lt2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10"/>
          <p:cNvSpPr/>
          <p:nvPr/>
        </p:nvSpPr>
        <p:spPr>
          <a:xfrm>
            <a:off x="50165" y="4208145"/>
            <a:ext cx="3684270" cy="2296160"/>
          </a:xfrm>
          <a:prstGeom prst="roundRect">
            <a:avLst>
              <a:gd name="adj" fmla="val 17500"/>
            </a:avLst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lt2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 10"/>
          <p:cNvSpPr/>
          <p:nvPr/>
        </p:nvSpPr>
        <p:spPr>
          <a:xfrm>
            <a:off x="4462780" y="2426970"/>
            <a:ext cx="1862455" cy="757555"/>
          </a:xfrm>
          <a:prstGeom prst="roundRect">
            <a:avLst>
              <a:gd name="adj" fmla="val 17500"/>
            </a:avLst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lt2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784340" y="5812790"/>
            <a:ext cx="465518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altLang="en-US" sz="1400" b="1">
                <a:solidFill>
                  <a:schemeClr val="tx2"/>
                </a:solidFill>
                <a:sym typeface="+mn-ea"/>
              </a:rPr>
              <a:t>输出指数衰减波：时间常数可调，频率可调；</a:t>
            </a:r>
            <a:endParaRPr lang="zh-CN" altLang="en-US" sz="1400" b="1">
              <a:solidFill>
                <a:schemeClr val="tx2"/>
              </a:solidFill>
            </a:endParaRPr>
          </a:p>
          <a:p>
            <a:r>
              <a:rPr altLang="en-US" sz="1400" b="1">
                <a:solidFill>
                  <a:schemeClr val="tx2"/>
                </a:solidFill>
                <a:sym typeface="+mn-ea"/>
              </a:rPr>
              <a:t>触屏操作，显示当前模式、频率、脉宽、电流幅度、波形。</a:t>
            </a:r>
            <a:endParaRPr altLang="en-US" sz="1400" b="1">
              <a:solidFill>
                <a:schemeClr val="tx2"/>
              </a:solidFill>
              <a:sym typeface="+mn-ea"/>
            </a:endParaRPr>
          </a:p>
          <a:p>
            <a:r>
              <a:rPr lang="zh-CN" altLang="en-US" sz="1400" b="1">
                <a:solidFill>
                  <a:srgbClr val="C00000"/>
                </a:solidFill>
                <a:sym typeface="+mn-ea"/>
              </a:rPr>
              <a:t>均实现</a:t>
            </a:r>
            <a:endParaRPr lang="zh-CN" altLang="en-US" sz="1400" b="1">
              <a:solidFill>
                <a:srgbClr val="C00000"/>
              </a:solidFill>
              <a:sym typeface="+mn-ea"/>
            </a:endParaRPr>
          </a:p>
        </p:txBody>
      </p:sp>
      <p:sp>
        <p:nvSpPr>
          <p:cNvPr id="15" name="Rectangle 10"/>
          <p:cNvSpPr/>
          <p:nvPr/>
        </p:nvSpPr>
        <p:spPr>
          <a:xfrm>
            <a:off x="6784340" y="5792470"/>
            <a:ext cx="4655185" cy="757555"/>
          </a:xfrm>
          <a:prstGeom prst="roundRect">
            <a:avLst>
              <a:gd name="adj" fmla="val 17500"/>
            </a:avLst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lt2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9620" y="1156335"/>
            <a:ext cx="4111625" cy="3082290"/>
          </a:xfrm>
          <a:prstGeom prst="rect">
            <a:avLst/>
          </a:prstGeom>
        </p:spPr>
      </p:pic>
      <p:sp>
        <p:nvSpPr>
          <p:cNvPr id="17" name="Rectangle 10"/>
          <p:cNvSpPr/>
          <p:nvPr/>
        </p:nvSpPr>
        <p:spPr>
          <a:xfrm>
            <a:off x="6903085" y="1063625"/>
            <a:ext cx="4536440" cy="3283585"/>
          </a:xfrm>
          <a:prstGeom prst="roundRect">
            <a:avLst>
              <a:gd name="adj" fmla="val 17500"/>
            </a:avLst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lt2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707120" y="4420870"/>
            <a:ext cx="1101725" cy="3219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sz="135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完整原型</a:t>
            </a:r>
            <a:endParaRPr lang="zh-CN" altLang="en-US" sz="135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Line 3"/>
          <p:cNvSpPr/>
          <p:nvPr/>
        </p:nvSpPr>
        <p:spPr>
          <a:xfrm>
            <a:off x="3734222" y="2843212"/>
            <a:ext cx="701496" cy="1"/>
          </a:xfrm>
          <a:prstGeom prst="line">
            <a:avLst/>
          </a:prstGeom>
          <a:noFill/>
          <a:ln w="38100">
            <a:solidFill>
              <a:srgbClr val="C00000"/>
            </a:solidFill>
            <a:tailEnd type="triangle" w="lg" len="lg"/>
          </a:ln>
        </p:spPr>
      </p:sp>
      <p:sp>
        <p:nvSpPr>
          <p:cNvPr id="20" name="Line 3"/>
          <p:cNvSpPr/>
          <p:nvPr/>
        </p:nvSpPr>
        <p:spPr>
          <a:xfrm flipV="1">
            <a:off x="3733800" y="3367405"/>
            <a:ext cx="1631315" cy="1988185"/>
          </a:xfrm>
          <a:prstGeom prst="line">
            <a:avLst/>
          </a:prstGeom>
          <a:noFill/>
          <a:ln w="38100">
            <a:solidFill>
              <a:srgbClr val="C00000"/>
            </a:solidFill>
            <a:tailEnd type="triangle" w="lg" len="lg"/>
          </a:ln>
        </p:spPr>
      </p:sp>
      <p:sp>
        <p:nvSpPr>
          <p:cNvPr id="21" name="Line 3"/>
          <p:cNvSpPr/>
          <p:nvPr/>
        </p:nvSpPr>
        <p:spPr>
          <a:xfrm>
            <a:off x="6325022" y="2805747"/>
            <a:ext cx="701496" cy="1"/>
          </a:xfrm>
          <a:prstGeom prst="line">
            <a:avLst/>
          </a:prstGeom>
          <a:noFill/>
          <a:ln w="38100">
            <a:solidFill>
              <a:srgbClr val="C00000"/>
            </a:solidFill>
            <a:tailEnd type="triangle" w="lg" len="lg"/>
          </a:ln>
        </p:spPr>
      </p:sp>
      <p:pic>
        <p:nvPicPr>
          <p:cNvPr id="6" name="Image 0" descr="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4260" y="21590"/>
            <a:ext cx="2237740" cy="735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0"/>
            <a:ext cx="12192000" cy="756920"/>
          </a:xfrm>
          <a:prstGeom prst="rect">
            <a:avLst/>
          </a:prstGeom>
          <a:solidFill>
            <a:schemeClr val="tx2"/>
          </a:solidFill>
          <a:ln>
            <a:solidFill>
              <a:srgbClr val="0070C0"/>
            </a:solidFill>
          </a:ln>
        </p:spPr>
        <p:txBody>
          <a:bodyPr wrap="square" anchor="ctr" anchorCtr="0">
            <a:noAutofit/>
          </a:bodyPr>
          <a:lstStyle/>
          <a:p>
            <a:pPr algn="ctr"/>
            <a:endParaRPr lang="en-US" altLang="zh-CN" sz="2000" b="1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3" name="图片 32" descr="齿轮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12" y="63869"/>
            <a:ext cx="630538" cy="630538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763144" y="63881"/>
            <a:ext cx="4618110" cy="64516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基础与拓展功能实现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165" y="763905"/>
            <a:ext cx="331152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66700"/>
            <a:r>
              <a:rPr lang="en-US" altLang="zh-CN" sz="2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altLang="en-US" sz="2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带直偏的对称双向方波</a:t>
            </a:r>
            <a:endParaRPr altLang="en-US" sz="2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1455" y="5104448"/>
            <a:ext cx="5080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defTabSz="266700"/>
            <a:r>
              <a:rPr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正负面积相等，净电荷</a:t>
            </a:r>
            <a:r>
              <a:rPr lang="en-US" altLang="zh-CN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≈0</a:t>
            </a:r>
            <a:endParaRPr lang="en-US" altLang="en-US" sz="1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defTabSz="266700"/>
            <a:r>
              <a:rPr altLang="en-US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降低电极极化风险</a:t>
            </a:r>
            <a:endParaRPr altLang="en-US" sz="1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168275" y="1791970"/>
            <a:ext cx="2376805" cy="1809750"/>
          </a:xfrm>
          <a:custGeom>
            <a:avLst/>
            <a:gdLst/>
            <a:ahLst/>
            <a:cxnLst/>
            <a:rect l="l" t="t" r="r" b="b"/>
            <a:pathLst>
              <a:path w="2895600" h="1809750">
                <a:moveTo>
                  <a:pt x="0" y="904875"/>
                </a:moveTo>
                <a:lnTo>
                  <a:pt x="447675" y="904875"/>
                </a:lnTo>
                <a:lnTo>
                  <a:pt x="447675" y="0"/>
                </a:lnTo>
                <a:lnTo>
                  <a:pt x="971550" y="0"/>
                </a:lnTo>
                <a:lnTo>
                  <a:pt x="971550" y="904875"/>
                </a:lnTo>
                <a:lnTo>
                  <a:pt x="1543050" y="904875"/>
                </a:lnTo>
                <a:lnTo>
                  <a:pt x="1543050" y="1809750"/>
                </a:lnTo>
                <a:lnTo>
                  <a:pt x="2066925" y="1809750"/>
                </a:lnTo>
                <a:lnTo>
                  <a:pt x="2066925" y="904875"/>
                </a:lnTo>
                <a:lnTo>
                  <a:pt x="2895600" y="904875"/>
                </a:lnTo>
              </a:path>
            </a:pathLst>
          </a:custGeom>
          <a:noFill/>
          <a:ln w="571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090" y="1791970"/>
            <a:ext cx="2460625" cy="1844675"/>
          </a:xfrm>
          <a:prstGeom prst="rect">
            <a:avLst/>
          </a:prstGeom>
        </p:spPr>
      </p:pic>
      <p:sp>
        <p:nvSpPr>
          <p:cNvPr id="5" name="Rectangle 10"/>
          <p:cNvSpPr/>
          <p:nvPr/>
        </p:nvSpPr>
        <p:spPr>
          <a:xfrm>
            <a:off x="116840" y="1656080"/>
            <a:ext cx="2658110" cy="2095500"/>
          </a:xfrm>
          <a:prstGeom prst="roundRect">
            <a:avLst>
              <a:gd name="adj" fmla="val 17500"/>
            </a:avLst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lt2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Rectangle 10"/>
          <p:cNvSpPr/>
          <p:nvPr/>
        </p:nvSpPr>
        <p:spPr>
          <a:xfrm>
            <a:off x="3161030" y="1656080"/>
            <a:ext cx="2933700" cy="2147570"/>
          </a:xfrm>
          <a:prstGeom prst="roundRect">
            <a:avLst>
              <a:gd name="adj" fmla="val 17500"/>
            </a:avLst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lt2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11"/>
          <p:cNvSpPr txBox="1"/>
          <p:nvPr/>
        </p:nvSpPr>
        <p:spPr>
          <a:xfrm>
            <a:off x="3918204" y="3945890"/>
            <a:ext cx="146748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 Hz 双相/方波实测</a:t>
            </a:r>
            <a:endParaRPr lang="zh-CN" sz="12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30935" y="3945890"/>
            <a:ext cx="970915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>
                <a:solidFill>
                  <a:schemeClr val="tx2"/>
                </a:solidFill>
              </a:rPr>
              <a:t>理论图</a:t>
            </a:r>
            <a:endParaRPr lang="zh-CN" altLang="en-US" b="1">
              <a:solidFill>
                <a:schemeClr val="tx2"/>
              </a:solidFill>
            </a:endParaRPr>
          </a:p>
        </p:txBody>
      </p:sp>
      <p:cxnSp>
        <p:nvCxnSpPr>
          <p:cNvPr id="13" name="Straight Connector 3"/>
          <p:cNvCxnSpPr/>
          <p:nvPr/>
        </p:nvCxnSpPr>
        <p:spPr>
          <a:xfrm>
            <a:off x="6328306" y="788856"/>
            <a:ext cx="0" cy="606933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328410" y="788670"/>
            <a:ext cx="22910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altLang="en-US" sz="2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关键算法</a:t>
            </a:r>
            <a:endParaRPr lang="zh-CN" altLang="en-US" sz="2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" name="Line 3"/>
          <p:cNvSpPr/>
          <p:nvPr/>
        </p:nvSpPr>
        <p:spPr>
          <a:xfrm>
            <a:off x="2659802" y="2697162"/>
            <a:ext cx="701496" cy="1"/>
          </a:xfrm>
          <a:prstGeom prst="line">
            <a:avLst/>
          </a:prstGeom>
          <a:noFill/>
          <a:ln w="38100">
            <a:solidFill>
              <a:srgbClr val="C00000"/>
            </a:solidFill>
            <a:tailEnd type="triangle" w="lg" len="lg"/>
          </a:ln>
        </p:spPr>
      </p:sp>
      <p:pic>
        <p:nvPicPr>
          <p:cNvPr id="9" name="Image 0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4260" y="21590"/>
            <a:ext cx="2237740" cy="73596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410" y="1791970"/>
            <a:ext cx="5826125" cy="4518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0" y="14605"/>
            <a:ext cx="12192000" cy="756920"/>
          </a:xfrm>
          <a:prstGeom prst="rect">
            <a:avLst/>
          </a:prstGeom>
          <a:solidFill>
            <a:schemeClr val="tx2"/>
          </a:solidFill>
          <a:ln>
            <a:solidFill>
              <a:srgbClr val="0070C0"/>
            </a:solidFill>
          </a:ln>
        </p:spPr>
        <p:txBody>
          <a:bodyPr wrap="square" anchor="ctr" anchorCtr="0">
            <a:noAutofit/>
          </a:bodyPr>
          <a:lstStyle/>
          <a:p>
            <a:pPr algn="ctr"/>
            <a:endParaRPr lang="en-US" altLang="zh-CN" sz="2000" b="1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3" name="图片 32" descr="齿轮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12" y="63869"/>
            <a:ext cx="630538" cy="630538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763144" y="63881"/>
            <a:ext cx="4618110" cy="64516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基础与拓展功能实现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71525"/>
            <a:ext cx="289052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66700"/>
            <a:r>
              <a:rPr lang="en-US" altLang="zh-CN" sz="2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altLang="en-US" sz="2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负载自动阻抗检测</a:t>
            </a:r>
            <a:endParaRPr altLang="en-US" sz="2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10"/>
          <p:cNvSpPr/>
          <p:nvPr/>
        </p:nvSpPr>
        <p:spPr>
          <a:xfrm>
            <a:off x="116840" y="1232535"/>
            <a:ext cx="2658110" cy="4112260"/>
          </a:xfrm>
          <a:prstGeom prst="roundRect">
            <a:avLst>
              <a:gd name="adj" fmla="val 17500"/>
            </a:avLst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lt2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98220" y="5579745"/>
            <a:ext cx="895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原理图</a:t>
            </a:r>
            <a:endParaRPr lang="zh-CN" altLang="en-US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28320" y="2148205"/>
            <a:ext cx="234950" cy="865505"/>
          </a:xfrm>
          <a:prstGeom prst="rect">
            <a:avLst/>
          </a:prstGeom>
          <a:noFill/>
          <a:ln w="19050"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b="1"/>
          </a:p>
        </p:txBody>
      </p:sp>
      <p:sp>
        <p:nvSpPr>
          <p:cNvPr id="7" name="矩形 6"/>
          <p:cNvSpPr/>
          <p:nvPr/>
        </p:nvSpPr>
        <p:spPr>
          <a:xfrm flipV="1">
            <a:off x="528320" y="3487420"/>
            <a:ext cx="234950" cy="901065"/>
          </a:xfrm>
          <a:prstGeom prst="rect">
            <a:avLst/>
          </a:prstGeom>
          <a:noFill/>
          <a:ln w="19050"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b="1"/>
          </a:p>
        </p:txBody>
      </p:sp>
      <p:cxnSp>
        <p:nvCxnSpPr>
          <p:cNvPr id="8" name="直接连接符 7"/>
          <p:cNvCxnSpPr>
            <a:stCxn id="6" idx="0"/>
          </p:cNvCxnSpPr>
          <p:nvPr/>
        </p:nvCxnSpPr>
        <p:spPr>
          <a:xfrm flipV="1">
            <a:off x="645795" y="1762760"/>
            <a:ext cx="0" cy="38544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06375" y="1487170"/>
            <a:ext cx="31546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CC-OUT</a:t>
            </a:r>
            <a:r>
              <a:rPr altLang="en-US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（红端子，最大</a:t>
            </a:r>
            <a:r>
              <a:rPr lang="en-US" altLang="zh-CN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54V</a:t>
            </a:r>
            <a:r>
              <a:rPr altLang="en-US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altLang="en-US" sz="12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01700" y="2148205"/>
            <a:ext cx="1263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R1</a:t>
            </a:r>
            <a:r>
              <a:rPr lang="en-US" altLang="zh-CN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=100K</a:t>
            </a:r>
            <a:endParaRPr lang="en-US" altLang="zh-CN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645795" y="3018790"/>
            <a:ext cx="0" cy="46736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352550" y="3615690"/>
            <a:ext cx="17526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b="1" i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R2</a:t>
            </a:r>
            <a:r>
              <a:rPr lang="en-US" altLang="zh-CN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=4.7K</a:t>
            </a:r>
            <a:endParaRPr lang="en-US" altLang="zh-CN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altLang="en-US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（接近</a:t>
            </a:r>
            <a:r>
              <a:rPr lang="en-US" altLang="zh-CN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5k</a:t>
            </a:r>
            <a:r>
              <a:rPr altLang="en-US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即可）</a:t>
            </a:r>
            <a:endParaRPr altLang="en-US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45795" y="4389755"/>
            <a:ext cx="0" cy="64008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548005" y="5029835"/>
            <a:ext cx="17526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GND</a:t>
            </a:r>
            <a:r>
              <a:rPr altLang="en-US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（黑端子，共地）</a:t>
            </a:r>
            <a:endParaRPr altLang="en-US" sz="12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0"/>
          <p:cNvSpPr/>
          <p:nvPr/>
        </p:nvSpPr>
        <p:spPr>
          <a:xfrm>
            <a:off x="3001010" y="1232535"/>
            <a:ext cx="3094355" cy="4112260"/>
          </a:xfrm>
          <a:prstGeom prst="roundRect">
            <a:avLst>
              <a:gd name="adj" fmla="val 17500"/>
            </a:avLst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lt2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8" name="图片 17" descr="40b4fc1ba1f0d70fc1d4cedb7a6fcad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150" y="1769110"/>
            <a:ext cx="2959100" cy="2924175"/>
          </a:xfrm>
          <a:prstGeom prst="rect">
            <a:avLst/>
          </a:prstGeom>
        </p:spPr>
      </p:pic>
      <p:sp>
        <p:nvSpPr>
          <p:cNvPr id="19" name="Line 3"/>
          <p:cNvSpPr/>
          <p:nvPr/>
        </p:nvSpPr>
        <p:spPr>
          <a:xfrm>
            <a:off x="2659802" y="3254057"/>
            <a:ext cx="701496" cy="1"/>
          </a:xfrm>
          <a:prstGeom prst="line">
            <a:avLst/>
          </a:prstGeom>
          <a:noFill/>
          <a:ln w="50800">
            <a:solidFill>
              <a:srgbClr val="C00000"/>
            </a:solidFill>
            <a:tailEnd type="triangle" w="lg" len="lg"/>
          </a:ln>
        </p:spPr>
      </p:sp>
      <p:sp>
        <p:nvSpPr>
          <p:cNvPr id="20" name="文本框 19"/>
          <p:cNvSpPr txBox="1"/>
          <p:nvPr/>
        </p:nvSpPr>
        <p:spPr>
          <a:xfrm>
            <a:off x="3952240" y="5579745"/>
            <a:ext cx="1264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实物展示</a:t>
            </a:r>
            <a:endParaRPr lang="zh-CN" altLang="en-US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Straight Connector 3"/>
          <p:cNvCxnSpPr/>
          <p:nvPr/>
        </p:nvCxnSpPr>
        <p:spPr>
          <a:xfrm>
            <a:off x="6328306" y="788856"/>
            <a:ext cx="0" cy="606933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6328410" y="788670"/>
            <a:ext cx="19411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altLang="en-US" sz="2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关键算法</a:t>
            </a:r>
            <a:endParaRPr lang="zh-CN" altLang="en-US" sz="2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645795" y="3250565"/>
            <a:ext cx="33655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832485" y="3124200"/>
            <a:ext cx="1981835" cy="304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接单片机引脚</a:t>
            </a:r>
            <a:r>
              <a:rPr lang="en-US" altLang="zh-CN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</a:t>
            </a:r>
            <a:r>
              <a:rPr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ADC1_IN0</a:t>
            </a:r>
            <a:r>
              <a:rPr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altLang="en-US" sz="1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Image 0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4260" y="21590"/>
            <a:ext cx="2237740" cy="73596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4450" y="1412240"/>
            <a:ext cx="7324090" cy="471932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2615" y="4514850"/>
            <a:ext cx="1417320" cy="266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635"/>
            <a:ext cx="12192000" cy="756920"/>
          </a:xfrm>
          <a:prstGeom prst="rect">
            <a:avLst/>
          </a:prstGeom>
          <a:solidFill>
            <a:schemeClr val="tx2"/>
          </a:solidFill>
          <a:ln>
            <a:solidFill>
              <a:srgbClr val="0070C0"/>
            </a:solidFill>
          </a:ln>
        </p:spPr>
        <p:txBody>
          <a:bodyPr wrap="square" anchor="ctr" anchorCtr="0">
            <a:noAutofit/>
          </a:bodyPr>
          <a:lstStyle/>
          <a:p>
            <a:pPr algn="ctr"/>
            <a:endParaRPr lang="en-US" altLang="zh-CN" sz="2000" b="1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3" name="图片 32" descr="齿轮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12" y="63869"/>
            <a:ext cx="630538" cy="630538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763144" y="63881"/>
            <a:ext cx="4618110" cy="64516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基础与拓展功能实现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57555"/>
            <a:ext cx="368808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66700"/>
            <a:r>
              <a:rPr lang="en-US" altLang="zh-CN" sz="2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altLang="en-US" sz="2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无线模块与治疗方案管理</a:t>
            </a:r>
            <a:endParaRPr altLang="en-US" sz="2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51915" y="6253480"/>
            <a:ext cx="268859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66700"/>
            <a:r>
              <a:rPr altLang="en-US" sz="16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通信与波形解耦</a:t>
            </a:r>
            <a:endParaRPr altLang="en-US" sz="16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266700"/>
            <a:r>
              <a:rPr altLang="en-US" sz="16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网络中断不影响底层刺激</a:t>
            </a:r>
            <a:endParaRPr altLang="en-US" sz="16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53510" y="5177155"/>
            <a:ext cx="1123950" cy="10502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defTabSz="266700"/>
            <a:r>
              <a:rPr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实现功能：</a:t>
            </a:r>
            <a:endParaRPr altLang="en-US" sz="1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 defTabSz="266700"/>
            <a:r>
              <a:rPr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方案选择</a:t>
            </a:r>
            <a:endParaRPr altLang="en-US" sz="1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 defTabSz="266700"/>
            <a:r>
              <a:rPr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加减电流</a:t>
            </a:r>
            <a:endParaRPr altLang="en-US" sz="1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 defTabSz="266700"/>
            <a:r>
              <a:rPr altLang="en-US"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急停</a:t>
            </a:r>
            <a:endParaRPr altLang="en-US" sz="1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Imag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570" y="1421130"/>
            <a:ext cx="2340610" cy="34061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842385" y="4827270"/>
            <a:ext cx="1123950" cy="326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sz="128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无线终端</a:t>
            </a:r>
            <a:endParaRPr lang="zh-CN" altLang="en-US" sz="128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" name="Rectangle 10"/>
          <p:cNvSpPr/>
          <p:nvPr/>
        </p:nvSpPr>
        <p:spPr>
          <a:xfrm>
            <a:off x="107950" y="1277620"/>
            <a:ext cx="2766695" cy="3778885"/>
          </a:xfrm>
          <a:prstGeom prst="roundRect">
            <a:avLst>
              <a:gd name="adj" fmla="val 17500"/>
            </a:avLst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lt2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10"/>
          <p:cNvSpPr/>
          <p:nvPr/>
        </p:nvSpPr>
        <p:spPr>
          <a:xfrm>
            <a:off x="3077210" y="1277620"/>
            <a:ext cx="2767330" cy="3778250"/>
          </a:xfrm>
          <a:prstGeom prst="roundRect">
            <a:avLst>
              <a:gd name="adj" fmla="val 17500"/>
            </a:avLst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lt2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" name="图片 7" descr="b2166575f5911804fffaf1e49777be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270" y="1510665"/>
            <a:ext cx="2340610" cy="312356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16230" y="4749800"/>
            <a:ext cx="19640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无线模块（采用</a:t>
            </a:r>
            <a:r>
              <a:rPr lang="en-US" altLang="zh-CN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ESP32C3</a:t>
            </a:r>
            <a:r>
              <a:rPr altLang="en-US" sz="12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altLang="en-US" sz="12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72745" y="5220970"/>
            <a:ext cx="1989455" cy="698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连接方式：</a:t>
            </a:r>
            <a:endParaRPr lang="zh-CN" altLang="en-US" sz="1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GND</a:t>
            </a:r>
            <a:r>
              <a:rPr altLang="en-US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RX0</a:t>
            </a:r>
            <a:r>
              <a:rPr altLang="en-US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TX0</a:t>
            </a:r>
            <a:r>
              <a:rPr altLang="en-US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5V</a:t>
            </a:r>
            <a:r>
              <a:rPr altLang="en-US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和单片机对应引脚相连</a:t>
            </a:r>
            <a:endParaRPr altLang="en-US" sz="1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Line 3"/>
          <p:cNvSpPr/>
          <p:nvPr/>
        </p:nvSpPr>
        <p:spPr>
          <a:xfrm>
            <a:off x="2659167" y="3072447"/>
            <a:ext cx="701496" cy="1"/>
          </a:xfrm>
          <a:prstGeom prst="line">
            <a:avLst/>
          </a:prstGeom>
          <a:noFill/>
          <a:ln w="50800">
            <a:solidFill>
              <a:srgbClr val="C00000"/>
            </a:solidFill>
            <a:tailEnd type="triangle" w="lg" len="lg"/>
          </a:ln>
        </p:spPr>
      </p:sp>
      <p:cxnSp>
        <p:nvCxnSpPr>
          <p:cNvPr id="21" name="Straight Connector 3"/>
          <p:cNvCxnSpPr/>
          <p:nvPr/>
        </p:nvCxnSpPr>
        <p:spPr>
          <a:xfrm>
            <a:off x="6095896" y="788856"/>
            <a:ext cx="0" cy="606933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6096000" y="788670"/>
            <a:ext cx="19411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altLang="en-US" sz="2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关键算法</a:t>
            </a:r>
            <a:endParaRPr lang="zh-CN" altLang="en-US" sz="2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1" name="Image 0" descr="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4260" y="21590"/>
            <a:ext cx="2237740" cy="73596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277620"/>
            <a:ext cx="5900420" cy="45573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>
            <p:custDataLst>
              <p:tags r:id="rId1"/>
            </p:custDataLst>
          </p:nvPr>
        </p:nvGrpSpPr>
        <p:grpSpPr>
          <a:xfrm>
            <a:off x="631662" y="581211"/>
            <a:ext cx="8320783" cy="5611185"/>
            <a:chOff x="321552" y="699542"/>
            <a:chExt cx="5552566" cy="3744416"/>
          </a:xfrm>
        </p:grpSpPr>
        <p:sp>
          <p:nvSpPr>
            <p:cNvPr id="23" name="文本框 22"/>
            <p:cNvSpPr txBox="1"/>
            <p:nvPr/>
          </p:nvSpPr>
          <p:spPr>
            <a:xfrm>
              <a:off x="321552" y="834687"/>
              <a:ext cx="1308735" cy="3474085"/>
            </a:xfrm>
            <a:prstGeom prst="rect">
              <a:avLst/>
            </a:prstGeom>
            <a:noFill/>
          </p:spPr>
          <p:txBody>
            <a:bodyPr vert="eaVert" wrap="square" rtlCol="0">
              <a:noAutofit/>
            </a:bodyPr>
            <a:lstStyle/>
            <a:p>
              <a:pPr algn="ctr"/>
              <a:r>
                <a:rPr lang="en-US" altLang="zh-CN" sz="8800" b="1" kern="1900" spc="250" dirty="0">
                  <a:solidFill>
                    <a:srgbClr val="14326C">
                      <a:alpha val="61000"/>
                    </a:srgbClr>
                  </a:solidFill>
                  <a:latin typeface="Impact" panose="020B0806030902050204" pitchFamily="34" charset="0"/>
                  <a:ea typeface="微软雅黑" panose="020B0503020204020204" charset="-122"/>
                </a:rPr>
                <a:t>CONTENT</a:t>
              </a:r>
              <a:endParaRPr lang="en-US" altLang="zh-CN" sz="8800" b="1" kern="1900" spc="250" dirty="0">
                <a:solidFill>
                  <a:srgbClr val="14326C">
                    <a:alpha val="61000"/>
                  </a:srgbClr>
                </a:solidFill>
                <a:latin typeface="Impact" panose="020B0806030902050204" pitchFamily="34" charset="0"/>
                <a:ea typeface="微软雅黑" panose="020B0503020204020204" charset="-122"/>
              </a:endParaRPr>
            </a:p>
          </p:txBody>
        </p:sp>
        <p:cxnSp>
          <p:nvCxnSpPr>
            <p:cNvPr id="24" name="Straight Connector 3"/>
            <p:cNvCxnSpPr/>
            <p:nvPr/>
          </p:nvCxnSpPr>
          <p:spPr>
            <a:xfrm>
              <a:off x="2834392" y="699542"/>
              <a:ext cx="0" cy="3744416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</a:ln>
            <a:effectLst/>
          </p:spPr>
        </p:cxnSp>
        <p:grpSp>
          <p:nvGrpSpPr>
            <p:cNvPr id="25" name="组合 24"/>
            <p:cNvGrpSpPr/>
            <p:nvPr/>
          </p:nvGrpSpPr>
          <p:grpSpPr>
            <a:xfrm>
              <a:off x="3475243" y="958439"/>
              <a:ext cx="2256902" cy="488167"/>
              <a:chOff x="3475243" y="588538"/>
              <a:chExt cx="2256902" cy="488167"/>
            </a:xfrm>
          </p:grpSpPr>
          <p:sp>
            <p:nvSpPr>
              <p:cNvPr id="26" name="文本框 25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4421930" y="637915"/>
                <a:ext cx="1310215" cy="3894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3200" b="1" kern="0" spc="300" dirty="0">
                    <a:solidFill>
                      <a:prstClr val="black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项目简介</a:t>
                </a:r>
                <a:endParaRPr lang="zh-CN" altLang="en-US" sz="3200" b="1" kern="0" spc="3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7" name="矩形 26"/>
              <p:cNvSpPr/>
              <p:nvPr>
                <p:custDataLst>
                  <p:tags r:id="rId3"/>
                </p:custDataLst>
              </p:nvPr>
            </p:nvSpPr>
            <p:spPr>
              <a:xfrm>
                <a:off x="3475243" y="588538"/>
                <a:ext cx="720000" cy="488167"/>
              </a:xfrm>
              <a:prstGeom prst="rect">
                <a:avLst/>
              </a:prstGeom>
              <a:solidFill>
                <a:schemeClr val="tx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01</a:t>
                </a:r>
                <a:endParaRPr kumimoji="0" lang="zh-CN" altLang="en-US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4"/>
              </p:custDataLst>
            </p:nvPr>
          </p:nvSpPr>
          <p:spPr>
            <a:xfrm>
              <a:off x="4421911" y="3172175"/>
              <a:ext cx="206787" cy="3894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矩形 32"/>
            <p:cNvSpPr/>
            <p:nvPr>
              <p:custDataLst>
                <p:tags r:id="rId5"/>
              </p:custDataLst>
            </p:nvPr>
          </p:nvSpPr>
          <p:spPr>
            <a:xfrm>
              <a:off x="3475243" y="1820078"/>
              <a:ext cx="720000" cy="488167"/>
            </a:xfrm>
            <a:prstGeom prst="rect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02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文本框 34"/>
            <p:cNvSpPr txBox="1"/>
            <p:nvPr>
              <p:custDataLst>
                <p:tags r:id="rId6"/>
              </p:custDataLst>
            </p:nvPr>
          </p:nvSpPr>
          <p:spPr>
            <a:xfrm>
              <a:off x="4421833" y="3944579"/>
              <a:ext cx="206787" cy="3894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475243" y="1869875"/>
              <a:ext cx="2398875" cy="1300384"/>
              <a:chOff x="3475243" y="1452639"/>
              <a:chExt cx="2398875" cy="1300384"/>
            </a:xfrm>
          </p:grpSpPr>
          <p:sp>
            <p:nvSpPr>
              <p:cNvPr id="38" name="文本框 37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447355" y="1452639"/>
                <a:ext cx="1426763" cy="3894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200" b="1" i="0" u="none" strike="noStrike" kern="0" cap="none" spc="3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rPr>
                  <a:t>基础与拓展功能实现</a:t>
                </a:r>
                <a:endParaRPr kumimoji="0" lang="zh-CN" altLang="en-US" sz="3200" b="1" i="0" u="none" strike="noStrike" kern="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9" name="矩形 38"/>
              <p:cNvSpPr/>
              <p:nvPr>
                <p:custDataLst>
                  <p:tags r:id="rId8"/>
                </p:custDataLst>
              </p:nvPr>
            </p:nvSpPr>
            <p:spPr>
              <a:xfrm>
                <a:off x="3475243" y="2264856"/>
                <a:ext cx="720000" cy="488167"/>
              </a:xfrm>
              <a:prstGeom prst="rect">
                <a:avLst/>
              </a:prstGeom>
              <a:solidFill>
                <a:schemeClr val="tx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03</a:t>
                </a:r>
                <a:endParaRPr kumimoji="0" lang="zh-CN" altLang="en-US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40" name="标题 1"/>
            <p:cNvSpPr txBox="1"/>
            <p:nvPr/>
          </p:nvSpPr>
          <p:spPr>
            <a:xfrm>
              <a:off x="1630244" y="2074565"/>
              <a:ext cx="723900" cy="857250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8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目</a:t>
              </a:r>
              <a:r>
                <a:rPr lang="en-US" altLang="zh-CN" sz="48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</a:t>
              </a:r>
              <a:r>
                <a:rPr lang="zh-CN" altLang="en-US" sz="48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录</a:t>
              </a:r>
              <a:endParaRPr lang="zh-CN" altLang="en-US" sz="4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>
            <p:custDataLst>
              <p:tags r:id="rId9"/>
            </p:custDataLst>
          </p:nvPr>
        </p:nvSpPr>
        <p:spPr>
          <a:xfrm>
            <a:off x="6776273" y="3626780"/>
            <a:ext cx="41833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软件创新与实验验证</a:t>
            </a:r>
            <a:endParaRPr kumimoji="0" lang="zh-CN" altLang="en-US" sz="3200" b="1" i="0" u="none" strike="noStrike" kern="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右箭头 3"/>
          <p:cNvSpPr/>
          <p:nvPr userDrawn="1"/>
        </p:nvSpPr>
        <p:spPr>
          <a:xfrm>
            <a:off x="4378447" y="3674646"/>
            <a:ext cx="979170" cy="485775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" name="矩形 2"/>
          <p:cNvSpPr/>
          <p:nvPr>
            <p:custDataLst>
              <p:tags r:id="rId10"/>
            </p:custDataLst>
          </p:nvPr>
        </p:nvSpPr>
        <p:spPr>
          <a:xfrm>
            <a:off x="5357617" y="4843746"/>
            <a:ext cx="1078954" cy="731541"/>
          </a:xfrm>
          <a:prstGeom prst="rect">
            <a:avLst/>
          </a:prstGeom>
          <a:solidFill>
            <a:schemeClr val="tx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04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/>
          <p:cNvSpPr txBox="1"/>
          <p:nvPr>
            <p:custDataLst>
              <p:tags r:id="rId11"/>
            </p:custDataLst>
          </p:nvPr>
        </p:nvSpPr>
        <p:spPr>
          <a:xfrm>
            <a:off x="6814373" y="4918370"/>
            <a:ext cx="24053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总结与体会</a:t>
            </a:r>
            <a:endParaRPr kumimoji="0" lang="zh-CN" altLang="en-US" sz="3200" b="1" i="0" u="none" strike="noStrike" kern="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0" y="0"/>
            <a:ext cx="12192000" cy="1293349"/>
            <a:chOff x="0" y="0"/>
            <a:chExt cx="12192000" cy="1293349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762000"/>
            </a:xfrm>
            <a:prstGeom prst="rect">
              <a:avLst/>
            </a:prstGeom>
            <a:solidFill>
              <a:srgbClr val="1F497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93356" y="130175"/>
              <a:ext cx="4407149" cy="6263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03软件创新与实验验证</a:t>
              </a:r>
              <a:endParaRPr lang="zh-CN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51752" y="901700"/>
              <a:ext cx="4411650" cy="3916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2A536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——创新点一：“双节拍”软件架构设计</a:t>
              </a:r>
              <a:endParaRPr lang="zh-CN" sz="2000" b="1" dirty="0">
                <a:solidFill>
                  <a:srgbClr val="2A53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1" name="architecture"/>
          <p:cNvGrpSpPr/>
          <p:nvPr/>
        </p:nvGrpSpPr>
        <p:grpSpPr>
          <a:xfrm>
            <a:off x="171450" y="1390650"/>
            <a:ext cx="8427085" cy="4203700"/>
            <a:chOff x="171450" y="1390650"/>
            <a:chExt cx="8229600" cy="4343400"/>
          </a:xfrm>
        </p:grpSpPr>
        <p:sp>
          <p:nvSpPr>
            <p:cNvPr id="7" name="Rectangle 7"/>
            <p:cNvSpPr/>
            <p:nvPr/>
          </p:nvSpPr>
          <p:spPr>
            <a:xfrm>
              <a:off x="171450" y="1390650"/>
              <a:ext cx="8229600" cy="4343400"/>
            </a:xfrm>
            <a:prstGeom prst="roundRect">
              <a:avLst>
                <a:gd name="adj" fmla="val 1754"/>
              </a:avLst>
            </a:prstGeom>
            <a:noFill/>
            <a:ln w="20955">
              <a:solidFill>
                <a:srgbClr val="1F497D"/>
              </a:solidFill>
              <a:custDash>
                <a:ds d="227273" sp="227273"/>
              </a:custDash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72618" y="1511300"/>
              <a:ext cx="5347716" cy="2617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实时域与业务域分离：关键输出路径不等待串口和界面</a:t>
              </a:r>
              <a:endParaRPr lang="zh-CN" sz="165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381000" y="1838325"/>
              <a:ext cx="7772400" cy="9525"/>
            </a:xfrm>
            <a:custGeom>
              <a:avLst/>
              <a:gdLst/>
              <a:ahLst/>
              <a:cxnLst/>
              <a:rect l="l" t="t" r="r" b="b"/>
              <a:pathLst>
                <a:path w="7772400" h="9525">
                  <a:moveTo>
                    <a:pt x="0" y="0"/>
                  </a:moveTo>
                  <a:lnTo>
                    <a:pt x="7772400" y="0"/>
                  </a:lnTo>
                </a:path>
              </a:pathLst>
            </a:custGeom>
            <a:noFill/>
            <a:ln w="28575">
              <a:solidFill>
                <a:srgbClr val="8FD3E8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381000" y="2038350"/>
              <a:ext cx="1581150" cy="1381125"/>
            </a:xfrm>
            <a:prstGeom prst="roundRect">
              <a:avLst>
                <a:gd name="adj" fmla="val 5517"/>
              </a:avLst>
            </a:prstGeom>
            <a:solidFill>
              <a:srgbClr val="1F497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8390" y="2203450"/>
              <a:ext cx="666369" cy="2860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 kHz</a:t>
              </a:r>
              <a:endParaRPr 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8332" y="2552700"/>
              <a:ext cx="1026486" cy="2506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Timer ISR</a:t>
              </a:r>
              <a:endParaRPr lang="en-US" sz="15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9496" y="2952750"/>
              <a:ext cx="1264158" cy="1902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DEBF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每 1 ms 必须完成</a:t>
              </a:r>
              <a:endParaRPr lang="zh-CN" sz="1200" dirty="0">
                <a:solidFill>
                  <a:srgbClr val="DDEB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1962150" y="2724150"/>
              <a:ext cx="371475" cy="1"/>
            </a:xfrm>
            <a:prstGeom prst="line">
              <a:avLst/>
            </a:prstGeom>
            <a:noFill/>
            <a:ln w="28575">
              <a:solidFill>
                <a:srgbClr val="1F497D"/>
              </a:solidFill>
              <a:tailEnd type="triangle" w="lg" len="lg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400300" y="2114550"/>
              <a:ext cx="1257300" cy="1219200"/>
            </a:xfrm>
            <a:prstGeom prst="roundRect">
              <a:avLst>
                <a:gd name="adj" fmla="val 5469"/>
              </a:avLst>
            </a:prstGeom>
            <a:solidFill>
              <a:srgbClr val="F7FBFD"/>
            </a:solidFill>
            <a:ln w="17145">
              <a:solidFill>
                <a:srgbClr val="1F497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658618" y="2425700"/>
              <a:ext cx="740664" cy="2145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A536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相位累加</a:t>
              </a:r>
              <a:endParaRPr lang="zh-CN" sz="1350" b="1" dirty="0">
                <a:solidFill>
                  <a:srgbClr val="2A53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58618" y="2711450"/>
              <a:ext cx="740664" cy="2145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A536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波形计算</a:t>
              </a:r>
              <a:endParaRPr lang="zh-CN" sz="1350" b="1" dirty="0">
                <a:solidFill>
                  <a:srgbClr val="2A53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848100" y="2114550"/>
              <a:ext cx="1257300" cy="1219200"/>
            </a:xfrm>
            <a:prstGeom prst="roundRect">
              <a:avLst>
                <a:gd name="adj" fmla="val 5469"/>
              </a:avLst>
            </a:prstGeom>
            <a:solidFill>
              <a:srgbClr val="F7FBFD"/>
            </a:solidFill>
            <a:ln w="17145">
              <a:solidFill>
                <a:srgbClr val="1F497D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106418" y="2425700"/>
              <a:ext cx="740664" cy="2145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A536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幅值限幅</a:t>
              </a:r>
              <a:endParaRPr lang="zh-CN" sz="1350" b="1" dirty="0">
                <a:solidFill>
                  <a:srgbClr val="2A53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06418" y="2711450"/>
              <a:ext cx="740664" cy="2145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A536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安全判定</a:t>
              </a:r>
              <a:endParaRPr lang="zh-CN" sz="1350" b="1" dirty="0">
                <a:solidFill>
                  <a:srgbClr val="2A53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295900" y="2114550"/>
              <a:ext cx="1257300" cy="1219200"/>
            </a:xfrm>
            <a:prstGeom prst="roundRect">
              <a:avLst>
                <a:gd name="adj" fmla="val 5469"/>
              </a:avLst>
            </a:prstGeom>
            <a:solidFill>
              <a:srgbClr val="F7FBFD"/>
            </a:solidFill>
            <a:ln w="17145">
              <a:solidFill>
                <a:srgbClr val="1F497D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539370" y="2425700"/>
              <a:ext cx="770359" cy="2145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A536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DAC 更新</a:t>
              </a:r>
              <a:endParaRPr lang="zh-CN" sz="1350" b="1" dirty="0">
                <a:solidFill>
                  <a:srgbClr val="2A53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54218" y="2711450"/>
              <a:ext cx="740664" cy="2145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A536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恒流输出</a:t>
              </a:r>
              <a:endParaRPr lang="zh-CN" sz="1350" b="1" dirty="0">
                <a:solidFill>
                  <a:srgbClr val="2A53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743700" y="2114550"/>
              <a:ext cx="1257300" cy="1219200"/>
            </a:xfrm>
            <a:prstGeom prst="roundRect">
              <a:avLst>
                <a:gd name="adj" fmla="val 5469"/>
              </a:avLst>
            </a:prstGeom>
            <a:solidFill>
              <a:srgbClr val="FFF6F6"/>
            </a:solidFill>
            <a:ln w="17145">
              <a:solidFill>
                <a:srgbClr val="C0000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02018" y="2425700"/>
              <a:ext cx="740664" cy="2145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异常检测</a:t>
              </a:r>
              <a:endParaRPr lang="zh-CN" sz="135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02018" y="2711450"/>
              <a:ext cx="740664" cy="2145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故障锁存</a:t>
              </a:r>
              <a:endParaRPr lang="zh-CN" sz="135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Line 27"/>
            <p:cNvSpPr/>
            <p:nvPr/>
          </p:nvSpPr>
          <p:spPr>
            <a:xfrm>
              <a:off x="3657600" y="2724150"/>
              <a:ext cx="152400" cy="1"/>
            </a:xfrm>
            <a:prstGeom prst="line">
              <a:avLst/>
            </a:prstGeom>
            <a:noFill/>
            <a:ln w="23812">
              <a:solidFill>
                <a:srgbClr val="1F497D"/>
              </a:solidFill>
              <a:tailEnd type="triangle" w="lg" len="lg"/>
            </a:ln>
          </p:spPr>
        </p:sp>
        <p:sp>
          <p:nvSpPr>
            <p:cNvPr id="28" name="Line 28"/>
            <p:cNvSpPr/>
            <p:nvPr/>
          </p:nvSpPr>
          <p:spPr>
            <a:xfrm>
              <a:off x="5105400" y="2724150"/>
              <a:ext cx="152400" cy="1"/>
            </a:xfrm>
            <a:prstGeom prst="line">
              <a:avLst/>
            </a:prstGeom>
            <a:noFill/>
            <a:ln w="23812">
              <a:solidFill>
                <a:srgbClr val="1F497D"/>
              </a:solidFill>
              <a:tailEnd type="triangle" w="lg" len="lg"/>
            </a:ln>
          </p:spPr>
        </p:sp>
        <p:sp>
          <p:nvSpPr>
            <p:cNvPr id="29" name="Line 29"/>
            <p:cNvSpPr/>
            <p:nvPr/>
          </p:nvSpPr>
          <p:spPr>
            <a:xfrm>
              <a:off x="6553200" y="2724150"/>
              <a:ext cx="152400" cy="1"/>
            </a:xfrm>
            <a:prstGeom prst="line">
              <a:avLst/>
            </a:prstGeom>
            <a:noFill/>
            <a:ln w="23812">
              <a:solidFill>
                <a:srgbClr val="1F497D"/>
              </a:solidFill>
              <a:tailEnd type="triangle" w="lg" len="lg"/>
            </a:ln>
          </p:spPr>
        </p:sp>
        <p:sp>
          <p:nvSpPr>
            <p:cNvPr id="30" name="Line 30"/>
            <p:cNvSpPr/>
            <p:nvPr/>
          </p:nvSpPr>
          <p:spPr>
            <a:xfrm>
              <a:off x="381000" y="3638550"/>
              <a:ext cx="7772400" cy="9525"/>
            </a:xfrm>
            <a:custGeom>
              <a:avLst/>
              <a:gdLst/>
              <a:ahLst/>
              <a:cxnLst/>
              <a:rect l="l" t="t" r="r" b="b"/>
              <a:pathLst>
                <a:path w="7772400" h="9525">
                  <a:moveTo>
                    <a:pt x="0" y="0"/>
                  </a:moveTo>
                  <a:lnTo>
                    <a:pt x="7772400" y="0"/>
                  </a:lnTo>
                </a:path>
              </a:pathLst>
            </a:custGeom>
            <a:noFill/>
            <a:ln w="19050">
              <a:solidFill>
                <a:srgbClr val="8FD3E8"/>
              </a:solidFill>
              <a:custDash>
                <a:ds d="100000" sp="250000"/>
              </a:custDash>
            </a:ln>
          </p:spPr>
        </p:sp>
        <p:sp>
          <p:nvSpPr>
            <p:cNvPr id="31" name="Rectangle 31"/>
            <p:cNvSpPr/>
            <p:nvPr/>
          </p:nvSpPr>
          <p:spPr>
            <a:xfrm>
              <a:off x="381000" y="3848100"/>
              <a:ext cx="1581150" cy="1381125"/>
            </a:xfrm>
            <a:prstGeom prst="roundRect">
              <a:avLst>
                <a:gd name="adj" fmla="val 5517"/>
              </a:avLst>
            </a:prstGeom>
            <a:solidFill>
              <a:srgbClr val="2A5364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62506" y="4127500"/>
              <a:ext cx="1218138" cy="2860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Main Loop</a:t>
              </a:r>
              <a:endParaRPr 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9303" y="4514850"/>
              <a:ext cx="1304544" cy="1902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DEBF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按任务优先级轮询</a:t>
              </a:r>
              <a:endParaRPr lang="zh-CN" sz="1200" dirty="0">
                <a:solidFill>
                  <a:srgbClr val="DDEB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0847" y="4800600"/>
              <a:ext cx="981456" cy="1902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DEBF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允许短时延后</a:t>
              </a:r>
              <a:endParaRPr lang="zh-CN" sz="1200" dirty="0">
                <a:solidFill>
                  <a:srgbClr val="DDEB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400300" y="3924300"/>
              <a:ext cx="1257300" cy="1219200"/>
            </a:xfrm>
            <a:prstGeom prst="roundRect">
              <a:avLst>
                <a:gd name="adj" fmla="val 5469"/>
              </a:avLst>
            </a:prstGeom>
            <a:solidFill>
              <a:srgbClr val="F7FBFD"/>
            </a:solidFill>
            <a:ln w="17145">
              <a:solidFill>
                <a:srgbClr val="2A5364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658618" y="4235450"/>
              <a:ext cx="740664" cy="2145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A536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触屏解析</a:t>
              </a:r>
              <a:endParaRPr lang="zh-CN" sz="1350" b="1" dirty="0">
                <a:solidFill>
                  <a:srgbClr val="2A53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658618" y="4521200"/>
              <a:ext cx="740664" cy="2145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A536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页面状态</a:t>
              </a:r>
              <a:endParaRPr lang="zh-CN" sz="1350" b="1" dirty="0">
                <a:solidFill>
                  <a:srgbClr val="2A53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848100" y="3924300"/>
              <a:ext cx="1257300" cy="1219200"/>
            </a:xfrm>
            <a:prstGeom prst="roundRect">
              <a:avLst>
                <a:gd name="adj" fmla="val 5469"/>
              </a:avLst>
            </a:prstGeom>
            <a:solidFill>
              <a:srgbClr val="F7FBFD"/>
            </a:solidFill>
            <a:ln w="17145">
              <a:solidFill>
                <a:srgbClr val="2A536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980677" y="4235450"/>
              <a:ext cx="992147" cy="2145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A536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ESP32 通信</a:t>
              </a:r>
              <a:endParaRPr lang="zh-CN" sz="1350" b="1" dirty="0">
                <a:solidFill>
                  <a:srgbClr val="2A53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15550" y="4521200"/>
              <a:ext cx="922401" cy="2145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A536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短指令收发</a:t>
              </a:r>
              <a:endParaRPr lang="zh-CN" sz="1350" b="1" dirty="0">
                <a:solidFill>
                  <a:srgbClr val="2A53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295900" y="3924300"/>
              <a:ext cx="1257300" cy="1219200"/>
            </a:xfrm>
            <a:prstGeom prst="roundRect">
              <a:avLst>
                <a:gd name="adj" fmla="val 5469"/>
              </a:avLst>
            </a:prstGeom>
            <a:solidFill>
              <a:srgbClr val="F7FBFD"/>
            </a:solidFill>
            <a:ln w="17145">
              <a:solidFill>
                <a:srgbClr val="2A536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554218" y="4235450"/>
              <a:ext cx="740664" cy="2145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A536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阻抗估算</a:t>
              </a:r>
              <a:endParaRPr lang="zh-CN" sz="1350" b="1" dirty="0">
                <a:solidFill>
                  <a:srgbClr val="2A53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554218" y="4521200"/>
              <a:ext cx="740664" cy="2145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A536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参数刷新</a:t>
              </a:r>
              <a:endParaRPr lang="zh-CN" sz="1350" b="1" dirty="0">
                <a:solidFill>
                  <a:srgbClr val="2A53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743700" y="3924300"/>
              <a:ext cx="1257300" cy="1219200"/>
            </a:xfrm>
            <a:prstGeom prst="roundRect">
              <a:avLst>
                <a:gd name="adj" fmla="val 5469"/>
              </a:avLst>
            </a:prstGeom>
            <a:solidFill>
              <a:srgbClr val="F7FBFD"/>
            </a:solidFill>
            <a:ln w="17145">
              <a:solidFill>
                <a:srgbClr val="2A5364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02018" y="4235450"/>
              <a:ext cx="740664" cy="2145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A536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处方管理</a:t>
              </a:r>
              <a:endParaRPr lang="zh-CN" sz="1350" b="1" dirty="0">
                <a:solidFill>
                  <a:srgbClr val="2A53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02018" y="4521200"/>
              <a:ext cx="740664" cy="2145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A536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安全交互</a:t>
              </a:r>
              <a:endParaRPr lang="zh-CN" sz="1350" b="1" dirty="0">
                <a:solidFill>
                  <a:srgbClr val="2A53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7" name="Line 47"/>
            <p:cNvSpPr/>
            <p:nvPr/>
          </p:nvSpPr>
          <p:spPr>
            <a:xfrm>
              <a:off x="1962150" y="4533900"/>
              <a:ext cx="400050" cy="1"/>
            </a:xfrm>
            <a:prstGeom prst="line">
              <a:avLst/>
            </a:prstGeom>
            <a:noFill/>
            <a:ln w="23812">
              <a:solidFill>
                <a:srgbClr val="2A5364"/>
              </a:solidFill>
              <a:tailEnd type="triangle" w="lg" len="lg"/>
            </a:ln>
          </p:spPr>
        </p:sp>
        <p:sp>
          <p:nvSpPr>
            <p:cNvPr id="48" name="Line 48"/>
            <p:cNvSpPr/>
            <p:nvPr/>
          </p:nvSpPr>
          <p:spPr>
            <a:xfrm>
              <a:off x="3657600" y="4533900"/>
              <a:ext cx="152400" cy="1"/>
            </a:xfrm>
            <a:prstGeom prst="line">
              <a:avLst/>
            </a:prstGeom>
            <a:noFill/>
            <a:ln w="23812">
              <a:solidFill>
                <a:srgbClr val="2A5364"/>
              </a:solidFill>
              <a:tailEnd type="triangle" w="lg" len="lg"/>
            </a:ln>
          </p:spPr>
        </p:sp>
        <p:sp>
          <p:nvSpPr>
            <p:cNvPr id="49" name="Line 49"/>
            <p:cNvSpPr/>
            <p:nvPr/>
          </p:nvSpPr>
          <p:spPr>
            <a:xfrm>
              <a:off x="5105400" y="4533900"/>
              <a:ext cx="152400" cy="1"/>
            </a:xfrm>
            <a:prstGeom prst="line">
              <a:avLst/>
            </a:prstGeom>
            <a:noFill/>
            <a:ln w="23812">
              <a:solidFill>
                <a:srgbClr val="2A5364"/>
              </a:solidFill>
              <a:tailEnd type="triangle" w="lg" len="lg"/>
            </a:ln>
          </p:spPr>
        </p:sp>
        <p:sp>
          <p:nvSpPr>
            <p:cNvPr id="50" name="Line 50"/>
            <p:cNvSpPr/>
            <p:nvPr/>
          </p:nvSpPr>
          <p:spPr>
            <a:xfrm>
              <a:off x="6553200" y="4533900"/>
              <a:ext cx="152400" cy="1"/>
            </a:xfrm>
            <a:prstGeom prst="line">
              <a:avLst/>
            </a:prstGeom>
            <a:noFill/>
            <a:ln w="23812">
              <a:solidFill>
                <a:srgbClr val="2A5364"/>
              </a:solidFill>
              <a:tailEnd type="triangle" w="lg" len="lg"/>
            </a:ln>
          </p:spPr>
        </p:sp>
      </p:grpSp>
      <p:grpSp>
        <p:nvGrpSpPr>
          <p:cNvPr id="65" name="engineering-value"/>
          <p:cNvGrpSpPr/>
          <p:nvPr/>
        </p:nvGrpSpPr>
        <p:grpSpPr>
          <a:xfrm>
            <a:off x="8648700" y="1498600"/>
            <a:ext cx="3548477" cy="3806825"/>
            <a:chOff x="8648700" y="1498600"/>
            <a:chExt cx="3548477" cy="3806825"/>
          </a:xfrm>
        </p:grpSpPr>
        <p:sp>
          <p:nvSpPr>
            <p:cNvPr id="52" name="TextBox 52"/>
            <p:cNvSpPr txBox="1"/>
            <p:nvPr/>
          </p:nvSpPr>
          <p:spPr>
            <a:xfrm>
              <a:off x="8696706" y="1498600"/>
              <a:ext cx="4572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优点</a:t>
              </a:r>
              <a:endParaRPr lang="zh-CN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648700" y="1895475"/>
              <a:ext cx="3314700" cy="1028700"/>
            </a:xfrm>
            <a:prstGeom prst="roundRect">
              <a:avLst>
                <a:gd name="adj" fmla="val 6481"/>
              </a:avLst>
            </a:prstGeom>
            <a:noFill/>
            <a:ln w="19050">
              <a:solidFill>
                <a:srgbClr val="1F497D"/>
              </a:solidFill>
              <a:prstDash val="dash"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831961" y="2003425"/>
              <a:ext cx="16336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01 波形时序可证明</a:t>
              </a:r>
              <a:endParaRPr lang="zh-CN" sz="142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832723" y="2305050"/>
              <a:ext cx="336445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 ms 定时触发，周期抖动不受界面刷新影响</a:t>
              </a:r>
              <a:endParaRPr lang="zh-CN" sz="128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832723" y="2552700"/>
              <a:ext cx="319214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关键链路固定：计算 → 限幅 → 输出 → 保护</a:t>
              </a:r>
              <a:endParaRPr lang="zh-CN" sz="128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648700" y="3086100"/>
              <a:ext cx="3314700" cy="1028700"/>
            </a:xfrm>
            <a:prstGeom prst="roundRect">
              <a:avLst>
                <a:gd name="adj" fmla="val 6481"/>
              </a:avLst>
            </a:prstGeom>
            <a:noFill/>
            <a:ln w="19050">
              <a:solidFill>
                <a:srgbClr val="1F497D"/>
              </a:solidFill>
              <a:prstDash val="dash"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831961" y="3194050"/>
              <a:ext cx="16336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02 中断路径足够短</a:t>
              </a:r>
              <a:endParaRPr lang="zh-CN" sz="142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832723" y="3495675"/>
              <a:ext cx="328691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通信、绘图、处方等耗时任务全部移出中断</a:t>
              </a:r>
              <a:endParaRPr lang="zh-CN" sz="128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832723" y="3743325"/>
              <a:ext cx="242534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避免串口等待导致输出更新丢拍</a:t>
              </a:r>
              <a:endParaRPr lang="zh-CN" sz="128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648700" y="4276725"/>
              <a:ext cx="3314700" cy="1028700"/>
            </a:xfrm>
            <a:prstGeom prst="roundRect">
              <a:avLst>
                <a:gd name="adj" fmla="val 6481"/>
              </a:avLst>
            </a:prstGeom>
            <a:noFill/>
            <a:ln w="19050">
              <a:solidFill>
                <a:srgbClr val="1F497D"/>
              </a:solidFill>
              <a:prstDash val="dash"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831961" y="4384675"/>
              <a:ext cx="16336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03 故障处理有边界</a:t>
              </a:r>
              <a:endParaRPr lang="zh-CN" sz="142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832723" y="4686300"/>
              <a:ext cx="328691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实时域先锁存、关断；业务域再提示与记录</a:t>
              </a:r>
              <a:endParaRPr lang="zh-CN" sz="128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832723" y="4933950"/>
              <a:ext cx="276997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安全动作不依赖屏幕或网络是否在线</a:t>
              </a:r>
              <a:endParaRPr lang="zh-CN" sz="128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0" name="conclusion"/>
          <p:cNvGrpSpPr/>
          <p:nvPr/>
        </p:nvGrpSpPr>
        <p:grpSpPr>
          <a:xfrm>
            <a:off x="171450" y="5934075"/>
            <a:ext cx="11791950" cy="685800"/>
            <a:chOff x="171450" y="5934075"/>
            <a:chExt cx="11791950" cy="685800"/>
          </a:xfrm>
        </p:grpSpPr>
        <p:sp>
          <p:nvSpPr>
            <p:cNvPr id="66" name="Rectangle 66"/>
            <p:cNvSpPr/>
            <p:nvPr/>
          </p:nvSpPr>
          <p:spPr>
            <a:xfrm>
              <a:off x="171450" y="5934075"/>
              <a:ext cx="11791950" cy="685800"/>
            </a:xfrm>
            <a:prstGeom prst="roundRect">
              <a:avLst>
                <a:gd name="adj" fmla="val 8333"/>
              </a:avLst>
            </a:prstGeom>
            <a:solidFill>
              <a:srgbClr val="F7FBFD"/>
            </a:solidFill>
            <a:ln w="19050">
              <a:solidFill>
                <a:srgbClr val="8FD3E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11099" y="6038850"/>
              <a:ext cx="10795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工程结论：</a:t>
              </a:r>
              <a:endParaRPr lang="zh-CN" sz="158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601724" y="6038850"/>
              <a:ext cx="5333492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2A536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硬实时中断守住波形时序，主循环处理通信、界面和安全</a:t>
              </a:r>
              <a:endParaRPr lang="zh-CN" sz="1580" b="1" dirty="0">
                <a:solidFill>
                  <a:srgbClr val="2A53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12242" y="6321425"/>
              <a:ext cx="58656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把“必须准时”与“可以稍后”彻底分开，使实时输出不再被低速外设牵制。</a:t>
              </a:r>
              <a:endParaRPr lang="zh-CN" sz="135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71" name="图片 70" descr="灯泡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30" y="45085"/>
            <a:ext cx="626745" cy="626745"/>
          </a:xfrm>
          <a:prstGeom prst="rect">
            <a:avLst/>
          </a:prstGeom>
        </p:spPr>
      </p:pic>
      <p:pic>
        <p:nvPicPr>
          <p:cNvPr id="3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4260" y="21590"/>
            <a:ext cx="2237740" cy="735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0" y="0"/>
            <a:ext cx="12192000" cy="1293349"/>
            <a:chOff x="0" y="0"/>
            <a:chExt cx="12192000" cy="1293349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762000"/>
            </a:xfrm>
            <a:prstGeom prst="rect">
              <a:avLst/>
            </a:prstGeom>
            <a:solidFill>
              <a:srgbClr val="1F497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93356" y="130175"/>
              <a:ext cx="4407149" cy="6263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03软件创新与实验验证</a:t>
              </a:r>
              <a:endParaRPr lang="zh-CN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51752" y="901700"/>
              <a:ext cx="3023718" cy="3916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2A536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——示波器波形与双端验证</a:t>
              </a:r>
              <a:endParaRPr lang="zh-CN" sz="2000" b="1" dirty="0">
                <a:solidFill>
                  <a:srgbClr val="2A53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5" name="photos"/>
          <p:cNvGrpSpPr/>
          <p:nvPr/>
        </p:nvGrpSpPr>
        <p:grpSpPr>
          <a:xfrm>
            <a:off x="190500" y="1409700"/>
            <a:ext cx="11772900" cy="3333750"/>
            <a:chOff x="190500" y="1409700"/>
            <a:chExt cx="11772900" cy="3333750"/>
          </a:xfrm>
        </p:grpSpPr>
        <p:sp>
          <p:nvSpPr>
            <p:cNvPr id="7" name="Rectangle 7"/>
            <p:cNvSpPr/>
            <p:nvPr/>
          </p:nvSpPr>
          <p:spPr>
            <a:xfrm>
              <a:off x="190500" y="1409700"/>
              <a:ext cx="5753100" cy="3333750"/>
            </a:xfrm>
            <a:prstGeom prst="roundRect">
              <a:avLst>
                <a:gd name="adj" fmla="val 2286"/>
              </a:avLst>
            </a:prstGeom>
            <a:noFill/>
            <a:ln w="20955">
              <a:solidFill>
                <a:srgbClr val="1F497D"/>
              </a:solidFill>
              <a:custDash>
                <a:ds d="227273" sp="227273"/>
              </a:custDash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72999" y="1514475"/>
              <a:ext cx="23556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仪器端：示波器实测波形</a:t>
              </a:r>
              <a:endParaRPr lang="zh-CN" sz="158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381000" y="1847850"/>
              <a:ext cx="5372100" cy="2647950"/>
            </a:xfrm>
            <a:prstGeom prst="rect">
              <a:avLst/>
            </a:prstGeom>
            <a:solidFill>
              <a:srgbClr val="E9EEF2"/>
            </a:solidFill>
            <a:ln w="14288">
              <a:solidFill>
                <a:srgbClr val="1F497D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248400" y="1409700"/>
              <a:ext cx="5715000" cy="3333750"/>
            </a:xfrm>
            <a:prstGeom prst="roundRect">
              <a:avLst>
                <a:gd name="adj" fmla="val 2286"/>
              </a:avLst>
            </a:prstGeom>
            <a:noFill/>
            <a:ln w="20955">
              <a:solidFill>
                <a:srgbClr val="1F497D"/>
              </a:solidFill>
              <a:custDash>
                <a:ds d="227273" sp="227273"/>
              </a:custDash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30899" y="1514475"/>
              <a:ext cx="23556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交互端：串口屏实时曲线</a:t>
              </a:r>
              <a:endParaRPr lang="zh-CN" sz="158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438900" y="1847850"/>
              <a:ext cx="5334000" cy="2647950"/>
            </a:xfrm>
            <a:prstGeom prst="rect">
              <a:avLst/>
            </a:prstGeom>
            <a:solidFill>
              <a:srgbClr val="E9EEF2"/>
            </a:solidFill>
            <a:ln w="14288">
              <a:solidFill>
                <a:srgbClr val="1F497D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1"/>
            <a:srcRect t="17378" b="17379"/>
            <a:stretch>
              <a:fillRect/>
            </a:stretch>
          </p:blipFill>
          <p:spPr>
            <a:xfrm>
              <a:off x="6477000" y="1885950"/>
              <a:ext cx="5257800" cy="2571750"/>
            </a:xfrm>
            <a:prstGeom prst="rect">
              <a:avLst/>
            </a:prstGeom>
          </p:spPr>
        </p:pic>
      </p:grpSp>
      <p:grpSp>
        <p:nvGrpSpPr>
          <p:cNvPr id="33" name="verification"/>
          <p:cNvGrpSpPr/>
          <p:nvPr/>
        </p:nvGrpSpPr>
        <p:grpSpPr>
          <a:xfrm>
            <a:off x="190500" y="4905375"/>
            <a:ext cx="11772900" cy="1114425"/>
            <a:chOff x="190500" y="4905375"/>
            <a:chExt cx="11772900" cy="1114425"/>
          </a:xfrm>
        </p:grpSpPr>
        <p:sp>
          <p:nvSpPr>
            <p:cNvPr id="16" name="Rectangle 16"/>
            <p:cNvSpPr/>
            <p:nvPr/>
          </p:nvSpPr>
          <p:spPr>
            <a:xfrm>
              <a:off x="190500" y="4905375"/>
              <a:ext cx="11772900" cy="1114425"/>
            </a:xfrm>
            <a:prstGeom prst="roundRect">
              <a:avLst>
                <a:gd name="adj" fmla="val 5983"/>
              </a:avLst>
            </a:prstGeom>
            <a:noFill/>
            <a:ln w="19050">
              <a:solidFill>
                <a:srgbClr val="1F497D"/>
              </a:solidFill>
              <a:prstDash val="dash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72999" y="5010150"/>
              <a:ext cx="15048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三层一致性判据</a:t>
              </a:r>
              <a:endParaRPr lang="zh-CN" sz="158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066925" y="5095875"/>
              <a:ext cx="2171700" cy="714375"/>
            </a:xfrm>
            <a:prstGeom prst="roundRect">
              <a:avLst>
                <a:gd name="adj" fmla="val 8000"/>
              </a:avLst>
            </a:prstGeom>
            <a:solidFill>
              <a:srgbClr val="F7FBFD"/>
            </a:solidFill>
            <a:ln w="14288">
              <a:solidFill>
                <a:srgbClr val="8FD3E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701343" y="5187950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① 算法曲线</a:t>
              </a:r>
              <a:endParaRPr lang="zh-CN" sz="135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09914" y="5480050"/>
              <a:ext cx="1885721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60" dirty="0">
                  <a:solidFill>
                    <a:srgbClr val="44444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频率、幅值、波形参数正确</a:t>
              </a:r>
              <a:endParaRPr lang="zh-CN" sz="1160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429125" y="5095875"/>
              <a:ext cx="2171700" cy="714375"/>
            </a:xfrm>
            <a:prstGeom prst="roundRect">
              <a:avLst>
                <a:gd name="adj" fmla="val 8000"/>
              </a:avLst>
            </a:prstGeom>
            <a:solidFill>
              <a:srgbClr val="F7FBFD"/>
            </a:solidFill>
            <a:ln w="14288">
              <a:solidFill>
                <a:srgbClr val="8FD3E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063543" y="5187950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② 界面曲线</a:t>
              </a:r>
              <a:endParaRPr lang="zh-CN" sz="135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50194" y="5480050"/>
              <a:ext cx="1729562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60" dirty="0">
                  <a:solidFill>
                    <a:srgbClr val="44444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显示趋势与算法输出同步</a:t>
              </a:r>
              <a:endParaRPr lang="zh-CN" sz="1160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791325" y="5095875"/>
              <a:ext cx="2171700" cy="714375"/>
            </a:xfrm>
            <a:prstGeom prst="roundRect">
              <a:avLst>
                <a:gd name="adj" fmla="val 8000"/>
              </a:avLst>
            </a:prstGeom>
            <a:solidFill>
              <a:srgbClr val="F7FBFD"/>
            </a:solidFill>
            <a:ln w="14288">
              <a:solidFill>
                <a:srgbClr val="8FD3E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425743" y="5187950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③ 仪器曲线</a:t>
              </a:r>
              <a:endParaRPr lang="zh-CN" sz="135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34314" y="5480050"/>
              <a:ext cx="1885721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60" dirty="0">
                  <a:solidFill>
                    <a:srgbClr val="44444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周期、形态与实际端口一致</a:t>
              </a:r>
              <a:endParaRPr lang="zh-CN" sz="1160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53525" y="5095875"/>
              <a:ext cx="2619375" cy="714375"/>
            </a:xfrm>
            <a:prstGeom prst="roundRect">
              <a:avLst>
                <a:gd name="adj" fmla="val 8000"/>
              </a:avLst>
            </a:prstGeom>
            <a:solidFill>
              <a:srgbClr val="FFF6F6"/>
            </a:solidFill>
            <a:ln w="17145">
              <a:solidFill>
                <a:srgbClr val="C0000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906381" y="51879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双端交叉验证</a:t>
              </a:r>
              <a:endParaRPr lang="zh-CN" sz="135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15589" y="5480050"/>
              <a:ext cx="1885721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60" dirty="0">
                  <a:solidFill>
                    <a:srgbClr val="44444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避免只相信代码或屏幕显示</a:t>
              </a:r>
              <a:endParaRPr lang="zh-CN" sz="1160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Line 30"/>
            <p:cNvSpPr/>
            <p:nvPr/>
          </p:nvSpPr>
          <p:spPr>
            <a:xfrm>
              <a:off x="4238625" y="54483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1F497D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6600825" y="54483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1F497D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8963025" y="54483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C00000"/>
              </a:solidFill>
            </a:ln>
          </p:spPr>
        </p:sp>
      </p:grpSp>
      <p:grpSp>
        <p:nvGrpSpPr>
          <p:cNvPr id="37" name="conclusion"/>
          <p:cNvGrpSpPr/>
          <p:nvPr/>
        </p:nvGrpSpPr>
        <p:grpSpPr>
          <a:xfrm>
            <a:off x="190500" y="6200775"/>
            <a:ext cx="11772900" cy="428625"/>
            <a:chOff x="190500" y="6200775"/>
            <a:chExt cx="11772900" cy="428625"/>
          </a:xfrm>
        </p:grpSpPr>
        <p:sp>
          <p:nvSpPr>
            <p:cNvPr id="34" name="Rectangle 34"/>
            <p:cNvSpPr/>
            <p:nvPr/>
          </p:nvSpPr>
          <p:spPr>
            <a:xfrm>
              <a:off x="190500" y="6200775"/>
              <a:ext cx="11772900" cy="428625"/>
            </a:xfrm>
            <a:prstGeom prst="roundRect">
              <a:avLst>
                <a:gd name="adj" fmla="val 13333"/>
              </a:avLst>
            </a:prstGeom>
            <a:solidFill>
              <a:srgbClr val="F7FBFD"/>
            </a:solidFill>
            <a:ln w="19050">
              <a:solidFill>
                <a:srgbClr val="8FD3E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92049" y="6296025"/>
              <a:ext cx="10795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验证结论：</a:t>
              </a:r>
              <a:endParaRPr lang="zh-CN" sz="158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506474" y="6296025"/>
              <a:ext cx="405729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2A536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算法曲线、界面曲线、仪器曲线三层一致性</a:t>
              </a:r>
              <a:endParaRPr lang="zh-CN" sz="1580" b="1" dirty="0">
                <a:solidFill>
                  <a:srgbClr val="2A53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71" name="图片 70" descr="灯泡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30" y="45085"/>
            <a:ext cx="626745" cy="626745"/>
          </a:xfrm>
          <a:prstGeom prst="rect">
            <a:avLst/>
          </a:prstGeom>
        </p:spPr>
      </p:pic>
      <p:pic>
        <p:nvPicPr>
          <p:cNvPr id="3" name="图片 2" descr="3fd880a03f3b08530be56275eb4b291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795" y="1885950"/>
            <a:ext cx="5361305" cy="2604135"/>
          </a:xfrm>
          <a:prstGeom prst="rect">
            <a:avLst/>
          </a:prstGeom>
        </p:spPr>
      </p:pic>
      <p:pic>
        <p:nvPicPr>
          <p:cNvPr id="10" name="Image 0" descr="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4260" y="21590"/>
            <a:ext cx="2237740" cy="735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0" y="0"/>
            <a:ext cx="12192000" cy="1293349"/>
            <a:chOff x="0" y="0"/>
            <a:chExt cx="12192000" cy="1293349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762000"/>
            </a:xfrm>
            <a:prstGeom prst="rect">
              <a:avLst/>
            </a:prstGeom>
            <a:solidFill>
              <a:srgbClr val="1F497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93356" y="130175"/>
              <a:ext cx="4407149" cy="6263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03软件创新与实验验证</a:t>
              </a:r>
              <a:endParaRPr lang="zh-CN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51752" y="901700"/>
              <a:ext cx="4639158" cy="3916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2A536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——创新点二：系统标定与误差补偿策略</a:t>
              </a:r>
              <a:endParaRPr lang="zh-CN" sz="2000" b="1" dirty="0">
                <a:solidFill>
                  <a:srgbClr val="2A53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8" name="flow"/>
          <p:cNvGrpSpPr/>
          <p:nvPr/>
        </p:nvGrpSpPr>
        <p:grpSpPr>
          <a:xfrm>
            <a:off x="209550" y="1387475"/>
            <a:ext cx="11753850" cy="1984375"/>
            <a:chOff x="209550" y="1387475"/>
            <a:chExt cx="11753850" cy="1984375"/>
          </a:xfrm>
        </p:grpSpPr>
        <p:sp>
          <p:nvSpPr>
            <p:cNvPr id="7" name="TextBox 7"/>
            <p:cNvSpPr txBox="1"/>
            <p:nvPr/>
          </p:nvSpPr>
          <p:spPr>
            <a:xfrm>
              <a:off x="239268" y="13874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软件补偿主链路</a:t>
              </a:r>
              <a:endParaRPr lang="zh-CN" sz="165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209550" y="1752600"/>
              <a:ext cx="11753850" cy="1619250"/>
            </a:xfrm>
            <a:prstGeom prst="roundRect">
              <a:avLst>
                <a:gd name="adj" fmla="val 4706"/>
              </a:avLst>
            </a:prstGeom>
            <a:noFill/>
            <a:ln w="20955">
              <a:solidFill>
                <a:srgbClr val="1F497D"/>
              </a:solidFill>
              <a:custDash>
                <a:ds d="227273" sp="227273"/>
              </a:custDash>
            </a:ln>
          </p:spPr>
        </p:sp>
        <p:sp>
          <p:nvSpPr>
            <p:cNvPr id="9" name="Rectangle 9"/>
            <p:cNvSpPr/>
            <p:nvPr/>
          </p:nvSpPr>
          <p:spPr>
            <a:xfrm>
              <a:off x="428625" y="2076450"/>
              <a:ext cx="1676400" cy="914400"/>
            </a:xfrm>
            <a:prstGeom prst="roundRect">
              <a:avLst>
                <a:gd name="adj" fmla="val 8333"/>
              </a:avLst>
            </a:prstGeom>
            <a:solidFill>
              <a:srgbClr val="1F497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739" y="2257425"/>
              <a:ext cx="1138173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目标电流 I*</a:t>
              </a:r>
              <a:endParaRPr lang="zh-CN" sz="158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1665" y="257175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DEBF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界面设定 / 处方参数</a:t>
              </a:r>
              <a:endParaRPr lang="zh-CN" sz="1200" dirty="0">
                <a:solidFill>
                  <a:srgbClr val="DDEB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581275" y="2076450"/>
              <a:ext cx="1676400" cy="914400"/>
            </a:xfrm>
            <a:prstGeom prst="roundRect">
              <a:avLst>
                <a:gd name="adj" fmla="val 8333"/>
              </a:avLst>
            </a:prstGeom>
            <a:solidFill>
              <a:srgbClr val="F7FBFD"/>
            </a:solidFill>
            <a:ln w="19050">
              <a:solidFill>
                <a:srgbClr val="1F497D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188970" y="2244725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查表</a:t>
              </a:r>
              <a:endParaRPr lang="zh-CN" sz="165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47975" y="257175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定位相邻标定点</a:t>
              </a:r>
              <a:endParaRPr lang="zh-CN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733925" y="2076450"/>
              <a:ext cx="2152650" cy="914400"/>
            </a:xfrm>
            <a:prstGeom prst="roundRect">
              <a:avLst>
                <a:gd name="adj" fmla="val 8333"/>
              </a:avLst>
            </a:prstGeom>
            <a:solidFill>
              <a:srgbClr val="F7FBFD"/>
            </a:solidFill>
            <a:ln w="19050">
              <a:solidFill>
                <a:srgbClr val="1F497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57622" y="21875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线性插值</a:t>
              </a:r>
              <a:endParaRPr lang="zh-CN" sz="165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96434" y="254317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计算补偿后的数字码值</a:t>
              </a:r>
              <a:endParaRPr lang="zh-CN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362825" y="2076450"/>
              <a:ext cx="1676400" cy="914400"/>
            </a:xfrm>
            <a:prstGeom prst="roundRect">
              <a:avLst>
                <a:gd name="adj" fmla="val 8333"/>
              </a:avLst>
            </a:prstGeom>
            <a:solidFill>
              <a:srgbClr val="F7FBFD"/>
            </a:solidFill>
            <a:ln w="19050">
              <a:solidFill>
                <a:srgbClr val="1F497D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30250" y="2244725"/>
              <a:ext cx="9415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DAC 输出</a:t>
              </a:r>
              <a:endParaRPr lang="zh-CN" sz="165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72324" y="2571750"/>
              <a:ext cx="14574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SPI 写入 / 定时更新</a:t>
              </a:r>
              <a:endParaRPr lang="zh-CN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515475" y="2076450"/>
              <a:ext cx="2190750" cy="914400"/>
            </a:xfrm>
            <a:prstGeom prst="roundRect">
              <a:avLst>
                <a:gd name="adj" fmla="val 8333"/>
              </a:avLst>
            </a:prstGeom>
            <a:solidFill>
              <a:srgbClr val="FFF6F6"/>
            </a:solidFill>
            <a:ln w="19050">
              <a:solidFill>
                <a:srgbClr val="C0000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58222" y="21875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恒流输出</a:t>
              </a:r>
              <a:endParaRPr lang="zh-CN" sz="165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797034" y="254317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模拟链路完成电流变换</a:t>
              </a:r>
              <a:endParaRPr lang="zh-CN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Line 24"/>
            <p:cNvSpPr/>
            <p:nvPr/>
          </p:nvSpPr>
          <p:spPr>
            <a:xfrm>
              <a:off x="2105025" y="2533650"/>
              <a:ext cx="438150" cy="1"/>
            </a:xfrm>
            <a:prstGeom prst="line">
              <a:avLst/>
            </a:prstGeom>
            <a:noFill/>
            <a:ln w="28575">
              <a:solidFill>
                <a:srgbClr val="1F497D"/>
              </a:solidFill>
              <a:tailEnd type="triangle" w="lg" len="lg"/>
            </a:ln>
          </p:spPr>
        </p:sp>
        <p:sp>
          <p:nvSpPr>
            <p:cNvPr id="25" name="Line 25"/>
            <p:cNvSpPr/>
            <p:nvPr/>
          </p:nvSpPr>
          <p:spPr>
            <a:xfrm>
              <a:off x="4257675" y="2533650"/>
              <a:ext cx="438150" cy="1"/>
            </a:xfrm>
            <a:prstGeom prst="line">
              <a:avLst/>
            </a:prstGeom>
            <a:noFill/>
            <a:ln w="28575">
              <a:solidFill>
                <a:srgbClr val="1F497D"/>
              </a:solidFill>
              <a:tailEnd type="triangle" w="lg" len="lg"/>
            </a:ln>
          </p:spPr>
        </p:sp>
        <p:sp>
          <p:nvSpPr>
            <p:cNvPr id="26" name="Line 26"/>
            <p:cNvSpPr/>
            <p:nvPr/>
          </p:nvSpPr>
          <p:spPr>
            <a:xfrm>
              <a:off x="6886575" y="2533650"/>
              <a:ext cx="438150" cy="1"/>
            </a:xfrm>
            <a:prstGeom prst="line">
              <a:avLst/>
            </a:prstGeom>
            <a:noFill/>
            <a:ln w="28575">
              <a:solidFill>
                <a:srgbClr val="1F497D"/>
              </a:solidFill>
              <a:tailEnd type="triangle" w="lg" len="lg"/>
            </a:ln>
          </p:spPr>
        </p:sp>
        <p:sp>
          <p:nvSpPr>
            <p:cNvPr id="27" name="Line 27"/>
            <p:cNvSpPr/>
            <p:nvPr/>
          </p:nvSpPr>
          <p:spPr>
            <a:xfrm>
              <a:off x="9039225" y="2533650"/>
              <a:ext cx="438150" cy="1"/>
            </a:xfrm>
            <a:prstGeom prst="line">
              <a:avLst/>
            </a:prstGeom>
            <a:noFill/>
            <a:ln w="28575">
              <a:solidFill>
                <a:srgbClr val="1F497D"/>
              </a:solidFill>
              <a:tailEnd type="triangle" w="lg" len="lg"/>
            </a:ln>
          </p:spPr>
        </p:sp>
      </p:grpSp>
      <p:grpSp>
        <p:nvGrpSpPr>
          <p:cNvPr id="59" name="data"/>
          <p:cNvGrpSpPr/>
          <p:nvPr/>
        </p:nvGrpSpPr>
        <p:grpSpPr>
          <a:xfrm>
            <a:off x="209550" y="3600450"/>
            <a:ext cx="7076720" cy="2257425"/>
            <a:chOff x="209550" y="3600450"/>
            <a:chExt cx="7076720" cy="2257425"/>
          </a:xfrm>
        </p:grpSpPr>
        <p:sp>
          <p:nvSpPr>
            <p:cNvPr id="29" name="Rectangle 29"/>
            <p:cNvSpPr/>
            <p:nvPr/>
          </p:nvSpPr>
          <p:spPr>
            <a:xfrm>
              <a:off x="209550" y="3600450"/>
              <a:ext cx="7052945" cy="2257425"/>
            </a:xfrm>
            <a:prstGeom prst="roundRect">
              <a:avLst>
                <a:gd name="adj" fmla="val 3376"/>
              </a:avLst>
            </a:prstGeom>
            <a:noFill/>
            <a:ln w="19050">
              <a:solidFill>
                <a:srgbClr val="1F497D"/>
              </a:solidFill>
              <a:prstDash val="dash"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92049" y="3714750"/>
              <a:ext cx="343454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0–10 mA 标定表（实测输出 / mA）</a:t>
              </a:r>
              <a:endParaRPr lang="zh-CN" sz="158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00050" y="4076700"/>
              <a:ext cx="6761480" cy="323850"/>
            </a:xfrm>
            <a:prstGeom prst="rect">
              <a:avLst/>
            </a:prstGeom>
            <a:solidFill>
              <a:srgbClr val="1F497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65785" y="41433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设定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71233" y="41433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42733" y="41433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14233" y="41433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985733" y="41433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57233" y="41433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128733" y="41433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5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00233" y="41433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6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271733" y="41433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7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843233" y="41433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8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74796" y="4143375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9/10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00050" y="4400550"/>
              <a:ext cx="6762115" cy="391795"/>
            </a:xfrm>
            <a:prstGeom prst="rect">
              <a:avLst/>
            </a:prstGeom>
            <a:solidFill>
              <a:srgbClr val="F7FBFD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65785" y="44958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实测</a:t>
              </a:r>
              <a:endParaRPr lang="zh-CN" sz="12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273454" y="449580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</a:t>
              </a:r>
              <a:endParaRPr lang="zh-CN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667256" y="449580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0.999</a:t>
              </a:r>
              <a:endParaRPr lang="zh-CN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238756" y="449580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2.001</a:t>
              </a:r>
              <a:endParaRPr lang="zh-CN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810256" y="449580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2.999</a:t>
              </a:r>
              <a:endParaRPr lang="zh-CN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381756" y="449580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4.002</a:t>
              </a:r>
              <a:endParaRPr lang="zh-CN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953256" y="449580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5.000</a:t>
              </a:r>
              <a:endParaRPr lang="zh-CN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524756" y="449580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6.002</a:t>
              </a:r>
              <a:endParaRPr lang="zh-CN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096256" y="449580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6.999</a:t>
              </a:r>
              <a:endParaRPr lang="zh-CN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667756" y="449580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8.001</a:t>
              </a:r>
              <a:endParaRPr lang="zh-CN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110961" y="4495800"/>
              <a:ext cx="1175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8.998 / 10.001</a:t>
              </a:r>
              <a:endParaRPr lang="zh-CN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5" name="Line 55"/>
            <p:cNvSpPr/>
            <p:nvPr/>
          </p:nvSpPr>
          <p:spPr>
            <a:xfrm>
              <a:off x="400050" y="4867275"/>
              <a:ext cx="6870065" cy="76200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0" y="0"/>
                  </a:moveTo>
                  <a:lnTo>
                    <a:pt x="6477000" y="0"/>
                  </a:lnTo>
                </a:path>
              </a:pathLst>
            </a:custGeom>
            <a:noFill/>
            <a:ln w="19050">
              <a:solidFill>
                <a:srgbClr val="8FD3E8"/>
              </a:solidFill>
              <a:custDash>
                <a:ds d="100000" sp="200000"/>
              </a:custDash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02717" y="5054600"/>
              <a:ext cx="20110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最大相对误差约 ±0.10%</a:t>
              </a:r>
              <a:endParaRPr lang="zh-CN" sz="135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03098" y="5343525"/>
              <a:ext cx="53546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离散标定点用于描述真实模拟链路；区间内通过插值获得连续控制量。</a:t>
              </a:r>
              <a:endParaRPr lang="zh-CN" sz="128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03670" y="5594350"/>
              <a:ext cx="438426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66666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注：端点和关键电流点可按器件老化、温漂或更换后重新采集。</a:t>
              </a:r>
              <a:endParaRPr lang="zh-CN" sz="1160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9" name="logic"/>
          <p:cNvGrpSpPr/>
          <p:nvPr/>
        </p:nvGrpSpPr>
        <p:grpSpPr>
          <a:xfrm>
            <a:off x="7286625" y="3600450"/>
            <a:ext cx="4676775" cy="2257425"/>
            <a:chOff x="7286625" y="3600450"/>
            <a:chExt cx="4676775" cy="2257425"/>
          </a:xfrm>
        </p:grpSpPr>
        <p:sp>
          <p:nvSpPr>
            <p:cNvPr id="60" name="Rectangle 60"/>
            <p:cNvSpPr/>
            <p:nvPr/>
          </p:nvSpPr>
          <p:spPr>
            <a:xfrm>
              <a:off x="7286625" y="3600450"/>
              <a:ext cx="4676775" cy="2257425"/>
            </a:xfrm>
            <a:prstGeom prst="roundRect">
              <a:avLst>
                <a:gd name="adj" fmla="val 3376"/>
              </a:avLst>
            </a:prstGeom>
            <a:noFill/>
            <a:ln w="19050">
              <a:solidFill>
                <a:srgbClr val="1F497D"/>
              </a:solidFill>
              <a:prstDash val="dash"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478649" y="3714750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补偿计算与可维护性</a:t>
              </a:r>
              <a:endParaRPr lang="zh-CN" sz="158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486650" y="4086225"/>
              <a:ext cx="4276725" cy="590550"/>
            </a:xfrm>
            <a:prstGeom prst="roundRect">
              <a:avLst>
                <a:gd name="adj" fmla="val 8065"/>
              </a:avLst>
            </a:prstGeom>
            <a:solidFill>
              <a:srgbClr val="F7FBFD"/>
            </a:solidFill>
            <a:ln w="14288">
              <a:solidFill>
                <a:srgbClr val="8FD3E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945810" y="4171950"/>
              <a:ext cx="334888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2A536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D(I)=Dᵢ+(Dᵢ₊₁−Dᵢ)·(I−Iᵢ)/(Iᵢ₊₁−Iᵢ)</a:t>
              </a:r>
              <a:endParaRPr lang="en-US" sz="1280" b="1" dirty="0">
                <a:solidFill>
                  <a:srgbClr val="2A53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294103" y="4435475"/>
              <a:ext cx="2652293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90" dirty="0">
                  <a:solidFill>
                    <a:srgbClr val="55555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仅替换标定表，不改波形算法与控制接口</a:t>
              </a:r>
              <a:endParaRPr lang="zh-CN" sz="109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489317" y="484505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显式补偿三类误差</a:t>
              </a:r>
              <a:endParaRPr lang="zh-CN" sz="135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680198" y="5124450"/>
              <a:ext cx="302876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430" indent="-138430" algn="l">
                <a:buClr>
                  <a:srgbClr val="333333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零点偏置　• 增益偏差　• 器件离散性</a:t>
              </a:r>
              <a:endParaRPr lang="zh-CN" sz="128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7" name="Freeform 67"/>
            <p:cNvSpPr/>
            <p:nvPr/>
          </p:nvSpPr>
          <p:spPr>
            <a:xfrm>
              <a:off x="7772400" y="5438775"/>
              <a:ext cx="3409950" cy="314325"/>
            </a:xfrm>
            <a:custGeom>
              <a:avLst/>
              <a:gdLst/>
              <a:ahLst/>
              <a:cxnLst/>
              <a:rect l="l" t="t" r="r" b="b"/>
              <a:pathLst>
                <a:path w="3409950" h="314325">
                  <a:moveTo>
                    <a:pt x="3409950" y="0"/>
                  </a:moveTo>
                  <a:cubicBezTo>
                    <a:pt x="3276600" y="314325"/>
                    <a:pt x="133350" y="314325"/>
                    <a:pt x="0" y="0"/>
                  </a:cubicBezTo>
                </a:path>
              </a:pathLst>
            </a:custGeom>
            <a:noFill/>
            <a:ln w="23812">
              <a:solidFill>
                <a:srgbClr val="C00000"/>
              </a:solidFill>
              <a:tailEnd type="triangle" w="lg" len="lg"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549267" y="5495925"/>
              <a:ext cx="18562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复测 → 更新表项 → 再验证</a:t>
              </a:r>
              <a:endParaRPr 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3" name="conclusion"/>
          <p:cNvGrpSpPr/>
          <p:nvPr/>
        </p:nvGrpSpPr>
        <p:grpSpPr>
          <a:xfrm>
            <a:off x="209550" y="6048375"/>
            <a:ext cx="11753850" cy="581025"/>
            <a:chOff x="209550" y="6048375"/>
            <a:chExt cx="11753850" cy="581025"/>
          </a:xfrm>
        </p:grpSpPr>
        <p:sp>
          <p:nvSpPr>
            <p:cNvPr id="70" name="Rectangle 70"/>
            <p:cNvSpPr/>
            <p:nvPr/>
          </p:nvSpPr>
          <p:spPr>
            <a:xfrm>
              <a:off x="209550" y="6048375"/>
              <a:ext cx="11753850" cy="581025"/>
            </a:xfrm>
            <a:prstGeom prst="roundRect">
              <a:avLst>
                <a:gd name="adj" fmla="val 9836"/>
              </a:avLst>
            </a:prstGeom>
            <a:solidFill>
              <a:srgbClr val="F7FBFD"/>
            </a:solidFill>
            <a:ln w="19050">
              <a:solidFill>
                <a:srgbClr val="8FD3E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20624" y="6219825"/>
              <a:ext cx="10795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工程结论：</a:t>
              </a:r>
              <a:endParaRPr lang="zh-CN" sz="158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611249" y="6219825"/>
              <a:ext cx="639699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2A536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将模拟电路离散误差显式纳入软件补偿，可重标定、可追溯、可维护</a:t>
              </a:r>
              <a:endParaRPr lang="zh-CN" sz="1580" b="1" dirty="0">
                <a:solidFill>
                  <a:srgbClr val="2A53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74" name="图片 73" descr="灯泡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30" y="45085"/>
            <a:ext cx="626745" cy="626745"/>
          </a:xfrm>
          <a:prstGeom prst="rect">
            <a:avLst/>
          </a:prstGeom>
        </p:spPr>
      </p:pic>
      <p:pic>
        <p:nvPicPr>
          <p:cNvPr id="3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4260" y="21590"/>
            <a:ext cx="2237740" cy="735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0" y="0"/>
            <a:ext cx="12192000" cy="1293349"/>
            <a:chOff x="0" y="0"/>
            <a:chExt cx="12192000" cy="1293349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762000"/>
            </a:xfrm>
            <a:prstGeom prst="rect">
              <a:avLst/>
            </a:prstGeom>
            <a:solidFill>
              <a:srgbClr val="1F497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93356" y="130175"/>
              <a:ext cx="4407149" cy="6263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03软件创新与实验验证</a:t>
              </a:r>
              <a:endParaRPr lang="zh-CN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51752" y="901700"/>
              <a:ext cx="4639158" cy="3916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2A536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——创新点三：资源受限下的多任务协同</a:t>
              </a:r>
              <a:endParaRPr lang="zh-CN" sz="2000" b="1" dirty="0">
                <a:solidFill>
                  <a:srgbClr val="2A53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4" name="scheduler"/>
          <p:cNvGrpSpPr/>
          <p:nvPr/>
        </p:nvGrpSpPr>
        <p:grpSpPr>
          <a:xfrm>
            <a:off x="190500" y="1400175"/>
            <a:ext cx="7048500" cy="4295775"/>
            <a:chOff x="190500" y="1400175"/>
            <a:chExt cx="7048500" cy="4295775"/>
          </a:xfrm>
        </p:grpSpPr>
        <p:sp>
          <p:nvSpPr>
            <p:cNvPr id="7" name="Rectangle 7"/>
            <p:cNvSpPr/>
            <p:nvPr/>
          </p:nvSpPr>
          <p:spPr>
            <a:xfrm>
              <a:off x="190500" y="1400175"/>
              <a:ext cx="7048500" cy="4295775"/>
            </a:xfrm>
            <a:prstGeom prst="roundRect">
              <a:avLst>
                <a:gd name="adj" fmla="val 1774"/>
              </a:avLst>
            </a:prstGeom>
            <a:noFill/>
            <a:ln w="20955">
              <a:solidFill>
                <a:srgbClr val="1F497D"/>
              </a:solidFill>
              <a:custDash>
                <a:ds d="227273" sp="227273"/>
              </a:custDash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91668" y="1511300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统一调度节拍：输出实时，交互降频，页面可抢占</a:t>
              </a:r>
              <a:endParaRPr lang="zh-CN" sz="165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409575" y="1914525"/>
              <a:ext cx="6572250" cy="9525"/>
            </a:xfrm>
            <a:custGeom>
              <a:avLst/>
              <a:gdLst/>
              <a:ahLst/>
              <a:cxnLst/>
              <a:rect l="l" t="t" r="r" b="b"/>
              <a:pathLst>
                <a:path w="6572250" h="9525">
                  <a:moveTo>
                    <a:pt x="0" y="0"/>
                  </a:moveTo>
                  <a:lnTo>
                    <a:pt x="6572250" y="0"/>
                  </a:lnTo>
                </a:path>
              </a:pathLst>
            </a:custGeom>
            <a:noFill/>
            <a:ln w="28575">
              <a:solidFill>
                <a:srgbClr val="8FD3E8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22148" y="2047875"/>
              <a:ext cx="4019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 ms</a:t>
              </a:r>
              <a:endParaRPr lang="en-US" sz="128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99098" y="2047875"/>
              <a:ext cx="50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60 ms</a:t>
              </a:r>
              <a:endParaRPr lang="en-US" sz="128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876300" y="2143125"/>
              <a:ext cx="5657850" cy="1"/>
            </a:xfrm>
            <a:prstGeom prst="line">
              <a:avLst/>
            </a:prstGeom>
            <a:noFill/>
            <a:ln w="19050">
              <a:solidFill>
                <a:srgbClr val="1F497D"/>
              </a:solidFill>
              <a:tailEnd type="triangle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19100" y="2409825"/>
              <a:ext cx="6572250" cy="704850"/>
            </a:xfrm>
            <a:prstGeom prst="roundRect">
              <a:avLst>
                <a:gd name="adj" fmla="val 8108"/>
              </a:avLst>
            </a:prstGeom>
            <a:solidFill>
              <a:srgbClr val="F7FBFD"/>
            </a:solidFill>
            <a:ln w="17145">
              <a:solidFill>
                <a:srgbClr val="1F497D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19100" y="2409825"/>
              <a:ext cx="1466850" cy="704850"/>
            </a:xfrm>
            <a:prstGeom prst="roundRect">
              <a:avLst>
                <a:gd name="adj" fmla="val 8108"/>
              </a:avLst>
            </a:prstGeom>
            <a:solidFill>
              <a:srgbClr val="1F497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7385" y="2517775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实时输出层</a:t>
              </a:r>
              <a:endParaRPr lang="zh-CN" sz="14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8716" y="2803525"/>
              <a:ext cx="10676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DDEBF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 ms Timer ISR</a:t>
              </a:r>
              <a:endParaRPr lang="en-US" sz="1120" dirty="0">
                <a:solidFill>
                  <a:srgbClr val="DDEB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60448" y="2533650"/>
              <a:ext cx="152672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A536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连续 60 次波形更新</a:t>
              </a:r>
              <a:endParaRPr lang="zh-CN" sz="1280" b="1" dirty="0">
                <a:solidFill>
                  <a:srgbClr val="2A53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61020" y="2794000"/>
              <a:ext cx="260088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55555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不等待 TJC、Wi-Fi、绘图和处方解析</a:t>
              </a:r>
              <a:endParaRPr lang="zh-CN" sz="116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19100" y="3276600"/>
              <a:ext cx="6572250" cy="704850"/>
            </a:xfrm>
            <a:prstGeom prst="roundRect">
              <a:avLst>
                <a:gd name="adj" fmla="val 8108"/>
              </a:avLst>
            </a:prstGeom>
            <a:solidFill>
              <a:srgbClr val="F7FBFD"/>
            </a:solidFill>
            <a:ln w="17145">
              <a:solidFill>
                <a:srgbClr val="1F497D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19100" y="3276600"/>
              <a:ext cx="1466850" cy="704850"/>
            </a:xfrm>
            <a:prstGeom prst="roundRect">
              <a:avLst>
                <a:gd name="adj" fmla="val 8108"/>
              </a:avLst>
            </a:prstGeom>
            <a:solidFill>
              <a:srgbClr val="2A536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7385" y="3384550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波形推流层</a:t>
              </a:r>
              <a:endParaRPr lang="zh-CN" sz="14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9874" y="36703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DEBF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60 ms 节拍</a:t>
              </a:r>
              <a:endParaRPr lang="zh-CN" sz="1120" dirty="0">
                <a:solidFill>
                  <a:srgbClr val="DDEB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60448" y="3400425"/>
              <a:ext cx="15637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A536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抽样后再推送曲线点</a:t>
              </a:r>
              <a:endParaRPr lang="zh-CN" sz="1280" b="1" dirty="0">
                <a:solidFill>
                  <a:srgbClr val="2A53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61020" y="3660775"/>
              <a:ext cx="251035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55555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将低速串口屏占用控制在可接受范围</a:t>
              </a:r>
              <a:endParaRPr lang="zh-CN" sz="116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19100" y="4143375"/>
              <a:ext cx="6572250" cy="704850"/>
            </a:xfrm>
            <a:prstGeom prst="roundRect">
              <a:avLst>
                <a:gd name="adj" fmla="val 8108"/>
              </a:avLst>
            </a:prstGeom>
            <a:solidFill>
              <a:srgbClr val="F7FBFD"/>
            </a:solidFill>
            <a:ln w="17145">
              <a:solidFill>
                <a:srgbClr val="1F497D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19100" y="4143375"/>
              <a:ext cx="1466850" cy="704850"/>
            </a:xfrm>
            <a:prstGeom prst="roundRect">
              <a:avLst>
                <a:gd name="adj" fmla="val 8108"/>
              </a:avLst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7385" y="4251325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交互抢占层</a:t>
              </a:r>
              <a:endParaRPr lang="zh-CN" sz="14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9100" y="4537075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E5E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主页最高优先级</a:t>
              </a:r>
              <a:endParaRPr lang="zh-CN" sz="1120" dirty="0">
                <a:solidFill>
                  <a:srgbClr val="FFE5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60448" y="4267200"/>
              <a:ext cx="259765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导航命令先处理，绘图任务可跳过</a:t>
              </a:r>
              <a:endParaRPr lang="zh-CN" sz="128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61020" y="4527550"/>
              <a:ext cx="221365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55555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避免页面切换被连续推流“堵住”</a:t>
              </a:r>
              <a:endParaRPr lang="zh-CN" sz="116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2148" y="5086350"/>
              <a:ext cx="104683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短指令协议：</a:t>
              </a:r>
              <a:endParaRPr lang="zh-CN" sz="128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17523" y="5086350"/>
              <a:ext cx="470850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只传“命令 + 参数”，不传冗长文本；收包后立即解析并回执。</a:t>
              </a:r>
              <a:endParaRPr lang="zh-CN" sz="128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2529" y="5353050"/>
              <a:ext cx="56665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9600 bps ≈ 960 Byte/s（按 8N1 估算），因此必须控制刷新频率与单包长度。</a:t>
              </a:r>
              <a:endParaRPr lang="zh-CN" sz="1200" dirty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5" name="matrix"/>
          <p:cNvGrpSpPr/>
          <p:nvPr/>
        </p:nvGrpSpPr>
        <p:grpSpPr>
          <a:xfrm>
            <a:off x="7505700" y="1511300"/>
            <a:ext cx="4457700" cy="4184650"/>
            <a:chOff x="7505700" y="1511300"/>
            <a:chExt cx="4457700" cy="4184650"/>
          </a:xfrm>
        </p:grpSpPr>
        <p:sp>
          <p:nvSpPr>
            <p:cNvPr id="35" name="TextBox 35"/>
            <p:cNvSpPr txBox="1"/>
            <p:nvPr/>
          </p:nvSpPr>
          <p:spPr>
            <a:xfrm>
              <a:off x="7563993" y="1511300"/>
              <a:ext cx="16060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冲突—策略—效果</a:t>
              </a:r>
              <a:endParaRPr lang="zh-CN" sz="165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505700" y="1876425"/>
              <a:ext cx="4457700" cy="3819525"/>
            </a:xfrm>
            <a:prstGeom prst="roundRect">
              <a:avLst>
                <a:gd name="adj" fmla="val 1995"/>
              </a:avLst>
            </a:prstGeom>
            <a:noFill/>
            <a:ln w="19050">
              <a:solidFill>
                <a:srgbClr val="1F497D"/>
              </a:solidFill>
              <a:prstDash val="dash"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696200" y="2076450"/>
              <a:ext cx="4076700" cy="400050"/>
            </a:xfrm>
            <a:prstGeom prst="rect">
              <a:avLst/>
            </a:prstGeom>
            <a:solidFill>
              <a:srgbClr val="1F497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862316" y="218122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资源冲突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329166" y="218122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软件策略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071860" y="218122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结果</a:t>
              </a:r>
              <a:endPara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696200" y="2476500"/>
              <a:ext cx="4076700" cy="628650"/>
            </a:xfrm>
            <a:prstGeom prst="rect">
              <a:avLst/>
            </a:prstGeom>
            <a:solidFill>
              <a:srgbClr val="F7FBFD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852029" y="2571750"/>
              <a:ext cx="10541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9600 bps 屏幕</a:t>
              </a:r>
              <a:endParaRPr lang="zh-CN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52029" y="279082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吞吐量有限</a:t>
              </a:r>
              <a:endParaRPr lang="zh-CN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04554" y="266700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60 ms 推流</a:t>
              </a:r>
              <a:endParaRPr lang="zh-CN" sz="120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852404" y="26670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带宽可控</a:t>
              </a:r>
              <a:endParaRPr lang="zh-CN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696200" y="3105150"/>
              <a:ext cx="4076700" cy="628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852029" y="32004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页面切换与</a:t>
              </a:r>
              <a:endParaRPr lang="zh-CN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52029" y="341947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持续绘图竞争</a:t>
              </a:r>
              <a:endParaRPr lang="zh-CN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004554" y="32956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主页抢占</a:t>
              </a:r>
              <a:endParaRPr lang="zh-CN" sz="1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852404" y="32956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交互及时</a:t>
              </a:r>
              <a:endParaRPr lang="zh-CN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696200" y="3733800"/>
              <a:ext cx="4076700" cy="628650"/>
            </a:xfrm>
            <a:prstGeom prst="rect">
              <a:avLst/>
            </a:prstGeom>
            <a:solidFill>
              <a:srgbClr val="F7FBFD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852029" y="38290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长报文占用</a:t>
              </a:r>
              <a:endParaRPr lang="zh-CN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52029" y="404812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串口时间</a:t>
              </a:r>
              <a:endParaRPr lang="zh-CN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04554" y="39243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短指令协议</a:t>
              </a:r>
              <a:endParaRPr lang="zh-CN" sz="120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852404" y="39243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快速收发</a:t>
              </a:r>
              <a:endParaRPr lang="zh-CN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696200" y="4362450"/>
              <a:ext cx="4076700" cy="6286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852029" y="44577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输出与通信</a:t>
              </a:r>
              <a:endParaRPr lang="zh-CN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852029" y="4676775"/>
              <a:ext cx="6681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争用 CPU</a:t>
              </a:r>
              <a:endParaRPr lang="zh-CN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04554" y="4552950"/>
              <a:ext cx="6399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ISR 解耦</a:t>
              </a:r>
              <a:endParaRPr lang="zh-CN" sz="120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852404" y="45529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输出不丢拍</a:t>
              </a:r>
              <a:endParaRPr lang="zh-CN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1" name="Line 61"/>
            <p:cNvSpPr/>
            <p:nvPr/>
          </p:nvSpPr>
          <p:spPr>
            <a:xfrm>
              <a:off x="8801100" y="2076450"/>
              <a:ext cx="9525" cy="2914650"/>
            </a:xfrm>
            <a:custGeom>
              <a:avLst/>
              <a:gdLst/>
              <a:ahLst/>
              <a:cxnLst/>
              <a:rect l="l" t="t" r="r" b="b"/>
              <a:pathLst>
                <a:path w="9525" h="2914650">
                  <a:moveTo>
                    <a:pt x="0" y="0"/>
                  </a:moveTo>
                  <a:lnTo>
                    <a:pt x="0" y="2914650"/>
                  </a:lnTo>
                </a:path>
              </a:pathLst>
            </a:custGeom>
            <a:noFill/>
            <a:ln w="14288">
              <a:solidFill>
                <a:srgbClr val="8FD3E8"/>
              </a:solidFill>
              <a:custDash>
                <a:ds d="133333" sp="200000"/>
              </a:custDash>
            </a:ln>
          </p:spPr>
        </p:sp>
        <p:sp>
          <p:nvSpPr>
            <p:cNvPr id="62" name="Line 62"/>
            <p:cNvSpPr/>
            <p:nvPr/>
          </p:nvSpPr>
          <p:spPr>
            <a:xfrm>
              <a:off x="10668000" y="2076450"/>
              <a:ext cx="9525" cy="2914650"/>
            </a:xfrm>
            <a:custGeom>
              <a:avLst/>
              <a:gdLst/>
              <a:ahLst/>
              <a:cxnLst/>
              <a:rect l="l" t="t" r="r" b="b"/>
              <a:pathLst>
                <a:path w="9525" h="2914650">
                  <a:moveTo>
                    <a:pt x="0" y="0"/>
                  </a:moveTo>
                  <a:lnTo>
                    <a:pt x="0" y="2914650"/>
                  </a:lnTo>
                </a:path>
              </a:pathLst>
            </a:custGeom>
            <a:noFill/>
            <a:ln w="14288">
              <a:solidFill>
                <a:srgbClr val="8FD3E8"/>
              </a:solidFill>
              <a:custDash>
                <a:ds d="133333" sp="200000"/>
              </a:custDash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689723" y="5162550"/>
              <a:ext cx="87452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设计原则：</a:t>
              </a:r>
              <a:endParaRPr lang="zh-CN" sz="128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556498" y="5162550"/>
              <a:ext cx="294228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先保证安全与输出，再分配通信预算。</a:t>
              </a:r>
              <a:endParaRPr lang="zh-CN" sz="128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0" name="conclusion"/>
          <p:cNvGrpSpPr/>
          <p:nvPr/>
        </p:nvGrpSpPr>
        <p:grpSpPr>
          <a:xfrm>
            <a:off x="190500" y="5905500"/>
            <a:ext cx="11772900" cy="723900"/>
            <a:chOff x="190500" y="5905500"/>
            <a:chExt cx="11772900" cy="723900"/>
          </a:xfrm>
        </p:grpSpPr>
        <p:sp>
          <p:nvSpPr>
            <p:cNvPr id="66" name="Rectangle 66"/>
            <p:cNvSpPr/>
            <p:nvPr/>
          </p:nvSpPr>
          <p:spPr>
            <a:xfrm>
              <a:off x="190500" y="5905500"/>
              <a:ext cx="11772900" cy="723900"/>
            </a:xfrm>
            <a:prstGeom prst="roundRect">
              <a:avLst>
                <a:gd name="adj" fmla="val 7895"/>
              </a:avLst>
            </a:prstGeom>
            <a:solidFill>
              <a:srgbClr val="F7FBFD"/>
            </a:solidFill>
            <a:ln w="19050">
              <a:solidFill>
                <a:srgbClr val="8FD3E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01955" y="60134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工程结论：</a:t>
              </a:r>
              <a:endParaRPr lang="zh-CN" sz="15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526286" y="6013450"/>
              <a:ext cx="623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A536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60 ms 推流 + 主页抢占 + 短指令协议，化解低速串口屏与实时输出的冲突</a:t>
              </a:r>
              <a:endParaRPr lang="zh-CN" sz="1420" b="1" dirty="0">
                <a:solidFill>
                  <a:srgbClr val="2A53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03098" y="6324600"/>
              <a:ext cx="640578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在不增加硬件资源的前提下，实现“输出连续、页面可用、通信可控”的多任务协同。</a:t>
              </a:r>
              <a:endParaRPr lang="zh-CN" sz="128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71" name="图片 70" descr="灯泡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30" y="45085"/>
            <a:ext cx="626745" cy="626745"/>
          </a:xfrm>
          <a:prstGeom prst="rect">
            <a:avLst/>
          </a:prstGeom>
        </p:spPr>
      </p:pic>
      <p:pic>
        <p:nvPicPr>
          <p:cNvPr id="3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4260" y="21590"/>
            <a:ext cx="2237740" cy="735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0" y="0"/>
            <a:ext cx="12192000" cy="1293349"/>
            <a:chOff x="0" y="0"/>
            <a:chExt cx="12192000" cy="1293349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762000"/>
            </a:xfrm>
            <a:prstGeom prst="rect">
              <a:avLst/>
            </a:prstGeom>
            <a:solidFill>
              <a:srgbClr val="1F497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93356" y="130175"/>
              <a:ext cx="4407149" cy="6263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20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03软件创新与实验验证</a:t>
              </a:r>
              <a:endParaRPr lang="zh-CN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51752" y="901700"/>
              <a:ext cx="5177638" cy="3916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2A536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——系统联调原型：从原理图走到可操作原型</a:t>
              </a:r>
              <a:endParaRPr lang="zh-CN" sz="2000" b="1" dirty="0">
                <a:solidFill>
                  <a:srgbClr val="2A53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9" name="prototype-photo"/>
          <p:cNvGrpSpPr/>
          <p:nvPr/>
        </p:nvGrpSpPr>
        <p:grpSpPr>
          <a:xfrm>
            <a:off x="190500" y="1409700"/>
            <a:ext cx="7477125" cy="4514850"/>
            <a:chOff x="190500" y="1409700"/>
            <a:chExt cx="7477125" cy="4514850"/>
          </a:xfrm>
        </p:grpSpPr>
        <p:sp>
          <p:nvSpPr>
            <p:cNvPr id="7" name="Rectangle 7"/>
            <p:cNvSpPr/>
            <p:nvPr/>
          </p:nvSpPr>
          <p:spPr>
            <a:xfrm>
              <a:off x="190500" y="1409700"/>
              <a:ext cx="7477125" cy="4514850"/>
            </a:xfrm>
            <a:prstGeom prst="roundRect">
              <a:avLst>
                <a:gd name="adj" fmla="val 1688"/>
              </a:avLst>
            </a:prstGeom>
            <a:noFill/>
            <a:ln w="20955">
              <a:solidFill>
                <a:srgbClr val="1F497D"/>
              </a:solidFill>
              <a:custDash>
                <a:ds d="227273" sp="227273"/>
              </a:custDash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82524" y="1514475"/>
              <a:ext cx="17175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完整系统连线实拍</a:t>
              </a:r>
              <a:endParaRPr lang="zh-CN" sz="158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381000" y="1847850"/>
              <a:ext cx="7096125" cy="3857625"/>
            </a:xfrm>
            <a:prstGeom prst="rect">
              <a:avLst/>
            </a:prstGeom>
            <a:solidFill>
              <a:srgbClr val="E9EEF2"/>
            </a:solidFill>
            <a:ln w="14288">
              <a:solidFill>
                <a:srgbClr val="1F497D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1"/>
            <a:srcRect t="14074" b="14075"/>
            <a:stretch>
              <a:fillRect/>
            </a:stretch>
          </p:blipFill>
          <p:spPr>
            <a:xfrm>
              <a:off x="419100" y="1885950"/>
              <a:ext cx="7019925" cy="3781425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552450" y="2038350"/>
              <a:ext cx="1085850" cy="285750"/>
            </a:xfrm>
            <a:prstGeom prst="roundRect">
              <a:avLst>
                <a:gd name="adj" fmla="val 13333"/>
              </a:avLst>
            </a:prstGeom>
            <a:solidFill>
              <a:srgbClr val="1F497D">
                <a:alpha val="94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00406" y="2098675"/>
              <a:ext cx="789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控制与 DAC</a:t>
              </a:r>
              <a:endParaRPr lang="zh-CN" sz="11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88180" y="2149475"/>
              <a:ext cx="1200150" cy="285750"/>
            </a:xfrm>
            <a:prstGeom prst="roundRect">
              <a:avLst>
                <a:gd name="adj" fmla="val 13333"/>
              </a:avLst>
            </a:prstGeom>
            <a:solidFill>
              <a:srgbClr val="C00000">
                <a:alpha val="94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06239" y="219329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串口屏交互</a:t>
              </a:r>
              <a:endParaRPr lang="zh-CN" sz="11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377565" y="4088130"/>
              <a:ext cx="1200150" cy="285750"/>
            </a:xfrm>
            <a:prstGeom prst="roundRect">
              <a:avLst>
                <a:gd name="adj" fmla="val 13333"/>
              </a:avLst>
            </a:prstGeom>
            <a:solidFill>
              <a:srgbClr val="2A5364">
                <a:alpha val="94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470707" y="4153535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供电与恒流级</a:t>
              </a:r>
              <a:endParaRPr lang="zh-CN" sz="11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76950" y="3575050"/>
              <a:ext cx="1400175" cy="285750"/>
            </a:xfrm>
            <a:prstGeom prst="roundRect">
              <a:avLst>
                <a:gd name="adj" fmla="val 13333"/>
              </a:avLst>
            </a:prstGeom>
            <a:solidFill>
              <a:srgbClr val="2A5364">
                <a:alpha val="94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01537" y="3616325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负载与测量端</a:t>
              </a:r>
              <a:endParaRPr lang="zh-CN" sz="112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8" name="closed-loop"/>
          <p:cNvGrpSpPr/>
          <p:nvPr>
            <p:custDataLst>
              <p:tags r:id="rId2"/>
            </p:custDataLst>
          </p:nvPr>
        </p:nvGrpSpPr>
        <p:grpSpPr>
          <a:xfrm>
            <a:off x="7915275" y="1501775"/>
            <a:ext cx="4048125" cy="4422775"/>
            <a:chOff x="7915275" y="1501775"/>
            <a:chExt cx="4048125" cy="4422775"/>
          </a:xfrm>
        </p:grpSpPr>
        <p:sp>
          <p:nvSpPr>
            <p:cNvPr id="20" name="TextBox 20"/>
            <p:cNvSpPr txBox="1"/>
            <p:nvPr/>
          </p:nvSpPr>
          <p:spPr>
            <a:xfrm>
              <a:off x="7983093" y="15017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联调闭环完整性</a:t>
              </a:r>
              <a:endParaRPr lang="zh-CN" sz="165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Rectangle 21"/>
            <p:cNvSpPr/>
            <p:nvPr>
              <p:custDataLst>
                <p:tags r:id="rId3"/>
              </p:custDataLst>
            </p:nvPr>
          </p:nvSpPr>
          <p:spPr>
            <a:xfrm>
              <a:off x="7915275" y="1857375"/>
              <a:ext cx="4048125" cy="4067175"/>
            </a:xfrm>
            <a:prstGeom prst="roundRect">
              <a:avLst>
                <a:gd name="adj" fmla="val 1882"/>
              </a:avLst>
            </a:prstGeom>
            <a:noFill/>
            <a:ln w="19050">
              <a:solidFill>
                <a:srgbClr val="1F497D"/>
              </a:solidFill>
              <a:prstDash val="dash"/>
            </a:ln>
          </p:spPr>
        </p:sp>
        <p:sp>
          <p:nvSpPr>
            <p:cNvPr id="22" name="Rectangle 22"/>
            <p:cNvSpPr/>
            <p:nvPr>
              <p:custDataLst>
                <p:tags r:id="rId4"/>
              </p:custDataLst>
            </p:nvPr>
          </p:nvSpPr>
          <p:spPr>
            <a:xfrm>
              <a:off x="8105775" y="2066925"/>
              <a:ext cx="3667125" cy="590550"/>
            </a:xfrm>
            <a:prstGeom prst="roundRect">
              <a:avLst>
                <a:gd name="adj" fmla="val 9677"/>
              </a:avLst>
            </a:prstGeom>
            <a:solidFill>
              <a:srgbClr val="F7FBFD"/>
            </a:solidFill>
            <a:ln w="15240">
              <a:solidFill>
                <a:srgbClr val="1F497D"/>
              </a:solidFill>
            </a:ln>
          </p:spPr>
        </p:sp>
        <p:sp>
          <p:nvSpPr>
            <p:cNvPr id="23" name="TextBox 23"/>
            <p:cNvSpPr txBox="1"/>
            <p:nvPr>
              <p:custDataLst>
                <p:tags r:id="rId5"/>
              </p:custDataLst>
            </p:nvPr>
          </p:nvSpPr>
          <p:spPr>
            <a:xfrm>
              <a:off x="8279892" y="2149475"/>
              <a:ext cx="826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01 控制链</a:t>
              </a:r>
              <a:endParaRPr lang="zh-CN" sz="135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Box 24"/>
            <p:cNvSpPr txBox="1"/>
            <p:nvPr>
              <p:custDataLst>
                <p:tags r:id="rId6"/>
              </p:custDataLst>
            </p:nvPr>
          </p:nvSpPr>
          <p:spPr>
            <a:xfrm>
              <a:off x="8280844" y="2393950"/>
              <a:ext cx="2308824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44444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STM32 定时调度 + DAC 波形输出</a:t>
              </a:r>
              <a:endParaRPr lang="zh-CN" sz="1160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Rectangle 25"/>
            <p:cNvSpPr/>
            <p:nvPr>
              <p:custDataLst>
                <p:tags r:id="rId7"/>
              </p:custDataLst>
            </p:nvPr>
          </p:nvSpPr>
          <p:spPr>
            <a:xfrm>
              <a:off x="8105775" y="2800350"/>
              <a:ext cx="3667125" cy="590550"/>
            </a:xfrm>
            <a:prstGeom prst="roundRect">
              <a:avLst>
                <a:gd name="adj" fmla="val 9677"/>
              </a:avLst>
            </a:prstGeom>
            <a:solidFill>
              <a:srgbClr val="F7FBFD"/>
            </a:solidFill>
            <a:ln w="15240">
              <a:solidFill>
                <a:srgbClr val="1F497D"/>
              </a:solidFill>
            </a:ln>
          </p:spPr>
        </p:sp>
        <p:sp>
          <p:nvSpPr>
            <p:cNvPr id="26" name="TextBox 26"/>
            <p:cNvSpPr txBox="1"/>
            <p:nvPr>
              <p:custDataLst>
                <p:tags r:id="rId8"/>
              </p:custDataLst>
            </p:nvPr>
          </p:nvSpPr>
          <p:spPr>
            <a:xfrm>
              <a:off x="8279892" y="2882900"/>
              <a:ext cx="826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02 功率链</a:t>
              </a:r>
              <a:endParaRPr lang="zh-CN" sz="135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TextBox 27"/>
            <p:cNvSpPr txBox="1"/>
            <p:nvPr>
              <p:custDataLst>
                <p:tags r:id="rId9"/>
              </p:custDataLst>
            </p:nvPr>
          </p:nvSpPr>
          <p:spPr>
            <a:xfrm>
              <a:off x="8280844" y="3127375"/>
              <a:ext cx="1922257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44444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54 V 供电 + VCCS 恒流驱动</a:t>
              </a:r>
              <a:endParaRPr lang="zh-CN" sz="1160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Rectangle 28"/>
            <p:cNvSpPr/>
            <p:nvPr>
              <p:custDataLst>
                <p:tags r:id="rId10"/>
              </p:custDataLst>
            </p:nvPr>
          </p:nvSpPr>
          <p:spPr>
            <a:xfrm>
              <a:off x="8105775" y="3533775"/>
              <a:ext cx="3667125" cy="590550"/>
            </a:xfrm>
            <a:prstGeom prst="roundRect">
              <a:avLst>
                <a:gd name="adj" fmla="val 9677"/>
              </a:avLst>
            </a:prstGeom>
            <a:solidFill>
              <a:srgbClr val="F7FBFD"/>
            </a:solidFill>
            <a:ln w="15240">
              <a:solidFill>
                <a:srgbClr val="1F497D"/>
              </a:solidFill>
            </a:ln>
          </p:spPr>
        </p:sp>
        <p:sp>
          <p:nvSpPr>
            <p:cNvPr id="29" name="TextBox 29"/>
            <p:cNvSpPr txBox="1"/>
            <p:nvPr>
              <p:custDataLst>
                <p:tags r:id="rId11"/>
              </p:custDataLst>
            </p:nvPr>
          </p:nvSpPr>
          <p:spPr>
            <a:xfrm>
              <a:off x="8279892" y="3616325"/>
              <a:ext cx="826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03 采集链</a:t>
              </a:r>
              <a:endParaRPr lang="zh-CN" sz="135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TextBox 30"/>
            <p:cNvSpPr txBox="1"/>
            <p:nvPr>
              <p:custDataLst>
                <p:tags r:id="rId12"/>
              </p:custDataLst>
            </p:nvPr>
          </p:nvSpPr>
          <p:spPr>
            <a:xfrm>
              <a:off x="8280844" y="3860800"/>
              <a:ext cx="225431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44444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PA0 采样 + 阻抗估算 + 安全判断</a:t>
              </a:r>
              <a:endParaRPr lang="zh-CN" sz="1160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Rectangle 31"/>
            <p:cNvSpPr/>
            <p:nvPr>
              <p:custDataLst>
                <p:tags r:id="rId13"/>
              </p:custDataLst>
            </p:nvPr>
          </p:nvSpPr>
          <p:spPr>
            <a:xfrm>
              <a:off x="8105775" y="4267200"/>
              <a:ext cx="3667125" cy="590550"/>
            </a:xfrm>
            <a:prstGeom prst="roundRect">
              <a:avLst>
                <a:gd name="adj" fmla="val 9677"/>
              </a:avLst>
            </a:prstGeom>
            <a:solidFill>
              <a:srgbClr val="F7FBFD"/>
            </a:solidFill>
            <a:ln w="15240">
              <a:solidFill>
                <a:srgbClr val="1F497D"/>
              </a:solidFill>
            </a:ln>
          </p:spPr>
        </p:sp>
        <p:sp>
          <p:nvSpPr>
            <p:cNvPr id="32" name="TextBox 32"/>
            <p:cNvSpPr txBox="1"/>
            <p:nvPr>
              <p:custDataLst>
                <p:tags r:id="rId14"/>
              </p:custDataLst>
            </p:nvPr>
          </p:nvSpPr>
          <p:spPr>
            <a:xfrm>
              <a:off x="8279892" y="4349750"/>
              <a:ext cx="826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04 交互链</a:t>
              </a:r>
              <a:endParaRPr lang="zh-CN" sz="1350" b="1" dirty="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TextBox 33"/>
            <p:cNvSpPr txBox="1"/>
            <p:nvPr>
              <p:custDataLst>
                <p:tags r:id="rId15"/>
              </p:custDataLst>
            </p:nvPr>
          </p:nvSpPr>
          <p:spPr>
            <a:xfrm>
              <a:off x="8280844" y="4594225"/>
              <a:ext cx="236524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44444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TJC 屏幕 + Wi-Fi 参数与状态交互</a:t>
              </a:r>
              <a:endParaRPr lang="zh-CN" sz="1160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" name="Rectangle 34"/>
            <p:cNvSpPr/>
            <p:nvPr>
              <p:custDataLst>
                <p:tags r:id="rId16"/>
              </p:custDataLst>
            </p:nvPr>
          </p:nvSpPr>
          <p:spPr>
            <a:xfrm>
              <a:off x="8105775" y="5000625"/>
              <a:ext cx="3667125" cy="590550"/>
            </a:xfrm>
            <a:prstGeom prst="roundRect">
              <a:avLst>
                <a:gd name="adj" fmla="val 9677"/>
              </a:avLst>
            </a:prstGeom>
            <a:solidFill>
              <a:srgbClr val="FFF6F6"/>
            </a:solidFill>
            <a:ln w="17145">
              <a:solidFill>
                <a:srgbClr val="C00000"/>
              </a:solidFill>
            </a:ln>
          </p:spPr>
        </p:sp>
        <p:sp>
          <p:nvSpPr>
            <p:cNvPr id="35" name="TextBox 35"/>
            <p:cNvSpPr txBox="1"/>
            <p:nvPr>
              <p:custDataLst>
                <p:tags r:id="rId17"/>
              </p:custDataLst>
            </p:nvPr>
          </p:nvSpPr>
          <p:spPr>
            <a:xfrm>
              <a:off x="8279892" y="5083175"/>
              <a:ext cx="826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05 负载链</a:t>
              </a:r>
              <a:endParaRPr lang="zh-CN" sz="135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" name="TextBox 36"/>
            <p:cNvSpPr txBox="1"/>
            <p:nvPr>
              <p:custDataLst>
                <p:tags r:id="rId18"/>
              </p:custDataLst>
            </p:nvPr>
          </p:nvSpPr>
          <p:spPr>
            <a:xfrm>
              <a:off x="8280844" y="5327650"/>
              <a:ext cx="1972945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60" dirty="0">
                  <a:solidFill>
                    <a:srgbClr val="44444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lang="en-US" altLang="zh-CN" sz="1160" dirty="0">
                  <a:solidFill>
                    <a:srgbClr val="44444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.2</a:t>
              </a:r>
              <a:r>
                <a:rPr lang="zh-CN" sz="1160" dirty="0">
                  <a:solidFill>
                    <a:srgbClr val="44444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kΩ 等效负载 / 电极端验证</a:t>
              </a:r>
              <a:endParaRPr lang="zh-CN" sz="1160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7" name="Freeform 37"/>
            <p:cNvSpPr/>
            <p:nvPr>
              <p:custDataLst>
                <p:tags r:id="rId19"/>
              </p:custDataLst>
            </p:nvPr>
          </p:nvSpPr>
          <p:spPr>
            <a:xfrm>
              <a:off x="8096250" y="5600700"/>
              <a:ext cx="3505200" cy="209550"/>
            </a:xfrm>
            <a:custGeom>
              <a:avLst/>
              <a:gdLst/>
              <a:ahLst/>
              <a:cxnLst/>
              <a:rect l="l" t="t" r="r" b="b"/>
              <a:pathLst>
                <a:path w="3505200" h="209550">
                  <a:moveTo>
                    <a:pt x="3505200" y="0"/>
                  </a:moveTo>
                  <a:cubicBezTo>
                    <a:pt x="3505200" y="209550"/>
                    <a:pt x="0" y="209550"/>
                    <a:pt x="0" y="0"/>
                  </a:cubicBezTo>
                </a:path>
              </a:pathLst>
            </a:custGeom>
            <a:noFill/>
            <a:ln w="21908">
              <a:solidFill>
                <a:srgbClr val="C00000"/>
              </a:solidFill>
              <a:tailEnd type="triangle" w="lg" len="lg"/>
            </a:ln>
          </p:spPr>
        </p:sp>
      </p:grpSp>
      <p:grpSp>
        <p:nvGrpSpPr>
          <p:cNvPr id="42" name="conclusion"/>
          <p:cNvGrpSpPr/>
          <p:nvPr/>
        </p:nvGrpSpPr>
        <p:grpSpPr>
          <a:xfrm>
            <a:off x="190500" y="6124575"/>
            <a:ext cx="11772900" cy="504825"/>
            <a:chOff x="190500" y="6124575"/>
            <a:chExt cx="11772900" cy="504825"/>
          </a:xfrm>
        </p:grpSpPr>
        <p:sp>
          <p:nvSpPr>
            <p:cNvPr id="39" name="Rectangle 39"/>
            <p:cNvSpPr/>
            <p:nvPr/>
          </p:nvSpPr>
          <p:spPr>
            <a:xfrm>
              <a:off x="190500" y="6124575"/>
              <a:ext cx="11772900" cy="504825"/>
            </a:xfrm>
            <a:prstGeom prst="roundRect">
              <a:avLst>
                <a:gd name="adj" fmla="val 11321"/>
              </a:avLst>
            </a:prstGeom>
            <a:solidFill>
              <a:srgbClr val="F7FBFD"/>
            </a:solidFill>
            <a:ln w="19050">
              <a:solidFill>
                <a:srgbClr val="8FD3E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01574" y="6257925"/>
              <a:ext cx="10795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联调结论：</a:t>
              </a:r>
              <a:endParaRPr lang="zh-CN" sz="158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15999" y="6257925"/>
              <a:ext cx="570199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2A536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控制—输出—测量—交互链路全部接通，系统已形成可操作原型</a:t>
              </a:r>
              <a:endParaRPr lang="zh-CN" sz="1580" b="1" dirty="0">
                <a:solidFill>
                  <a:srgbClr val="2A53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71" name="图片 70" descr="灯泡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4930" y="45085"/>
            <a:ext cx="626745" cy="626745"/>
          </a:xfrm>
          <a:prstGeom prst="rect">
            <a:avLst/>
          </a:prstGeom>
        </p:spPr>
      </p:pic>
      <p:pic>
        <p:nvPicPr>
          <p:cNvPr id="3" name="Image 0" descr="logo_whit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954260" y="21590"/>
            <a:ext cx="2237740" cy="735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>
            <p:custDataLst>
              <p:tags r:id="rId1"/>
            </p:custDataLst>
          </p:nvPr>
        </p:nvGrpSpPr>
        <p:grpSpPr>
          <a:xfrm>
            <a:off x="631662" y="581211"/>
            <a:ext cx="8320783" cy="5611185"/>
            <a:chOff x="321552" y="699542"/>
            <a:chExt cx="5552566" cy="3744416"/>
          </a:xfrm>
        </p:grpSpPr>
        <p:sp>
          <p:nvSpPr>
            <p:cNvPr id="23" name="文本框 22"/>
            <p:cNvSpPr txBox="1"/>
            <p:nvPr/>
          </p:nvSpPr>
          <p:spPr>
            <a:xfrm>
              <a:off x="321552" y="834687"/>
              <a:ext cx="1308735" cy="3474085"/>
            </a:xfrm>
            <a:prstGeom prst="rect">
              <a:avLst/>
            </a:prstGeom>
            <a:noFill/>
          </p:spPr>
          <p:txBody>
            <a:bodyPr vert="eaVert" wrap="square" rtlCol="0">
              <a:noAutofit/>
            </a:bodyPr>
            <a:lstStyle/>
            <a:p>
              <a:pPr algn="ctr"/>
              <a:r>
                <a:rPr lang="en-US" altLang="zh-CN" sz="8800" b="1" kern="1900" spc="250" dirty="0">
                  <a:solidFill>
                    <a:srgbClr val="14326C">
                      <a:alpha val="61000"/>
                    </a:srgbClr>
                  </a:solidFill>
                  <a:latin typeface="Impact" panose="020B0806030902050204" pitchFamily="34" charset="0"/>
                  <a:ea typeface="微软雅黑" panose="020B0503020204020204" charset="-122"/>
                </a:rPr>
                <a:t>CONTENT</a:t>
              </a:r>
              <a:endParaRPr lang="en-US" altLang="zh-CN" sz="8800" b="1" kern="1900" spc="250" dirty="0">
                <a:solidFill>
                  <a:srgbClr val="14326C">
                    <a:alpha val="61000"/>
                  </a:srgbClr>
                </a:solidFill>
                <a:latin typeface="Impact" panose="020B0806030902050204" pitchFamily="34" charset="0"/>
                <a:ea typeface="微软雅黑" panose="020B0503020204020204" charset="-122"/>
              </a:endParaRPr>
            </a:p>
          </p:txBody>
        </p:sp>
        <p:cxnSp>
          <p:nvCxnSpPr>
            <p:cNvPr id="24" name="Straight Connector 3"/>
            <p:cNvCxnSpPr/>
            <p:nvPr/>
          </p:nvCxnSpPr>
          <p:spPr>
            <a:xfrm>
              <a:off x="2834392" y="699542"/>
              <a:ext cx="0" cy="3744416"/>
            </a:xfrm>
            <a:prstGeom prst="lin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</a:ln>
            <a:effectLst/>
          </p:spPr>
        </p:cxnSp>
        <p:grpSp>
          <p:nvGrpSpPr>
            <p:cNvPr id="25" name="组合 24"/>
            <p:cNvGrpSpPr/>
            <p:nvPr/>
          </p:nvGrpSpPr>
          <p:grpSpPr>
            <a:xfrm>
              <a:off x="3475243" y="958439"/>
              <a:ext cx="2256902" cy="488167"/>
              <a:chOff x="3475243" y="588538"/>
              <a:chExt cx="2256902" cy="488167"/>
            </a:xfrm>
          </p:grpSpPr>
          <p:sp>
            <p:nvSpPr>
              <p:cNvPr id="26" name="文本框 25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4421930" y="637915"/>
                <a:ext cx="1310215" cy="3894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3200" b="1" kern="0" spc="300" dirty="0">
                    <a:solidFill>
                      <a:prstClr val="black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项目简介</a:t>
                </a:r>
                <a:endParaRPr lang="zh-CN" altLang="en-US" sz="3200" b="1" kern="0" spc="300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7" name="矩形 26"/>
              <p:cNvSpPr/>
              <p:nvPr>
                <p:custDataLst>
                  <p:tags r:id="rId3"/>
                </p:custDataLst>
              </p:nvPr>
            </p:nvSpPr>
            <p:spPr>
              <a:xfrm>
                <a:off x="3475243" y="588538"/>
                <a:ext cx="720000" cy="488167"/>
              </a:xfrm>
              <a:prstGeom prst="rect">
                <a:avLst/>
              </a:prstGeom>
              <a:solidFill>
                <a:schemeClr val="tx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01</a:t>
                </a:r>
                <a:endParaRPr kumimoji="0" lang="zh-CN" altLang="en-US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29" name="文本框 28"/>
            <p:cNvSpPr txBox="1"/>
            <p:nvPr>
              <p:custDataLst>
                <p:tags r:id="rId4"/>
              </p:custDataLst>
            </p:nvPr>
          </p:nvSpPr>
          <p:spPr>
            <a:xfrm>
              <a:off x="4421911" y="3172175"/>
              <a:ext cx="206787" cy="3894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矩形 32"/>
            <p:cNvSpPr/>
            <p:nvPr>
              <p:custDataLst>
                <p:tags r:id="rId5"/>
              </p:custDataLst>
            </p:nvPr>
          </p:nvSpPr>
          <p:spPr>
            <a:xfrm>
              <a:off x="3475243" y="1820078"/>
              <a:ext cx="720000" cy="488167"/>
            </a:xfrm>
            <a:prstGeom prst="rect">
              <a:avLst/>
            </a:prstGeom>
            <a:solidFill>
              <a:schemeClr val="tx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02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文本框 34"/>
            <p:cNvSpPr txBox="1"/>
            <p:nvPr>
              <p:custDataLst>
                <p:tags r:id="rId6"/>
              </p:custDataLst>
            </p:nvPr>
          </p:nvSpPr>
          <p:spPr>
            <a:xfrm>
              <a:off x="4421833" y="3944579"/>
              <a:ext cx="206787" cy="3894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475243" y="1869875"/>
              <a:ext cx="2398875" cy="1300384"/>
              <a:chOff x="3475243" y="1452639"/>
              <a:chExt cx="2398875" cy="1300384"/>
            </a:xfrm>
          </p:grpSpPr>
          <p:sp>
            <p:nvSpPr>
              <p:cNvPr id="38" name="文本框 37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447355" y="1452639"/>
                <a:ext cx="1426763" cy="3894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3200" b="1" i="0" u="none" strike="noStrike" kern="0" cap="none" spc="3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rPr>
                  <a:t>基础与拓展功能实现</a:t>
                </a:r>
                <a:endParaRPr kumimoji="0" lang="zh-CN" altLang="en-US" sz="3200" b="1" i="0" u="none" strike="noStrike" kern="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9" name="矩形 38"/>
              <p:cNvSpPr/>
              <p:nvPr>
                <p:custDataLst>
                  <p:tags r:id="rId8"/>
                </p:custDataLst>
              </p:nvPr>
            </p:nvSpPr>
            <p:spPr>
              <a:xfrm>
                <a:off x="3475243" y="2264856"/>
                <a:ext cx="720000" cy="488167"/>
              </a:xfrm>
              <a:prstGeom prst="rect">
                <a:avLst/>
              </a:prstGeom>
              <a:solidFill>
                <a:schemeClr val="tx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03</a:t>
                </a:r>
                <a:endParaRPr kumimoji="0" lang="zh-CN" altLang="en-US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40" name="标题 1"/>
            <p:cNvSpPr txBox="1"/>
            <p:nvPr/>
          </p:nvSpPr>
          <p:spPr>
            <a:xfrm>
              <a:off x="1630244" y="2074565"/>
              <a:ext cx="723900" cy="857250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48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目</a:t>
              </a:r>
              <a:r>
                <a:rPr lang="en-US" altLang="zh-CN" sz="48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</a:t>
              </a:r>
              <a:r>
                <a:rPr lang="zh-CN" altLang="en-US" sz="48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录</a:t>
              </a:r>
              <a:endParaRPr lang="zh-CN" altLang="en-US" sz="4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>
            <p:custDataLst>
              <p:tags r:id="rId9"/>
            </p:custDataLst>
          </p:nvPr>
        </p:nvSpPr>
        <p:spPr>
          <a:xfrm>
            <a:off x="6776273" y="3626780"/>
            <a:ext cx="41833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软件创新与实验验证</a:t>
            </a:r>
            <a:endParaRPr kumimoji="0" lang="zh-CN" altLang="en-US" sz="3200" b="1" i="0" u="none" strike="noStrike" kern="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右箭头 3"/>
          <p:cNvSpPr/>
          <p:nvPr userDrawn="1"/>
        </p:nvSpPr>
        <p:spPr>
          <a:xfrm>
            <a:off x="4378447" y="4957981"/>
            <a:ext cx="979170" cy="485775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" name="矩形 2"/>
          <p:cNvSpPr/>
          <p:nvPr>
            <p:custDataLst>
              <p:tags r:id="rId10"/>
            </p:custDataLst>
          </p:nvPr>
        </p:nvSpPr>
        <p:spPr>
          <a:xfrm>
            <a:off x="5357617" y="4843746"/>
            <a:ext cx="1078954" cy="731541"/>
          </a:xfrm>
          <a:prstGeom prst="rect">
            <a:avLst/>
          </a:prstGeom>
          <a:solidFill>
            <a:schemeClr val="tx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04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/>
          <p:cNvSpPr txBox="1"/>
          <p:nvPr>
            <p:custDataLst>
              <p:tags r:id="rId11"/>
            </p:custDataLst>
          </p:nvPr>
        </p:nvSpPr>
        <p:spPr>
          <a:xfrm>
            <a:off x="6814373" y="4918370"/>
            <a:ext cx="24053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总结与体会</a:t>
            </a:r>
            <a:endParaRPr kumimoji="0" lang="zh-CN" altLang="en-US" sz="3200" b="1" i="0" u="none" strike="noStrike" kern="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635"/>
            <a:ext cx="12192000" cy="756920"/>
          </a:xfrm>
          <a:prstGeom prst="rect">
            <a:avLst/>
          </a:prstGeom>
          <a:solidFill>
            <a:schemeClr val="tx2"/>
          </a:solidFill>
          <a:ln>
            <a:solidFill>
              <a:srgbClr val="0070C0"/>
            </a:solidFill>
          </a:ln>
        </p:spPr>
        <p:txBody>
          <a:bodyPr wrap="square" anchor="ctr" anchorCtr="0">
            <a:noAutofit/>
          </a:bodyPr>
          <a:lstStyle/>
          <a:p>
            <a:pPr algn="ctr"/>
            <a:endParaRPr lang="en-US" altLang="zh-CN" sz="2000" b="1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5" name="图片 24" descr="两个人-头像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275" y="142875"/>
            <a:ext cx="574040" cy="574040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692973" y="133645"/>
            <a:ext cx="298323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300" normalizeH="0" baseline="0" noProof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04</a:t>
            </a:r>
            <a:r>
              <a:rPr kumimoji="0" lang="zh-CN" altLang="en-US" sz="3200" b="1" i="0" u="none" strike="noStrike" kern="0" cap="none" spc="300" normalizeH="0" baseline="0" noProof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总结与体会</a:t>
            </a:r>
            <a:endParaRPr kumimoji="0" lang="zh-CN" altLang="en-US" sz="3200" b="1" i="0" u="none" strike="noStrike" kern="0" cap="none" spc="300" normalizeH="0" baseline="0" noProof="0" dirty="0">
              <a:ln>
                <a:noFill/>
              </a:ln>
              <a:solidFill>
                <a:schemeClr val="accent5">
                  <a:lumMod val="20000"/>
                  <a:lumOff val="8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57555"/>
            <a:ext cx="29406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altLang="en-US" sz="2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项目成员详细分工</a:t>
            </a:r>
            <a:endParaRPr lang="zh-CN" altLang="en-US" sz="2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438150" y="1401445"/>
          <a:ext cx="10394950" cy="4551680"/>
        </p:xfrm>
        <a:graphic>
          <a:graphicData uri="http://schemas.openxmlformats.org/drawingml/2006/table">
            <a:tbl>
              <a:tblPr/>
              <a:tblGrid>
                <a:gridCol w="2180590"/>
                <a:gridCol w="1424305"/>
                <a:gridCol w="6790055"/>
              </a:tblGrid>
              <a:tr h="77406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endParaRPr lang="en-US" sz="1800" b="1" dirty="0">
                        <a:solidFill>
                          <a:srgbClr val="FFFFFF"/>
                        </a:solidFill>
                        <a:latin typeface="华康行楷体 W5" panose="03000509000000000000" charset="-122"/>
                        <a:ea typeface="华康行楷体 W5" panose="03000509000000000000" charset="-122"/>
                        <a:cs typeface="华康行楷体 W5" panose="03000509000000000000" charset="-122"/>
                      </a:endParaRPr>
                    </a:p>
                  </a:txBody>
                  <a:tcPr marL="31750" marR="31750" marT="31750" marB="31750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endParaRPr lang="zh-CN" altLang="en-US" sz="1800" b="1" dirty="0">
                        <a:solidFill>
                          <a:srgbClr val="FFFFFF"/>
                        </a:solidFill>
                        <a:latin typeface="华康行楷体 W5" panose="03000509000000000000" charset="-122"/>
                        <a:ea typeface="华康行楷体 W5" panose="03000509000000000000" charset="-122"/>
                        <a:cs typeface="华康行楷体 W5" panose="03000509000000000000" charset="-122"/>
                      </a:endParaRPr>
                    </a:p>
                  </a:txBody>
                  <a:tcPr marL="31750" marR="31750" marT="31750" marB="31750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endParaRPr lang="en-US" sz="1800" b="1" dirty="0">
                        <a:solidFill>
                          <a:srgbClr val="FFFFFF"/>
                        </a:solidFill>
                        <a:latin typeface="华康行楷体 W5" panose="03000509000000000000" charset="-122"/>
                        <a:ea typeface="华康行楷体 W5" panose="03000509000000000000" charset="-122"/>
                        <a:cs typeface="华康行楷体 W5" panose="03000509000000000000" charset="-122"/>
                      </a:endParaRPr>
                    </a:p>
                  </a:txBody>
                  <a:tcPr marL="31750" marR="31750" marT="31750" marB="31750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9C"/>
                    </a:solidFill>
                  </a:tcPr>
                </a:tc>
              </a:tr>
              <a:tr h="91249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1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Calibri" panose="020F0502020204030204" charset="0"/>
                        </a:rPr>
                        <a:t>何思君</a:t>
                      </a:r>
                      <a:r>
                        <a:rPr lang="en-US" altLang="zh-CN" sz="16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Calibri" panose="020F0502020204030204" charset="0"/>
                        </a:rPr>
                        <a:t>(032430128)</a:t>
                      </a:r>
                      <a:endParaRPr lang="en-US" altLang="zh-CN" sz="1600" b="1" dirty="0">
                        <a:solidFill>
                          <a:srgbClr val="0912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Calibri" panose="020F0502020204030204" charset="0"/>
                      </a:endParaRPr>
                    </a:p>
                  </a:txBody>
                  <a:tcPr marL="31750" marR="31750" marT="31750" marB="31750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1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华康行楷体 W5" panose="03000509000000000000" charset="-122"/>
                        </a:rPr>
                        <a:t>项目组长</a:t>
                      </a:r>
                      <a:endParaRPr lang="zh-CN" altLang="en-US" sz="1600" b="1" dirty="0">
                        <a:solidFill>
                          <a:srgbClr val="0912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华康行楷体 W5" panose="03000509000000000000" charset="-122"/>
                      </a:endParaRPr>
                    </a:p>
                  </a:txBody>
                  <a:tcPr marL="31750" marR="31750" marT="31750" marB="31750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华康行楷体 W5" panose="03000509000000000000" charset="-122"/>
                        </a:rPr>
                        <a:t>统筹电刺激仪整体方案</a:t>
                      </a:r>
                      <a:r>
                        <a:rPr lang="zh-CN" altLang="en-US" sz="14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华康行楷体 W5" panose="03000509000000000000" charset="-122"/>
                        </a:rPr>
                        <a:t>，明确治疗目标、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华康行楷体 W5" panose="03000509000000000000" charset="-122"/>
                        </a:rPr>
                        <a:t>波形参数</a:t>
                      </a:r>
                      <a:r>
                        <a:rPr lang="zh-CN" altLang="en-US" sz="14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华康行楷体 W5" panose="03000509000000000000" charset="-122"/>
                        </a:rPr>
                        <a:t>与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华康行楷体 W5" panose="03000509000000000000" charset="-122"/>
                        </a:rPr>
                        <a:t>安全边界</a:t>
                      </a:r>
                      <a:r>
                        <a:rPr lang="zh-CN" altLang="en-US" sz="14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华康行楷体 W5" panose="03000509000000000000" charset="-122"/>
                        </a:rPr>
                        <a:t>。协调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华康行楷体 W5" panose="03000509000000000000" charset="-122"/>
                        </a:rPr>
                        <a:t>硬件、软件、工艺接口，推进人机交互、电源与治疗流程验证</a:t>
                      </a:r>
                      <a:r>
                        <a:rPr lang="zh-CN" altLang="en-US" sz="14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华康行楷体 W5" panose="03000509000000000000" charset="-122"/>
                        </a:rPr>
                        <a:t>。把控进度、风险与文档，组织完整治疗流程测试。</a:t>
                      </a:r>
                      <a:endParaRPr lang="zh-CN" altLang="en-US" sz="1400" b="1" dirty="0">
                        <a:solidFill>
                          <a:srgbClr val="0912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华康行楷体 W5" panose="03000509000000000000" charset="-122"/>
                      </a:endParaRPr>
                    </a:p>
                  </a:txBody>
                  <a:tcPr marL="31750" marR="31750" marT="31750" marB="31750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10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1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Calibri" panose="020F0502020204030204" charset="0"/>
                        </a:rPr>
                        <a:t>高申</a:t>
                      </a:r>
                      <a:r>
                        <a:rPr lang="en-US" altLang="zh-CN" sz="16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Calibri" panose="020F0502020204030204" charset="0"/>
                        </a:rPr>
                        <a:t>(032430125)</a:t>
                      </a:r>
                      <a:endParaRPr lang="en-US" altLang="zh-CN" sz="1600" b="1" dirty="0">
                        <a:solidFill>
                          <a:srgbClr val="0912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Calibri" panose="020F0502020204030204" charset="0"/>
                      </a:endParaRPr>
                    </a:p>
                  </a:txBody>
                  <a:tcPr marL="31750" marR="31750" marT="31750" marB="31750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1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华康行楷体 W5" panose="03000509000000000000" charset="-122"/>
                        </a:rPr>
                        <a:t>软件工程师</a:t>
                      </a:r>
                      <a:endParaRPr lang="zh-CN" altLang="en-US" sz="1600" b="1" dirty="0">
                        <a:solidFill>
                          <a:srgbClr val="0912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华康行楷体 W5" panose="03000509000000000000" charset="-122"/>
                      </a:endParaRPr>
                    </a:p>
                  </a:txBody>
                  <a:tcPr marL="31750" marR="31750" marT="31750" marB="31750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4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基于</a:t>
                      </a: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MCU</a:t>
                      </a:r>
                      <a:r>
                        <a:rPr lang="zh-CN" altLang="en-US" sz="14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实现治疗波形生成、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参数调节</a:t>
                      </a:r>
                      <a:r>
                        <a:rPr lang="zh-CN" altLang="en-US" sz="14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定时控制</a:t>
                      </a:r>
                      <a:r>
                        <a:rPr lang="zh-CN" altLang="en-US" sz="14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。开发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人机交互界面</a:t>
                      </a:r>
                      <a:r>
                        <a:rPr lang="zh-CN" altLang="en-US" sz="14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，管理治疗流程、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状态监测</a:t>
                      </a:r>
                      <a:r>
                        <a:rPr lang="zh-CN" altLang="en-US" sz="14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故障报警</a:t>
                      </a:r>
                      <a:r>
                        <a:rPr lang="zh-CN" altLang="en-US" sz="14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。配合硬件完成闭环测试，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记录数据</a:t>
                      </a:r>
                      <a:r>
                        <a:rPr lang="zh-CN" altLang="en-US" sz="14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并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优化输出效果</a:t>
                      </a:r>
                      <a:r>
                        <a:rPr lang="zh-CN" altLang="en-US" sz="14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lang="zh-CN" altLang="en-US" sz="1400" b="1" dirty="0">
                        <a:solidFill>
                          <a:srgbClr val="0912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1750" marR="31750" marT="31750" marB="31750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424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1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Calibri" panose="020F0502020204030204" charset="0"/>
                        </a:rPr>
                        <a:t>黄诗宸</a:t>
                      </a:r>
                      <a:r>
                        <a:rPr lang="en-US" altLang="zh-CN" sz="16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Calibri" panose="020F0502020204030204" charset="0"/>
                        </a:rPr>
                        <a:t>(032430126)</a:t>
                      </a:r>
                      <a:endParaRPr lang="en-US" altLang="zh-CN" sz="1600" b="1" dirty="0">
                        <a:solidFill>
                          <a:srgbClr val="0912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Calibri" panose="020F0502020204030204" charset="0"/>
                      </a:endParaRPr>
                    </a:p>
                  </a:txBody>
                  <a:tcPr marL="31750" marR="31750" marT="31750" marB="31750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1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华康行楷体 W5" panose="03000509000000000000" charset="-122"/>
                        </a:rPr>
                        <a:t>硬件工程师</a:t>
                      </a:r>
                      <a:endParaRPr lang="zh-CN" altLang="en-US" sz="1600" b="1" dirty="0">
                        <a:solidFill>
                          <a:srgbClr val="0912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华康行楷体 W5" panose="03000509000000000000" charset="-122"/>
                      </a:endParaRPr>
                    </a:p>
                  </a:txBody>
                  <a:tcPr marL="31750" marR="31750" marT="31750" marB="31750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3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设计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等比例电压转电流电路</a:t>
                      </a:r>
                      <a:r>
                        <a:rPr lang="zh-CN" altLang="en-US" sz="14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、电源系统与电极接口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负责人体安全电流/电压范围限制、过流保护和信号采集抗干扰</a:t>
                      </a:r>
                      <a:r>
                        <a:rPr lang="zh-CN" altLang="en-US" sz="14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。配合软件联调，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验证波形输出精度</a:t>
                      </a:r>
                      <a:r>
                        <a:rPr lang="zh-CN" altLang="en-US" sz="14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电刺激安全性</a:t>
                      </a:r>
                      <a:r>
                        <a:rPr lang="zh-CN" altLang="en-US" sz="14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lang="zh-CN" altLang="en-US" sz="1400" b="1" dirty="0">
                        <a:solidFill>
                          <a:srgbClr val="0912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1750" marR="31750" marT="31750" marB="31750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979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1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Calibri" panose="020F0502020204030204" charset="0"/>
                        </a:rPr>
                        <a:t>苏波汗</a:t>
                      </a:r>
                      <a:r>
                        <a:rPr lang="en-US" altLang="zh-CN" sz="16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Calibri" panose="020F0502020204030204" charset="0"/>
                        </a:rPr>
                        <a:t>(032430127)</a:t>
                      </a:r>
                      <a:endParaRPr lang="en-US" altLang="zh-CN" sz="1600" b="1" dirty="0">
                        <a:solidFill>
                          <a:srgbClr val="0912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Calibri" panose="020F0502020204030204" charset="0"/>
                      </a:endParaRPr>
                    </a:p>
                  </a:txBody>
                  <a:tcPr marL="31750" marR="31750" marT="31750" marB="31750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1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华康行楷体 W5" panose="03000509000000000000" charset="-122"/>
                        </a:rPr>
                        <a:t>工艺工程师</a:t>
                      </a:r>
                      <a:endParaRPr lang="zh-CN" altLang="en-US" sz="1600" b="1" dirty="0">
                        <a:solidFill>
                          <a:srgbClr val="0912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华康行楷体 W5" panose="03000509000000000000" charset="-122"/>
                      </a:endParaRPr>
                    </a:p>
                  </a:txBody>
                  <a:tcPr marL="31750" marR="31750" marT="31750" marB="31750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华康行楷体 W5" panose="03000509000000000000" charset="-122"/>
                        </a:rPr>
                        <a:t>负责整机结构、电极装配、绝缘与防误触工艺设计</a:t>
                      </a:r>
                      <a:r>
                        <a:rPr lang="zh-CN" altLang="en-US" sz="14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华康行楷体 W5" panose="03000509000000000000" charset="-122"/>
                        </a:rPr>
                        <a:t>。制定装配流程、测试工装与一致性检验标准。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华康行楷体 W5" panose="03000509000000000000" charset="-122"/>
                        </a:rPr>
                        <a:t>参与治疗流程验证</a:t>
                      </a:r>
                      <a:r>
                        <a:rPr lang="zh-CN" altLang="en-US" sz="1400" b="1" dirty="0">
                          <a:solidFill>
                            <a:srgbClr val="0912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华康行楷体 W5" panose="03000509000000000000" charset="-122"/>
                        </a:rPr>
                        <a:t>，保障可制造性、可靠性与安全性。</a:t>
                      </a:r>
                      <a:endParaRPr lang="zh-CN" altLang="en-US" sz="1400" b="1" dirty="0">
                        <a:solidFill>
                          <a:srgbClr val="0912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华康行楷体 W5" panose="03000509000000000000" charset="-122"/>
                      </a:endParaRPr>
                    </a:p>
                  </a:txBody>
                  <a:tcPr marL="31750" marR="31750" marT="31750" marB="31750">
                    <a:lnL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4260" y="21590"/>
            <a:ext cx="2237740" cy="735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source-artifact-receipts"/>
          <p:cNvGrpSpPr/>
          <p:nvPr/>
        </p:nvGrpSpPr>
        <p:grpSpPr>
          <a:xfrm>
            <a:off x="76200" y="6762750"/>
            <a:ext cx="1162050" cy="19050"/>
            <a:chOff x="76200" y="6762750"/>
            <a:chExt cx="1162050" cy="19050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6200" y="6762750"/>
              <a:ext cx="19050" cy="19050"/>
            </a:xfrm>
            <a:prstGeom prst="rect">
              <a:avLst/>
            </a:prstGeom>
          </p:spPr>
        </p:pic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6769849"/>
              <a:ext cx="19050" cy="4852"/>
            </a:xfrm>
            <a:prstGeom prst="rect">
              <a:avLst/>
            </a:prstGeom>
          </p:spPr>
        </p:pic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47700" y="6762750"/>
              <a:ext cx="19050" cy="19050"/>
            </a:xfrm>
            <a:prstGeom prst="rect">
              <a:avLst/>
            </a:prstGeom>
          </p:spPr>
        </p:pic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3450" y="6762750"/>
              <a:ext cx="19050" cy="19050"/>
            </a:xfrm>
            <a:prstGeom prst="rect">
              <a:avLst/>
            </a:prstGeom>
          </p:spPr>
        </p:pic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19200" y="6762750"/>
              <a:ext cx="19050" cy="19050"/>
            </a:xfrm>
            <a:prstGeom prst="rect">
              <a:avLst/>
            </a:prstGeom>
          </p:spPr>
        </p:pic>
      </p:grpSp>
      <p:sp>
        <p:nvSpPr>
          <p:cNvPr id="37" name="矩形 36"/>
          <p:cNvSpPr/>
          <p:nvPr/>
        </p:nvSpPr>
        <p:spPr>
          <a:xfrm>
            <a:off x="0" y="635"/>
            <a:ext cx="12192000" cy="756920"/>
          </a:xfrm>
          <a:prstGeom prst="rect">
            <a:avLst/>
          </a:prstGeom>
          <a:solidFill>
            <a:schemeClr val="tx2"/>
          </a:solidFill>
          <a:ln>
            <a:solidFill>
              <a:srgbClr val="0070C0"/>
            </a:solidFill>
          </a:ln>
        </p:spPr>
        <p:txBody>
          <a:bodyPr wrap="square" anchor="ctr" anchorCtr="0">
            <a:noAutofit/>
          </a:bodyPr>
          <a:lstStyle/>
          <a:p>
            <a:pPr algn="ctr"/>
            <a:endParaRPr lang="en-US" altLang="zh-CN" sz="2000" b="1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5" name="图片 24" descr="两个人-头像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275" y="142875"/>
            <a:ext cx="574040" cy="574040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692973" y="133645"/>
            <a:ext cx="298323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300" normalizeH="0" baseline="0" noProof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04</a:t>
            </a:r>
            <a:r>
              <a:rPr kumimoji="0" lang="zh-CN" altLang="en-US" sz="3200" b="1" i="0" u="none" strike="noStrike" kern="0" cap="none" spc="300" normalizeH="0" baseline="0" noProof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总结与体会</a:t>
            </a:r>
            <a:endParaRPr kumimoji="0" lang="zh-CN" altLang="en-US" sz="3200" b="1" i="0" u="none" strike="noStrike" kern="0" cap="none" spc="300" normalizeH="0" baseline="0" noProof="0" dirty="0">
              <a:ln>
                <a:noFill/>
              </a:ln>
              <a:solidFill>
                <a:schemeClr val="accent5">
                  <a:lumMod val="20000"/>
                  <a:lumOff val="8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57555"/>
            <a:ext cx="21850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altLang="en-US" sz="2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功能实现</a:t>
            </a:r>
            <a:endParaRPr lang="en-US" altLang="zh-CN" sz="20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8" name="矩形: 圆角 39"/>
          <p:cNvSpPr/>
          <p:nvPr>
            <p:custDataLst>
              <p:tags r:id="rId7"/>
            </p:custDataLst>
          </p:nvPr>
        </p:nvSpPr>
        <p:spPr>
          <a:xfrm>
            <a:off x="0" y="1196975"/>
            <a:ext cx="5058410" cy="5507355"/>
          </a:xfrm>
          <a:prstGeom prst="roundRect">
            <a:avLst>
              <a:gd name="adj" fmla="val 5160"/>
            </a:avLst>
          </a:prstGeom>
          <a:noFill/>
          <a:ln w="19050">
            <a:solidFill>
              <a:schemeClr val="tx2">
                <a:alpha val="8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DEEBF7">
                    <a:alpha val="3000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2795" y="1354455"/>
            <a:ext cx="3797935" cy="5207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altLang="en-US" sz="1600" b="1">
                <a:solidFill>
                  <a:schemeClr val="tx2"/>
                </a:solidFill>
                <a:sym typeface="+mn-ea"/>
              </a:rPr>
              <a:t>1. 基本要求</a:t>
            </a:r>
            <a:endParaRPr lang="zh-CN" altLang="en-US" sz="1600" b="1">
              <a:solidFill>
                <a:schemeClr val="tx2"/>
              </a:solidFill>
            </a:endParaRPr>
          </a:p>
          <a:p>
            <a:r>
              <a:rPr altLang="en-US" sz="1600" b="1">
                <a:solidFill>
                  <a:schemeClr val="tx2"/>
                </a:solidFill>
                <a:sym typeface="+mn-ea"/>
              </a:rPr>
              <a:t>（1）设计并实现一种有明确医疗意义的刺激波形，并可以实际验证；</a:t>
            </a:r>
            <a:endParaRPr lang="zh-CN" altLang="en-US" sz="1600" b="1">
              <a:solidFill>
                <a:schemeClr val="tx2"/>
              </a:solidFill>
            </a:endParaRPr>
          </a:p>
          <a:p>
            <a:r>
              <a:rPr altLang="en-US" sz="1600" b="1">
                <a:solidFill>
                  <a:schemeClr val="tx2"/>
                </a:solidFill>
                <a:sym typeface="+mn-ea"/>
              </a:rPr>
              <a:t>（2）恒流输出：固定负载电阻2</a:t>
            </a:r>
            <a:r>
              <a:rPr lang="en-US" altLang="zh-CN" sz="1600" b="1">
                <a:solidFill>
                  <a:schemeClr val="tx2"/>
                </a:solidFill>
                <a:sym typeface="+mn-ea"/>
              </a:rPr>
              <a:t>kΩ，</a:t>
            </a:r>
            <a:r>
              <a:rPr altLang="en-US" sz="1600" b="1">
                <a:solidFill>
                  <a:schemeClr val="tx2"/>
                </a:solidFill>
                <a:sym typeface="+mn-ea"/>
              </a:rPr>
              <a:t>输出0～10</a:t>
            </a:r>
            <a:r>
              <a:rPr lang="en-US" altLang="zh-CN" sz="1600" b="1">
                <a:solidFill>
                  <a:schemeClr val="tx2"/>
                </a:solidFill>
                <a:sym typeface="+mn-ea"/>
              </a:rPr>
              <a:t>mA，</a:t>
            </a:r>
            <a:r>
              <a:rPr altLang="en-US" sz="1600" b="1">
                <a:solidFill>
                  <a:schemeClr val="tx2"/>
                </a:solidFill>
                <a:sym typeface="+mn-ea"/>
              </a:rPr>
              <a:t>连续可调，步进≤1</a:t>
            </a:r>
            <a:r>
              <a:rPr lang="en-US" altLang="zh-CN" sz="1600" b="1">
                <a:solidFill>
                  <a:schemeClr val="tx2"/>
                </a:solidFill>
                <a:sym typeface="+mn-ea"/>
              </a:rPr>
              <a:t>mA，</a:t>
            </a:r>
            <a:r>
              <a:rPr altLang="en-US" sz="1600" b="1">
                <a:solidFill>
                  <a:schemeClr val="tx2"/>
                </a:solidFill>
                <a:sym typeface="+mn-ea"/>
              </a:rPr>
              <a:t>精度</a:t>
            </a:r>
            <a:endParaRPr lang="zh-CN" altLang="en-US" sz="1600" b="1">
              <a:solidFill>
                <a:schemeClr val="tx2"/>
              </a:solidFill>
            </a:endParaRPr>
          </a:p>
          <a:p>
            <a:r>
              <a:rPr lang="en-US" altLang="zh-CN" sz="1600" b="1">
                <a:solidFill>
                  <a:schemeClr val="tx2"/>
                </a:solidFill>
                <a:sym typeface="+mn-ea"/>
              </a:rPr>
              <a:t>≤±5%；</a:t>
            </a:r>
            <a:endParaRPr lang="en-US" altLang="zh-CN" sz="1600" b="1">
              <a:solidFill>
                <a:schemeClr val="tx2"/>
              </a:solidFill>
            </a:endParaRPr>
          </a:p>
          <a:p>
            <a:r>
              <a:rPr altLang="en-US" sz="1600" b="1">
                <a:solidFill>
                  <a:schemeClr val="tx2"/>
                </a:solidFill>
                <a:sym typeface="+mn-ea"/>
              </a:rPr>
              <a:t>（3）可以输出指数衰减波：时间常数可调，频率可调；</a:t>
            </a:r>
            <a:endParaRPr lang="zh-CN" altLang="en-US" sz="1600" b="1">
              <a:solidFill>
                <a:schemeClr val="tx2"/>
              </a:solidFill>
            </a:endParaRPr>
          </a:p>
          <a:p>
            <a:r>
              <a:rPr altLang="en-US" sz="1600" b="1">
                <a:solidFill>
                  <a:schemeClr val="tx2"/>
                </a:solidFill>
                <a:sym typeface="+mn-ea"/>
              </a:rPr>
              <a:t>（4）人机控制：触屏操作，显示当前模式、频率、脉宽、电流幅度、波形。</a:t>
            </a:r>
            <a:endParaRPr lang="zh-CN" altLang="en-US" sz="1600" b="1">
              <a:solidFill>
                <a:schemeClr val="tx2"/>
              </a:solidFill>
            </a:endParaRPr>
          </a:p>
          <a:p>
            <a:r>
              <a:rPr altLang="en-US" sz="1600" b="1">
                <a:solidFill>
                  <a:schemeClr val="tx2"/>
                </a:solidFill>
                <a:sym typeface="+mn-ea"/>
              </a:rPr>
              <a:t>2. 发挥部分</a:t>
            </a:r>
            <a:endParaRPr lang="zh-CN" altLang="en-US" sz="1600" b="1">
              <a:solidFill>
                <a:schemeClr val="tx2"/>
              </a:solidFill>
            </a:endParaRPr>
          </a:p>
          <a:p>
            <a:r>
              <a:rPr altLang="en-US" sz="1600" b="1">
                <a:solidFill>
                  <a:schemeClr val="tx2"/>
                </a:solidFill>
                <a:sym typeface="+mn-ea"/>
              </a:rPr>
              <a:t>（1）可以输出带直偏的对称双向方波：频率可调，脉宽可调。；</a:t>
            </a:r>
            <a:endParaRPr lang="zh-CN" altLang="en-US" sz="1600" b="1">
              <a:solidFill>
                <a:schemeClr val="tx2"/>
              </a:solidFill>
            </a:endParaRPr>
          </a:p>
          <a:p>
            <a:r>
              <a:rPr altLang="en-US" sz="1600" b="1">
                <a:solidFill>
                  <a:schemeClr val="tx2"/>
                </a:solidFill>
                <a:sym typeface="+mn-ea"/>
              </a:rPr>
              <a:t>（2）实现负载自动阻抗检测；</a:t>
            </a:r>
            <a:endParaRPr lang="zh-CN" altLang="en-US" sz="1600" b="1">
              <a:solidFill>
                <a:schemeClr val="tx2"/>
              </a:solidFill>
            </a:endParaRPr>
          </a:p>
          <a:p>
            <a:r>
              <a:rPr altLang="en-US" sz="1600" b="1">
                <a:solidFill>
                  <a:schemeClr val="tx2"/>
                </a:solidFill>
                <a:sym typeface="+mn-ea"/>
              </a:rPr>
              <a:t>（3）可以通过无线模块，实现治疗方案管理与执行；</a:t>
            </a:r>
            <a:endParaRPr lang="zh-CN" altLang="en-US" sz="1600" b="1">
              <a:solidFill>
                <a:schemeClr val="tx2"/>
              </a:solidFill>
            </a:endParaRPr>
          </a:p>
          <a:p>
            <a:pPr algn="l" defTabSz="266700"/>
            <a:r>
              <a:rPr altLang="en-US" sz="1600" b="1">
                <a:solidFill>
                  <a:schemeClr val="tx2"/>
                </a:solidFill>
                <a:sym typeface="+mn-ea"/>
              </a:rPr>
              <a:t>（4）利用无线模块设计了网站，通过蓝牙实现对</a:t>
            </a:r>
            <a:r>
              <a:rPr altLang="en-US" sz="16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方案选择、加减电流、急停等功能实现</a:t>
            </a:r>
            <a:endParaRPr altLang="en-US" sz="16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altLang="en-US" sz="16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Text 9"/>
          <p:cNvSpPr txBox="1"/>
          <p:nvPr>
            <p:custDataLst>
              <p:tags r:id="rId8"/>
            </p:custDataLst>
          </p:nvPr>
        </p:nvSpPr>
        <p:spPr>
          <a:xfrm>
            <a:off x="250190" y="1624330"/>
            <a:ext cx="365125" cy="35560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9"/>
          <p:cNvSpPr txBox="1"/>
          <p:nvPr>
            <p:custDataLst>
              <p:tags r:id="rId9"/>
            </p:custDataLst>
          </p:nvPr>
        </p:nvSpPr>
        <p:spPr>
          <a:xfrm>
            <a:off x="250190" y="2270125"/>
            <a:ext cx="365125" cy="35560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9"/>
          <p:cNvSpPr txBox="1"/>
          <p:nvPr>
            <p:custDataLst>
              <p:tags r:id="rId10"/>
            </p:custDataLst>
          </p:nvPr>
        </p:nvSpPr>
        <p:spPr>
          <a:xfrm>
            <a:off x="250190" y="3073400"/>
            <a:ext cx="365125" cy="35560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9"/>
          <p:cNvSpPr txBox="1"/>
          <p:nvPr>
            <p:custDataLst>
              <p:tags r:id="rId11"/>
            </p:custDataLst>
          </p:nvPr>
        </p:nvSpPr>
        <p:spPr>
          <a:xfrm>
            <a:off x="250190" y="3785235"/>
            <a:ext cx="365125" cy="35560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9"/>
          <p:cNvSpPr txBox="1"/>
          <p:nvPr>
            <p:custDataLst>
              <p:tags r:id="rId12"/>
            </p:custDataLst>
          </p:nvPr>
        </p:nvSpPr>
        <p:spPr>
          <a:xfrm>
            <a:off x="250190" y="4432935"/>
            <a:ext cx="365125" cy="35560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9"/>
          <p:cNvSpPr txBox="1"/>
          <p:nvPr>
            <p:custDataLst>
              <p:tags r:id="rId13"/>
            </p:custDataLst>
          </p:nvPr>
        </p:nvSpPr>
        <p:spPr>
          <a:xfrm>
            <a:off x="250190" y="5135880"/>
            <a:ext cx="365125" cy="35560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 txBox="1"/>
          <p:nvPr>
            <p:custDataLst>
              <p:tags r:id="rId14"/>
            </p:custDataLst>
          </p:nvPr>
        </p:nvSpPr>
        <p:spPr>
          <a:xfrm>
            <a:off x="250190" y="5838825"/>
            <a:ext cx="365125" cy="35560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✓</a:t>
            </a:r>
            <a:endParaRPr lang="en-US" sz="1200" dirty="0"/>
          </a:p>
        </p:txBody>
      </p:sp>
      <p:pic>
        <p:nvPicPr>
          <p:cNvPr id="12" name="Image 0" descr="logo_whi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54260" y="21590"/>
            <a:ext cx="2237740" cy="73596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111240" y="1699895"/>
            <a:ext cx="5080000" cy="4121150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2000" b="1" i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①软硬结合，跨越鸿沟</a:t>
            </a:r>
            <a:endParaRPr lang="zh-CN" altLang="en-US" sz="2000" b="1" i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1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图纸完美≠实物跑通，深刻体会电压转电流与程序波形的强耦合。</a:t>
            </a:r>
            <a:endParaRPr lang="zh-CN" altLang="en-US" sz="1600" b="1" i="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2000" b="1" i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②分模块排查，提升排错力</a:t>
            </a:r>
            <a:endParaRPr lang="zh-CN" altLang="en-US" sz="2000" b="1" i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1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从“波形不对”到“冷静分析”，学会用示波器定位电流与治疗参数问题。</a:t>
            </a:r>
            <a:endParaRPr lang="zh-CN" altLang="en-US" sz="1600" b="1" i="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2000" b="1" i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③高效沟通，团队协作</a:t>
            </a:r>
            <a:endParaRPr lang="zh-CN" altLang="en-US" sz="2000" b="1" i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1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硬件、程序、测试分工明确，在安全与疗效瓶颈中学会妥协、合作与共进。</a:t>
            </a:r>
            <a:endParaRPr lang="zh-CN" altLang="en-US" sz="1600" b="1" i="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2000" b="1" i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④提升工程自信与能力</a:t>
            </a:r>
            <a:endParaRPr lang="zh-CN" altLang="en-US" sz="2000" b="1" i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1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从零散元件到电刺激仪，收获的不仅是代码，更是解决医疗工程问题的能力。</a:t>
            </a:r>
            <a:endParaRPr lang="zh-CN" altLang="en-US" sz="1600" b="1" i="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endParaRPr lang="en-US" altLang="zh-CN" sz="1600" b="0" i="0">
              <a:solidFill>
                <a:srgbClr val="0F1115"/>
              </a:solidFill>
              <a:latin typeface="quote-cjk-patch"/>
              <a:ea typeface="quote-cjk-patch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endParaRPr altLang="en-US" sz="1600" b="0" i="0"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  <p:sp>
        <p:nvSpPr>
          <p:cNvPr id="14" name="矩形: 圆角 39"/>
          <p:cNvSpPr/>
          <p:nvPr>
            <p:custDataLst>
              <p:tags r:id="rId16"/>
            </p:custDataLst>
          </p:nvPr>
        </p:nvSpPr>
        <p:spPr>
          <a:xfrm>
            <a:off x="6111240" y="1699895"/>
            <a:ext cx="5058410" cy="4216400"/>
          </a:xfrm>
          <a:prstGeom prst="roundRect">
            <a:avLst>
              <a:gd name="adj" fmla="val 5160"/>
            </a:avLst>
          </a:prstGeom>
          <a:noFill/>
          <a:ln w="19050">
            <a:solidFill>
              <a:schemeClr val="tx2">
                <a:alpha val="8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DEEBF7">
                    <a:alpha val="3000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-49530" y="-1460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143000"/>
                </a:moveTo>
                <a:lnTo>
                  <a:pt x="12192000" y="1143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16000"/>
            </a:srgbClr>
          </a:solidFill>
          <a:ln w="9525">
            <a:solidFill>
              <a:schemeClr val="accent6">
                <a:alpha val="16000"/>
              </a:schemeClr>
            </a:solidFill>
          </a:ln>
        </p:spPr>
        <p:txBody>
          <a:bodyPr/>
          <a:lstStyle/>
          <a:p>
            <a:r>
              <a:rPr altLang="en-US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智能医疗实践项目结题答辩</a:t>
            </a:r>
            <a:endParaRPr lang="zh-CN" altLang="en-US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0" y="635"/>
            <a:ext cx="12192000" cy="756920"/>
          </a:xfrm>
          <a:prstGeom prst="rect">
            <a:avLst/>
          </a:prstGeom>
          <a:solidFill>
            <a:schemeClr val="tx2"/>
          </a:solidFill>
          <a:ln>
            <a:solidFill>
              <a:srgbClr val="0070C0"/>
            </a:solidFill>
          </a:ln>
        </p:spPr>
        <p:txBody>
          <a:bodyPr wrap="square" anchor="ctr" anchorCtr="0">
            <a:noAutofit/>
          </a:bodyPr>
          <a:lstStyle/>
          <a:p>
            <a:pPr algn="ctr"/>
            <a:r>
              <a:rPr altLang="en-US" sz="3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智能医疗实践项目结题答辩</a:t>
            </a:r>
            <a:endParaRPr lang="en-US" altLang="zh-CN" sz="3200" b="1" spc="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 flipV="1">
            <a:off x="-1" y="3875883"/>
            <a:ext cx="12191999" cy="104760"/>
          </a:xfrm>
          <a:prstGeom prst="rect">
            <a:avLst/>
          </a:prstGeom>
          <a:gradFill rotWithShape="0">
            <a:gsLst>
              <a:gs pos="0">
                <a:srgbClr val="A603AB"/>
              </a:gs>
              <a:gs pos="20000">
                <a:srgbClr val="EE3F17"/>
              </a:gs>
              <a:gs pos="88000">
                <a:srgbClr val="40B4C0"/>
              </a:gs>
              <a:gs pos="100000">
                <a:srgbClr val="004C97"/>
              </a:gs>
            </a:gsLst>
            <a:lin ang="0" scaled="1"/>
          </a:gradFill>
          <a:ln w="9525">
            <a:noFill/>
            <a:miter lim="800000"/>
          </a:ln>
        </p:spPr>
        <p:txBody>
          <a:bodyPr rot="10800000"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zh-CN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8706" name="文本框 8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<p:cNvSpPr txBox="1">
            <a:spLocks noChangeArrowheads="1"/>
          </p:cNvSpPr>
          <p:nvPr/>
        </p:nvSpPr>
        <p:spPr bwMode="auto">
          <a:xfrm>
            <a:off x="1985010" y="1532255"/>
            <a:ext cx="8222615" cy="15684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algn="ctr" defTabSz="514350" fontAlgn="base">
              <a:spcBef>
                <a:spcPct val="0"/>
              </a:spcBef>
              <a:spcAft>
                <a:spcPct val="0"/>
              </a:spcAft>
              <a:tabLst>
                <a:tab pos="2149475" algn="l"/>
              </a:tabLst>
            </a:pPr>
            <a:r>
              <a:rPr lang="zh-CN" sz="4800" b="1" dirty="0">
                <a:solidFill>
                  <a:srgbClr val="091240"/>
                </a:solidFill>
                <a:latin typeface="华康行楷体 W5" panose="03000509000000000000" charset="-122"/>
                <a:ea typeface="华康行楷体 W5" panose="03000509000000000000" charset="-122"/>
                <a:cs typeface="华康俪金黑W8" panose="020B0809000000000000" charset="-122"/>
                <a:sym typeface="Calibri" panose="020F0502020204030204" charset="0"/>
              </a:rPr>
              <a:t>恳请各位评委老师</a:t>
            </a:r>
            <a:endParaRPr lang="zh-CN" sz="4800" b="1" dirty="0">
              <a:solidFill>
                <a:srgbClr val="091240"/>
              </a:solidFill>
              <a:latin typeface="华康行楷体 W5" panose="03000509000000000000" charset="-122"/>
              <a:ea typeface="华康行楷体 W5" panose="03000509000000000000" charset="-122"/>
              <a:cs typeface="华康俪金黑W8" panose="020B0809000000000000" charset="-122"/>
              <a:sym typeface="Calibri" panose="020F0502020204030204" charset="0"/>
            </a:endParaRPr>
          </a:p>
          <a:p>
            <a:pPr algn="ctr" defTabSz="514350" fontAlgn="base">
              <a:spcBef>
                <a:spcPct val="0"/>
              </a:spcBef>
              <a:spcAft>
                <a:spcPct val="0"/>
              </a:spcAft>
              <a:tabLst>
                <a:tab pos="2149475" algn="l"/>
              </a:tabLst>
            </a:pPr>
            <a:r>
              <a:rPr lang="zh-CN" sz="4800" b="1" dirty="0">
                <a:solidFill>
                  <a:srgbClr val="091240"/>
                </a:solidFill>
                <a:latin typeface="华康行楷体 W5" panose="03000509000000000000" charset="-122"/>
                <a:ea typeface="华康行楷体 W5" panose="03000509000000000000" charset="-122"/>
                <a:cs typeface="华康俪金黑W8" panose="020B0809000000000000" charset="-122"/>
                <a:sym typeface="Calibri" panose="020F0502020204030204" charset="0"/>
              </a:rPr>
              <a:t>批评指正！</a:t>
            </a:r>
            <a:endParaRPr lang="zh-CN" sz="4800" b="1" dirty="0">
              <a:solidFill>
                <a:srgbClr val="091240"/>
              </a:solidFill>
              <a:latin typeface="华康行楷体 W5" panose="03000509000000000000" charset="-122"/>
              <a:ea typeface="华康行楷体 W5" panose="03000509000000000000" charset="-122"/>
              <a:cs typeface="华康俪金黑W8" panose="020B0809000000000000" charset="-122"/>
              <a:sym typeface="Calibri" panose="020F050202020403020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144135" y="6473825"/>
            <a:ext cx="1578610" cy="3695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b="1" dirty="0">
                <a:solidFill>
                  <a:srgbClr val="10418A"/>
                </a:solidFill>
                <a:latin typeface="微软雅黑" panose="020B0503020204020204" charset="-122"/>
                <a:ea typeface="微软雅黑" panose="020B0503020204020204" charset="-122"/>
              </a:rPr>
              <a:t>2026.10.10</a:t>
            </a:r>
            <a:endParaRPr lang="zh-CN" altLang="en-US" dirty="0"/>
          </a:p>
        </p:txBody>
      </p:sp>
      <p:grpSp>
        <p:nvGrpSpPr>
          <p:cNvPr id="33" name="组合 32"/>
          <p:cNvGrpSpPr/>
          <p:nvPr/>
        </p:nvGrpSpPr>
        <p:grpSpPr>
          <a:xfrm>
            <a:off x="3668805" y="5805452"/>
            <a:ext cx="595700" cy="595700"/>
            <a:chOff x="3104171" y="6290449"/>
            <a:chExt cx="595700" cy="595700"/>
          </a:xfrm>
        </p:grpSpPr>
        <p:sp>
          <p:nvSpPr>
            <p:cNvPr id="26" name="椭圆 25"/>
            <p:cNvSpPr/>
            <p:nvPr/>
          </p:nvSpPr>
          <p:spPr>
            <a:xfrm>
              <a:off x="3104171" y="6290449"/>
              <a:ext cx="595700" cy="595700"/>
            </a:xfrm>
            <a:prstGeom prst="ellipse">
              <a:avLst/>
            </a:prstGeom>
            <a:solidFill>
              <a:srgbClr val="FFFFFF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Freeform 5"/>
            <p:cNvSpPr>
              <a:spLocks noEditPoints="1"/>
            </p:cNvSpPr>
            <p:nvPr/>
          </p:nvSpPr>
          <p:spPr bwMode="auto">
            <a:xfrm>
              <a:off x="3202310" y="6363492"/>
              <a:ext cx="414828" cy="406511"/>
            </a:xfrm>
            <a:custGeom>
              <a:avLst/>
              <a:gdLst/>
              <a:ahLst/>
              <a:cxnLst>
                <a:cxn ang="0">
                  <a:pos x="194" y="158"/>
                </a:cxn>
                <a:cxn ang="0">
                  <a:pos x="224" y="218"/>
                </a:cxn>
                <a:cxn ang="0">
                  <a:pos x="232" y="219"/>
                </a:cxn>
                <a:cxn ang="0">
                  <a:pos x="232" y="228"/>
                </a:cxn>
                <a:cxn ang="0">
                  <a:pos x="6" y="229"/>
                </a:cxn>
                <a:cxn ang="0">
                  <a:pos x="0" y="224"/>
                </a:cxn>
                <a:cxn ang="0">
                  <a:pos x="6" y="218"/>
                </a:cxn>
                <a:cxn ang="0">
                  <a:pos x="15" y="151"/>
                </a:cxn>
                <a:cxn ang="0">
                  <a:pos x="37" y="129"/>
                </a:cxn>
                <a:cxn ang="0">
                  <a:pos x="52" y="134"/>
                </a:cxn>
                <a:cxn ang="0">
                  <a:pos x="32" y="121"/>
                </a:cxn>
                <a:cxn ang="0">
                  <a:pos x="31" y="40"/>
                </a:cxn>
                <a:cxn ang="0">
                  <a:pos x="52" y="31"/>
                </a:cxn>
                <a:cxn ang="0">
                  <a:pos x="68" y="13"/>
                </a:cxn>
                <a:cxn ang="0">
                  <a:pos x="119" y="0"/>
                </a:cxn>
                <a:cxn ang="0">
                  <a:pos x="127" y="18"/>
                </a:cxn>
                <a:cxn ang="0">
                  <a:pos x="132" y="57"/>
                </a:cxn>
                <a:cxn ang="0">
                  <a:pos x="181" y="72"/>
                </a:cxn>
                <a:cxn ang="0">
                  <a:pos x="132" y="170"/>
                </a:cxn>
                <a:cxn ang="0">
                  <a:pos x="148" y="149"/>
                </a:cxn>
                <a:cxn ang="0">
                  <a:pos x="157" y="170"/>
                </a:cxn>
                <a:cxn ang="0">
                  <a:pos x="181" y="72"/>
                </a:cxn>
                <a:cxn ang="0">
                  <a:pos x="72" y="4"/>
                </a:cxn>
                <a:cxn ang="0">
                  <a:pos x="82" y="18"/>
                </a:cxn>
                <a:cxn ang="0">
                  <a:pos x="87" y="51"/>
                </a:cxn>
                <a:cxn ang="0">
                  <a:pos x="97" y="31"/>
                </a:cxn>
                <a:cxn ang="0">
                  <a:pos x="114" y="13"/>
                </a:cxn>
                <a:cxn ang="0">
                  <a:pos x="114" y="4"/>
                </a:cxn>
                <a:cxn ang="0">
                  <a:pos x="87" y="55"/>
                </a:cxn>
                <a:cxn ang="0">
                  <a:pos x="97" y="90"/>
                </a:cxn>
                <a:cxn ang="0">
                  <a:pos x="38" y="46"/>
                </a:cxn>
                <a:cxn ang="0">
                  <a:pos x="52" y="114"/>
                </a:cxn>
                <a:cxn ang="0">
                  <a:pos x="38" y="46"/>
                </a:cxn>
                <a:cxn ang="0">
                  <a:pos x="189" y="177"/>
                </a:cxn>
                <a:cxn ang="0">
                  <a:pos x="157" y="200"/>
                </a:cxn>
                <a:cxn ang="0">
                  <a:pos x="97" y="155"/>
                </a:cxn>
                <a:cxn ang="0">
                  <a:pos x="87" y="218"/>
                </a:cxn>
                <a:cxn ang="0">
                  <a:pos x="97" y="155"/>
                </a:cxn>
                <a:cxn ang="0">
                  <a:pos x="97" y="138"/>
                </a:cxn>
                <a:cxn ang="0">
                  <a:pos x="87" y="150"/>
                </a:cxn>
                <a:cxn ang="0">
                  <a:pos x="97" y="94"/>
                </a:cxn>
                <a:cxn ang="0">
                  <a:pos x="87" y="132"/>
                </a:cxn>
                <a:cxn ang="0">
                  <a:pos x="97" y="94"/>
                </a:cxn>
                <a:cxn ang="0">
                  <a:pos x="148" y="200"/>
                </a:cxn>
                <a:cxn ang="0">
                  <a:pos x="123" y="177"/>
                </a:cxn>
              </a:cxnLst>
              <a:rect l="0" t="0" r="r" b="b"/>
              <a:pathLst>
                <a:path w="234" h="229">
                  <a:moveTo>
                    <a:pt x="194" y="57"/>
                  </a:moveTo>
                  <a:cubicBezTo>
                    <a:pt x="194" y="158"/>
                    <a:pt x="194" y="158"/>
                    <a:pt x="194" y="158"/>
                  </a:cubicBezTo>
                  <a:cubicBezTo>
                    <a:pt x="224" y="158"/>
                    <a:pt x="224" y="158"/>
                    <a:pt x="224" y="158"/>
                  </a:cubicBezTo>
                  <a:cubicBezTo>
                    <a:pt x="224" y="218"/>
                    <a:pt x="224" y="218"/>
                    <a:pt x="224" y="218"/>
                  </a:cubicBezTo>
                  <a:cubicBezTo>
                    <a:pt x="228" y="218"/>
                    <a:pt x="228" y="218"/>
                    <a:pt x="228" y="218"/>
                  </a:cubicBezTo>
                  <a:cubicBezTo>
                    <a:pt x="230" y="218"/>
                    <a:pt x="231" y="218"/>
                    <a:pt x="232" y="219"/>
                  </a:cubicBezTo>
                  <a:cubicBezTo>
                    <a:pt x="234" y="221"/>
                    <a:pt x="234" y="222"/>
                    <a:pt x="234" y="224"/>
                  </a:cubicBezTo>
                  <a:cubicBezTo>
                    <a:pt x="234" y="225"/>
                    <a:pt x="234" y="227"/>
                    <a:pt x="232" y="228"/>
                  </a:cubicBezTo>
                  <a:cubicBezTo>
                    <a:pt x="231" y="229"/>
                    <a:pt x="230" y="229"/>
                    <a:pt x="228" y="229"/>
                  </a:cubicBezTo>
                  <a:cubicBezTo>
                    <a:pt x="6" y="229"/>
                    <a:pt x="6" y="229"/>
                    <a:pt x="6" y="229"/>
                  </a:cubicBezTo>
                  <a:cubicBezTo>
                    <a:pt x="4" y="229"/>
                    <a:pt x="3" y="229"/>
                    <a:pt x="1" y="228"/>
                  </a:cubicBezTo>
                  <a:cubicBezTo>
                    <a:pt x="0" y="227"/>
                    <a:pt x="0" y="225"/>
                    <a:pt x="0" y="224"/>
                  </a:cubicBezTo>
                  <a:cubicBezTo>
                    <a:pt x="0" y="222"/>
                    <a:pt x="0" y="221"/>
                    <a:pt x="1" y="219"/>
                  </a:cubicBezTo>
                  <a:cubicBezTo>
                    <a:pt x="3" y="218"/>
                    <a:pt x="4" y="218"/>
                    <a:pt x="6" y="218"/>
                  </a:cubicBezTo>
                  <a:cubicBezTo>
                    <a:pt x="15" y="218"/>
                    <a:pt x="15" y="218"/>
                    <a:pt x="15" y="218"/>
                  </a:cubicBezTo>
                  <a:cubicBezTo>
                    <a:pt x="15" y="151"/>
                    <a:pt x="15" y="151"/>
                    <a:pt x="15" y="151"/>
                  </a:cubicBezTo>
                  <a:cubicBezTo>
                    <a:pt x="15" y="145"/>
                    <a:pt x="17" y="140"/>
                    <a:pt x="22" y="136"/>
                  </a:cubicBezTo>
                  <a:cubicBezTo>
                    <a:pt x="26" y="131"/>
                    <a:pt x="31" y="129"/>
                    <a:pt x="37" y="129"/>
                  </a:cubicBezTo>
                  <a:cubicBezTo>
                    <a:pt x="38" y="129"/>
                    <a:pt x="38" y="129"/>
                    <a:pt x="38" y="129"/>
                  </a:cubicBezTo>
                  <a:cubicBezTo>
                    <a:pt x="43" y="129"/>
                    <a:pt x="48" y="131"/>
                    <a:pt x="52" y="134"/>
                  </a:cubicBezTo>
                  <a:cubicBezTo>
                    <a:pt x="52" y="121"/>
                    <a:pt x="52" y="121"/>
                    <a:pt x="52" y="121"/>
                  </a:cubicBezTo>
                  <a:cubicBezTo>
                    <a:pt x="32" y="121"/>
                    <a:pt x="32" y="121"/>
                    <a:pt x="32" y="121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31"/>
                    <a:pt x="52" y="31"/>
                    <a:pt x="52" y="31"/>
                  </a:cubicBezTo>
                  <a:cubicBezTo>
                    <a:pt x="52" y="26"/>
                    <a:pt x="54" y="22"/>
                    <a:pt x="57" y="18"/>
                  </a:cubicBezTo>
                  <a:cubicBezTo>
                    <a:pt x="60" y="15"/>
                    <a:pt x="64" y="14"/>
                    <a:pt x="68" y="13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14"/>
                    <a:pt x="119" y="14"/>
                    <a:pt x="119" y="14"/>
                  </a:cubicBezTo>
                  <a:cubicBezTo>
                    <a:pt x="122" y="15"/>
                    <a:pt x="124" y="16"/>
                    <a:pt x="127" y="18"/>
                  </a:cubicBezTo>
                  <a:cubicBezTo>
                    <a:pt x="130" y="22"/>
                    <a:pt x="132" y="26"/>
                    <a:pt x="132" y="31"/>
                  </a:cubicBezTo>
                  <a:cubicBezTo>
                    <a:pt x="132" y="57"/>
                    <a:pt x="132" y="57"/>
                    <a:pt x="132" y="57"/>
                  </a:cubicBezTo>
                  <a:lnTo>
                    <a:pt x="194" y="57"/>
                  </a:lnTo>
                  <a:close/>
                  <a:moveTo>
                    <a:pt x="181" y="72"/>
                  </a:moveTo>
                  <a:cubicBezTo>
                    <a:pt x="132" y="72"/>
                    <a:pt x="132" y="72"/>
                    <a:pt x="132" y="72"/>
                  </a:cubicBezTo>
                  <a:cubicBezTo>
                    <a:pt x="132" y="170"/>
                    <a:pt x="132" y="170"/>
                    <a:pt x="132" y="170"/>
                  </a:cubicBezTo>
                  <a:cubicBezTo>
                    <a:pt x="148" y="170"/>
                    <a:pt x="148" y="170"/>
                    <a:pt x="148" y="170"/>
                  </a:cubicBezTo>
                  <a:cubicBezTo>
                    <a:pt x="148" y="149"/>
                    <a:pt x="148" y="149"/>
                    <a:pt x="148" y="149"/>
                  </a:cubicBezTo>
                  <a:cubicBezTo>
                    <a:pt x="157" y="149"/>
                    <a:pt x="157" y="149"/>
                    <a:pt x="157" y="149"/>
                  </a:cubicBezTo>
                  <a:cubicBezTo>
                    <a:pt x="157" y="170"/>
                    <a:pt x="157" y="170"/>
                    <a:pt x="157" y="170"/>
                  </a:cubicBezTo>
                  <a:cubicBezTo>
                    <a:pt x="181" y="170"/>
                    <a:pt x="181" y="170"/>
                    <a:pt x="181" y="170"/>
                  </a:cubicBezTo>
                  <a:lnTo>
                    <a:pt x="181" y="72"/>
                  </a:lnTo>
                  <a:close/>
                  <a:moveTo>
                    <a:pt x="114" y="4"/>
                  </a:moveTo>
                  <a:cubicBezTo>
                    <a:pt x="72" y="4"/>
                    <a:pt x="72" y="4"/>
                    <a:pt x="72" y="4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76" y="14"/>
                    <a:pt x="79" y="16"/>
                    <a:pt x="82" y="18"/>
                  </a:cubicBezTo>
                  <a:cubicBezTo>
                    <a:pt x="85" y="22"/>
                    <a:pt x="87" y="26"/>
                    <a:pt x="87" y="31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97" y="51"/>
                    <a:pt x="97" y="51"/>
                    <a:pt x="97" y="51"/>
                  </a:cubicBezTo>
                  <a:cubicBezTo>
                    <a:pt x="97" y="31"/>
                    <a:pt x="97" y="31"/>
                    <a:pt x="97" y="31"/>
                  </a:cubicBezTo>
                  <a:cubicBezTo>
                    <a:pt x="97" y="26"/>
                    <a:pt x="99" y="22"/>
                    <a:pt x="102" y="18"/>
                  </a:cubicBezTo>
                  <a:cubicBezTo>
                    <a:pt x="105" y="15"/>
                    <a:pt x="109" y="13"/>
                    <a:pt x="114" y="13"/>
                  </a:cubicBezTo>
                  <a:cubicBezTo>
                    <a:pt x="114" y="13"/>
                    <a:pt x="114" y="13"/>
                    <a:pt x="114" y="13"/>
                  </a:cubicBezTo>
                  <a:lnTo>
                    <a:pt x="114" y="4"/>
                  </a:lnTo>
                  <a:close/>
                  <a:moveTo>
                    <a:pt x="97" y="55"/>
                  </a:moveTo>
                  <a:cubicBezTo>
                    <a:pt x="87" y="55"/>
                    <a:pt x="87" y="55"/>
                    <a:pt x="87" y="55"/>
                  </a:cubicBezTo>
                  <a:cubicBezTo>
                    <a:pt x="87" y="90"/>
                    <a:pt x="87" y="90"/>
                    <a:pt x="87" y="90"/>
                  </a:cubicBezTo>
                  <a:cubicBezTo>
                    <a:pt x="97" y="90"/>
                    <a:pt x="97" y="90"/>
                    <a:pt x="97" y="90"/>
                  </a:cubicBezTo>
                  <a:lnTo>
                    <a:pt x="97" y="55"/>
                  </a:lnTo>
                  <a:close/>
                  <a:moveTo>
                    <a:pt x="38" y="46"/>
                  </a:moveTo>
                  <a:cubicBezTo>
                    <a:pt x="38" y="114"/>
                    <a:pt x="38" y="114"/>
                    <a:pt x="38" y="114"/>
                  </a:cubicBezTo>
                  <a:cubicBezTo>
                    <a:pt x="52" y="114"/>
                    <a:pt x="52" y="114"/>
                    <a:pt x="52" y="114"/>
                  </a:cubicBezTo>
                  <a:cubicBezTo>
                    <a:pt x="52" y="46"/>
                    <a:pt x="52" y="46"/>
                    <a:pt x="52" y="46"/>
                  </a:cubicBezTo>
                  <a:lnTo>
                    <a:pt x="38" y="46"/>
                  </a:lnTo>
                  <a:close/>
                  <a:moveTo>
                    <a:pt x="189" y="200"/>
                  </a:moveTo>
                  <a:cubicBezTo>
                    <a:pt x="189" y="177"/>
                    <a:pt x="189" y="177"/>
                    <a:pt x="189" y="177"/>
                  </a:cubicBezTo>
                  <a:cubicBezTo>
                    <a:pt x="157" y="177"/>
                    <a:pt x="157" y="177"/>
                    <a:pt x="157" y="177"/>
                  </a:cubicBezTo>
                  <a:cubicBezTo>
                    <a:pt x="157" y="200"/>
                    <a:pt x="157" y="200"/>
                    <a:pt x="157" y="200"/>
                  </a:cubicBezTo>
                  <a:lnTo>
                    <a:pt x="189" y="200"/>
                  </a:lnTo>
                  <a:close/>
                  <a:moveTo>
                    <a:pt x="97" y="155"/>
                  </a:moveTo>
                  <a:cubicBezTo>
                    <a:pt x="87" y="155"/>
                    <a:pt x="87" y="155"/>
                    <a:pt x="87" y="155"/>
                  </a:cubicBezTo>
                  <a:cubicBezTo>
                    <a:pt x="87" y="218"/>
                    <a:pt x="87" y="218"/>
                    <a:pt x="87" y="218"/>
                  </a:cubicBezTo>
                  <a:cubicBezTo>
                    <a:pt x="97" y="218"/>
                    <a:pt x="97" y="218"/>
                    <a:pt x="97" y="218"/>
                  </a:cubicBezTo>
                  <a:lnTo>
                    <a:pt x="97" y="155"/>
                  </a:lnTo>
                  <a:close/>
                  <a:moveTo>
                    <a:pt x="97" y="150"/>
                  </a:moveTo>
                  <a:cubicBezTo>
                    <a:pt x="97" y="138"/>
                    <a:pt x="97" y="138"/>
                    <a:pt x="97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87" y="150"/>
                    <a:pt x="87" y="150"/>
                    <a:pt x="87" y="150"/>
                  </a:cubicBezTo>
                  <a:lnTo>
                    <a:pt x="97" y="150"/>
                  </a:lnTo>
                  <a:close/>
                  <a:moveTo>
                    <a:pt x="97" y="94"/>
                  </a:moveTo>
                  <a:cubicBezTo>
                    <a:pt x="87" y="94"/>
                    <a:pt x="87" y="94"/>
                    <a:pt x="87" y="94"/>
                  </a:cubicBezTo>
                  <a:cubicBezTo>
                    <a:pt x="87" y="132"/>
                    <a:pt x="87" y="132"/>
                    <a:pt x="87" y="132"/>
                  </a:cubicBezTo>
                  <a:cubicBezTo>
                    <a:pt x="97" y="132"/>
                    <a:pt x="97" y="132"/>
                    <a:pt x="97" y="132"/>
                  </a:cubicBezTo>
                  <a:lnTo>
                    <a:pt x="97" y="94"/>
                  </a:lnTo>
                  <a:close/>
                  <a:moveTo>
                    <a:pt x="123" y="200"/>
                  </a:moveTo>
                  <a:cubicBezTo>
                    <a:pt x="148" y="200"/>
                    <a:pt x="148" y="200"/>
                    <a:pt x="148" y="200"/>
                  </a:cubicBezTo>
                  <a:cubicBezTo>
                    <a:pt x="148" y="177"/>
                    <a:pt x="148" y="177"/>
                    <a:pt x="148" y="177"/>
                  </a:cubicBezTo>
                  <a:cubicBezTo>
                    <a:pt x="123" y="177"/>
                    <a:pt x="123" y="177"/>
                    <a:pt x="123" y="177"/>
                  </a:cubicBezTo>
                  <a:lnTo>
                    <a:pt x="123" y="20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4813202" y="5804182"/>
            <a:ext cx="595700" cy="595700"/>
            <a:chOff x="4017496" y="6318250"/>
            <a:chExt cx="595700" cy="595700"/>
          </a:xfrm>
          <a:solidFill>
            <a:schemeClr val="accent1">
              <a:alpha val="50000"/>
            </a:schemeClr>
          </a:solidFill>
        </p:grpSpPr>
        <p:sp>
          <p:nvSpPr>
            <p:cNvPr id="3" name="椭圆 2"/>
            <p:cNvSpPr/>
            <p:nvPr/>
          </p:nvSpPr>
          <p:spPr>
            <a:xfrm>
              <a:off x="4017496" y="6318250"/>
              <a:ext cx="595700" cy="595700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Group 160"/>
            <p:cNvGrpSpPr/>
            <p:nvPr/>
          </p:nvGrpSpPr>
          <p:grpSpPr>
            <a:xfrm>
              <a:off x="4067101" y="6346088"/>
              <a:ext cx="496490" cy="448483"/>
              <a:chOff x="3405188" y="1758951"/>
              <a:chExt cx="1247775" cy="1127125"/>
            </a:xfrm>
            <a:grpFill/>
          </p:grpSpPr>
          <p:sp>
            <p:nvSpPr>
              <p:cNvPr id="20" name="Freeform 25"/>
              <p:cNvSpPr>
                <a:spLocks noEditPoints="1"/>
              </p:cNvSpPr>
              <p:nvPr/>
            </p:nvSpPr>
            <p:spPr bwMode="auto">
              <a:xfrm>
                <a:off x="3405188" y="2587626"/>
                <a:ext cx="1247775" cy="298450"/>
              </a:xfrm>
              <a:custGeom>
                <a:avLst/>
                <a:gdLst/>
                <a:ahLst/>
                <a:cxnLst>
                  <a:cxn ang="0">
                    <a:pos x="1118" y="4"/>
                  </a:cxn>
                  <a:cxn ang="0">
                    <a:pos x="1108" y="11"/>
                  </a:cxn>
                  <a:cxn ang="0">
                    <a:pos x="1112" y="33"/>
                  </a:cxn>
                  <a:cxn ang="0">
                    <a:pos x="586" y="208"/>
                  </a:cxn>
                  <a:cxn ang="0">
                    <a:pos x="60" y="33"/>
                  </a:cxn>
                  <a:cxn ang="0">
                    <a:pos x="64" y="11"/>
                  </a:cxn>
                  <a:cxn ang="0">
                    <a:pos x="54" y="4"/>
                  </a:cxn>
                  <a:cxn ang="0">
                    <a:pos x="0" y="86"/>
                  </a:cxn>
                  <a:cxn ang="0">
                    <a:pos x="586" y="281"/>
                  </a:cxn>
                  <a:cxn ang="0">
                    <a:pos x="1172" y="86"/>
                  </a:cxn>
                  <a:cxn ang="0">
                    <a:pos x="1118" y="4"/>
                  </a:cxn>
                  <a:cxn ang="0">
                    <a:pos x="1118" y="4"/>
                  </a:cxn>
                  <a:cxn ang="0">
                    <a:pos x="1118" y="4"/>
                  </a:cxn>
                </a:cxnLst>
                <a:rect l="0" t="0" r="r" b="b"/>
                <a:pathLst>
                  <a:path w="1172" h="281">
                    <a:moveTo>
                      <a:pt x="1118" y="4"/>
                    </a:moveTo>
                    <a:cubicBezTo>
                      <a:pt x="1113" y="0"/>
                      <a:pt x="1106" y="5"/>
                      <a:pt x="1108" y="11"/>
                    </a:cubicBezTo>
                    <a:cubicBezTo>
                      <a:pt x="1111" y="18"/>
                      <a:pt x="1112" y="26"/>
                      <a:pt x="1112" y="33"/>
                    </a:cubicBezTo>
                    <a:cubicBezTo>
                      <a:pt x="1112" y="130"/>
                      <a:pt x="877" y="208"/>
                      <a:pt x="586" y="208"/>
                    </a:cubicBezTo>
                    <a:cubicBezTo>
                      <a:pt x="296" y="208"/>
                      <a:pt x="60" y="130"/>
                      <a:pt x="60" y="33"/>
                    </a:cubicBezTo>
                    <a:cubicBezTo>
                      <a:pt x="60" y="26"/>
                      <a:pt x="62" y="19"/>
                      <a:pt x="64" y="11"/>
                    </a:cubicBezTo>
                    <a:cubicBezTo>
                      <a:pt x="67" y="5"/>
                      <a:pt x="60" y="0"/>
                      <a:pt x="54" y="4"/>
                    </a:cubicBezTo>
                    <a:cubicBezTo>
                      <a:pt x="20" y="29"/>
                      <a:pt x="0" y="56"/>
                      <a:pt x="0" y="86"/>
                    </a:cubicBezTo>
                    <a:cubicBezTo>
                      <a:pt x="0" y="194"/>
                      <a:pt x="263" y="281"/>
                      <a:pt x="586" y="281"/>
                    </a:cubicBezTo>
                    <a:cubicBezTo>
                      <a:pt x="910" y="281"/>
                      <a:pt x="1172" y="194"/>
                      <a:pt x="1172" y="86"/>
                    </a:cubicBezTo>
                    <a:cubicBezTo>
                      <a:pt x="1172" y="56"/>
                      <a:pt x="1153" y="29"/>
                      <a:pt x="1118" y="4"/>
                    </a:cubicBezTo>
                    <a:close/>
                    <a:moveTo>
                      <a:pt x="1118" y="4"/>
                    </a:moveTo>
                    <a:cubicBezTo>
                      <a:pt x="1118" y="4"/>
                      <a:pt x="1118" y="4"/>
                      <a:pt x="1118" y="4"/>
                    </a:cubicBezTo>
                  </a:path>
                </a:pathLst>
              </a:custGeom>
              <a:grpFill/>
              <a:ln w="9525">
                <a:solidFill>
                  <a:schemeClr val="tx2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1" name="Freeform 26"/>
              <p:cNvSpPr>
                <a:spLocks noEditPoints="1"/>
              </p:cNvSpPr>
              <p:nvPr/>
            </p:nvSpPr>
            <p:spPr bwMode="auto">
              <a:xfrm>
                <a:off x="3544888" y="2541589"/>
                <a:ext cx="968375" cy="212725"/>
              </a:xfrm>
              <a:custGeom>
                <a:avLst/>
                <a:gdLst/>
                <a:ahLst/>
                <a:cxnLst>
                  <a:cxn ang="0">
                    <a:pos x="837" y="12"/>
                  </a:cxn>
                  <a:cxn ang="0">
                    <a:pos x="845" y="35"/>
                  </a:cxn>
                  <a:cxn ang="0">
                    <a:pos x="455" y="147"/>
                  </a:cxn>
                  <a:cxn ang="0">
                    <a:pos x="66" y="35"/>
                  </a:cxn>
                  <a:cxn ang="0">
                    <a:pos x="74" y="12"/>
                  </a:cxn>
                  <a:cxn ang="0">
                    <a:pos x="65" y="3"/>
                  </a:cxn>
                  <a:cxn ang="0">
                    <a:pos x="0" y="70"/>
                  </a:cxn>
                  <a:cxn ang="0">
                    <a:pos x="455" y="200"/>
                  </a:cxn>
                  <a:cxn ang="0">
                    <a:pos x="910" y="70"/>
                  </a:cxn>
                  <a:cxn ang="0">
                    <a:pos x="845" y="3"/>
                  </a:cxn>
                  <a:cxn ang="0">
                    <a:pos x="837" y="12"/>
                  </a:cxn>
                  <a:cxn ang="0">
                    <a:pos x="837" y="12"/>
                  </a:cxn>
                  <a:cxn ang="0">
                    <a:pos x="837" y="12"/>
                  </a:cxn>
                </a:cxnLst>
                <a:rect l="0" t="0" r="r" b="b"/>
                <a:pathLst>
                  <a:path w="910" h="200">
                    <a:moveTo>
                      <a:pt x="837" y="12"/>
                    </a:moveTo>
                    <a:cubicBezTo>
                      <a:pt x="842" y="20"/>
                      <a:pt x="845" y="27"/>
                      <a:pt x="845" y="35"/>
                    </a:cubicBezTo>
                    <a:cubicBezTo>
                      <a:pt x="845" y="96"/>
                      <a:pt x="670" y="147"/>
                      <a:pt x="455" y="147"/>
                    </a:cubicBezTo>
                    <a:cubicBezTo>
                      <a:pt x="240" y="147"/>
                      <a:pt x="66" y="96"/>
                      <a:pt x="66" y="35"/>
                    </a:cubicBezTo>
                    <a:cubicBezTo>
                      <a:pt x="66" y="27"/>
                      <a:pt x="69" y="20"/>
                      <a:pt x="74" y="12"/>
                    </a:cubicBezTo>
                    <a:cubicBezTo>
                      <a:pt x="78" y="7"/>
                      <a:pt x="72" y="0"/>
                      <a:pt x="65" y="3"/>
                    </a:cubicBezTo>
                    <a:cubicBezTo>
                      <a:pt x="24" y="22"/>
                      <a:pt x="0" y="45"/>
                      <a:pt x="0" y="70"/>
                    </a:cubicBezTo>
                    <a:cubicBezTo>
                      <a:pt x="0" y="142"/>
                      <a:pt x="204" y="200"/>
                      <a:pt x="455" y="200"/>
                    </a:cubicBezTo>
                    <a:cubicBezTo>
                      <a:pt x="706" y="200"/>
                      <a:pt x="910" y="142"/>
                      <a:pt x="910" y="70"/>
                    </a:cubicBezTo>
                    <a:cubicBezTo>
                      <a:pt x="910" y="45"/>
                      <a:pt x="886" y="22"/>
                      <a:pt x="845" y="3"/>
                    </a:cubicBezTo>
                    <a:cubicBezTo>
                      <a:pt x="839" y="0"/>
                      <a:pt x="833" y="7"/>
                      <a:pt x="837" y="12"/>
                    </a:cubicBezTo>
                    <a:close/>
                    <a:moveTo>
                      <a:pt x="837" y="12"/>
                    </a:moveTo>
                    <a:cubicBezTo>
                      <a:pt x="837" y="12"/>
                      <a:pt x="837" y="12"/>
                      <a:pt x="837" y="12"/>
                    </a:cubicBezTo>
                  </a:path>
                </a:pathLst>
              </a:custGeom>
              <a:grpFill/>
              <a:ln w="9525">
                <a:solidFill>
                  <a:schemeClr val="tx2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2" name="Freeform 27"/>
              <p:cNvSpPr>
                <a:spLocks noEditPoints="1"/>
              </p:cNvSpPr>
              <p:nvPr/>
            </p:nvSpPr>
            <p:spPr bwMode="auto">
              <a:xfrm>
                <a:off x="3729038" y="1989139"/>
                <a:ext cx="600075" cy="650875"/>
              </a:xfrm>
              <a:custGeom>
                <a:avLst/>
                <a:gdLst/>
                <a:ahLst/>
                <a:cxnLst>
                  <a:cxn ang="0">
                    <a:pos x="6" y="528"/>
                  </a:cxn>
                  <a:cxn ang="0">
                    <a:pos x="1" y="539"/>
                  </a:cxn>
                  <a:cxn ang="0">
                    <a:pos x="282" y="612"/>
                  </a:cxn>
                  <a:cxn ang="0">
                    <a:pos x="563" y="539"/>
                  </a:cxn>
                  <a:cxn ang="0">
                    <a:pos x="559" y="528"/>
                  </a:cxn>
                  <a:cxn ang="0">
                    <a:pos x="289" y="106"/>
                  </a:cxn>
                  <a:cxn ang="0">
                    <a:pos x="336" y="53"/>
                  </a:cxn>
                  <a:cxn ang="0">
                    <a:pos x="282" y="0"/>
                  </a:cxn>
                  <a:cxn ang="0">
                    <a:pos x="229" y="53"/>
                  </a:cxn>
                  <a:cxn ang="0">
                    <a:pos x="275" y="106"/>
                  </a:cxn>
                  <a:cxn ang="0">
                    <a:pos x="6" y="528"/>
                  </a:cxn>
                  <a:cxn ang="0">
                    <a:pos x="6" y="528"/>
                  </a:cxn>
                  <a:cxn ang="0">
                    <a:pos x="6" y="528"/>
                  </a:cxn>
                </a:cxnLst>
                <a:rect l="0" t="0" r="r" b="b"/>
                <a:pathLst>
                  <a:path w="564" h="612">
                    <a:moveTo>
                      <a:pt x="6" y="528"/>
                    </a:moveTo>
                    <a:cubicBezTo>
                      <a:pt x="2" y="530"/>
                      <a:pt x="0" y="535"/>
                      <a:pt x="1" y="539"/>
                    </a:cubicBezTo>
                    <a:cubicBezTo>
                      <a:pt x="15" y="580"/>
                      <a:pt x="136" y="612"/>
                      <a:pt x="282" y="612"/>
                    </a:cubicBezTo>
                    <a:cubicBezTo>
                      <a:pt x="429" y="612"/>
                      <a:pt x="549" y="580"/>
                      <a:pt x="563" y="539"/>
                    </a:cubicBezTo>
                    <a:cubicBezTo>
                      <a:pt x="564" y="535"/>
                      <a:pt x="563" y="530"/>
                      <a:pt x="559" y="528"/>
                    </a:cubicBezTo>
                    <a:cubicBezTo>
                      <a:pt x="525" y="511"/>
                      <a:pt x="331" y="446"/>
                      <a:pt x="289" y="106"/>
                    </a:cubicBezTo>
                    <a:cubicBezTo>
                      <a:pt x="315" y="103"/>
                      <a:pt x="336" y="80"/>
                      <a:pt x="336" y="53"/>
                    </a:cubicBezTo>
                    <a:cubicBezTo>
                      <a:pt x="336" y="24"/>
                      <a:pt x="312" y="0"/>
                      <a:pt x="282" y="0"/>
                    </a:cubicBezTo>
                    <a:cubicBezTo>
                      <a:pt x="253" y="0"/>
                      <a:pt x="229" y="24"/>
                      <a:pt x="229" y="53"/>
                    </a:cubicBezTo>
                    <a:cubicBezTo>
                      <a:pt x="229" y="80"/>
                      <a:pt x="249" y="103"/>
                      <a:pt x="275" y="106"/>
                    </a:cubicBezTo>
                    <a:cubicBezTo>
                      <a:pt x="235" y="447"/>
                      <a:pt x="38" y="511"/>
                      <a:pt x="6" y="528"/>
                    </a:cubicBezTo>
                    <a:close/>
                    <a:moveTo>
                      <a:pt x="6" y="528"/>
                    </a:moveTo>
                    <a:cubicBezTo>
                      <a:pt x="6" y="528"/>
                      <a:pt x="6" y="528"/>
                      <a:pt x="6" y="528"/>
                    </a:cubicBezTo>
                  </a:path>
                </a:pathLst>
              </a:custGeom>
              <a:grpFill/>
              <a:ln w="9525">
                <a:solidFill>
                  <a:schemeClr val="tx2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3" name="Freeform 28"/>
              <p:cNvSpPr>
                <a:spLocks noEditPoints="1"/>
              </p:cNvSpPr>
              <p:nvPr/>
            </p:nvSpPr>
            <p:spPr bwMode="auto">
              <a:xfrm>
                <a:off x="3946526" y="1758951"/>
                <a:ext cx="165100" cy="165100"/>
              </a:xfrm>
              <a:custGeom>
                <a:avLst/>
                <a:gdLst/>
                <a:ahLst/>
                <a:cxnLst>
                  <a:cxn ang="0">
                    <a:pos x="155" y="78"/>
                  </a:cxn>
                  <a:cxn ang="0">
                    <a:pos x="77" y="0"/>
                  </a:cxn>
                  <a:cxn ang="0">
                    <a:pos x="0" y="78"/>
                  </a:cxn>
                  <a:cxn ang="0">
                    <a:pos x="77" y="155"/>
                  </a:cxn>
                  <a:cxn ang="0">
                    <a:pos x="155" y="78"/>
                  </a:cxn>
                  <a:cxn ang="0">
                    <a:pos x="53" y="81"/>
                  </a:cxn>
                  <a:cxn ang="0">
                    <a:pos x="29" y="58"/>
                  </a:cxn>
                  <a:cxn ang="0">
                    <a:pos x="53" y="34"/>
                  </a:cxn>
                  <a:cxn ang="0">
                    <a:pos x="76" y="58"/>
                  </a:cxn>
                  <a:cxn ang="0">
                    <a:pos x="53" y="81"/>
                  </a:cxn>
                  <a:cxn ang="0">
                    <a:pos x="53" y="81"/>
                  </a:cxn>
                  <a:cxn ang="0">
                    <a:pos x="53" y="81"/>
                  </a:cxn>
                </a:cxnLst>
                <a:rect l="0" t="0" r="r" b="b"/>
                <a:pathLst>
                  <a:path w="155" h="155">
                    <a:moveTo>
                      <a:pt x="155" y="78"/>
                    </a:moveTo>
                    <a:cubicBezTo>
                      <a:pt x="155" y="35"/>
                      <a:pt x="120" y="0"/>
                      <a:pt x="77" y="0"/>
                    </a:cubicBezTo>
                    <a:cubicBezTo>
                      <a:pt x="34" y="0"/>
                      <a:pt x="0" y="35"/>
                      <a:pt x="0" y="78"/>
                    </a:cubicBezTo>
                    <a:cubicBezTo>
                      <a:pt x="0" y="121"/>
                      <a:pt x="34" y="155"/>
                      <a:pt x="77" y="155"/>
                    </a:cubicBezTo>
                    <a:cubicBezTo>
                      <a:pt x="120" y="155"/>
                      <a:pt x="155" y="121"/>
                      <a:pt x="155" y="78"/>
                    </a:cubicBezTo>
                    <a:close/>
                    <a:moveTo>
                      <a:pt x="53" y="81"/>
                    </a:moveTo>
                    <a:cubicBezTo>
                      <a:pt x="40" y="81"/>
                      <a:pt x="29" y="71"/>
                      <a:pt x="29" y="58"/>
                    </a:cubicBezTo>
                    <a:cubicBezTo>
                      <a:pt x="29" y="45"/>
                      <a:pt x="40" y="34"/>
                      <a:pt x="53" y="34"/>
                    </a:cubicBezTo>
                    <a:cubicBezTo>
                      <a:pt x="66" y="34"/>
                      <a:pt x="76" y="45"/>
                      <a:pt x="76" y="58"/>
                    </a:cubicBezTo>
                    <a:cubicBezTo>
                      <a:pt x="76" y="71"/>
                      <a:pt x="66" y="81"/>
                      <a:pt x="53" y="81"/>
                    </a:cubicBezTo>
                    <a:close/>
                    <a:moveTo>
                      <a:pt x="53" y="81"/>
                    </a:moveTo>
                    <a:cubicBezTo>
                      <a:pt x="53" y="81"/>
                      <a:pt x="53" y="81"/>
                      <a:pt x="53" y="81"/>
                    </a:cubicBezTo>
                  </a:path>
                </a:pathLst>
              </a:custGeom>
              <a:grpFill/>
              <a:ln w="9525">
                <a:solidFill>
                  <a:schemeClr val="tx2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</p:grpSp>
      <p:grpSp>
        <p:nvGrpSpPr>
          <p:cNvPr id="31" name="组合 30"/>
          <p:cNvGrpSpPr/>
          <p:nvPr/>
        </p:nvGrpSpPr>
        <p:grpSpPr>
          <a:xfrm>
            <a:off x="5906164" y="5801007"/>
            <a:ext cx="595700" cy="595700"/>
            <a:chOff x="4976024" y="6262300"/>
            <a:chExt cx="595700" cy="595700"/>
          </a:xfrm>
        </p:grpSpPr>
        <p:sp>
          <p:nvSpPr>
            <p:cNvPr id="28" name="椭圆 27"/>
            <p:cNvSpPr/>
            <p:nvPr/>
          </p:nvSpPr>
          <p:spPr>
            <a:xfrm>
              <a:off x="4976024" y="6262300"/>
              <a:ext cx="595700" cy="595700"/>
            </a:xfrm>
            <a:prstGeom prst="ellipse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Freeform 10"/>
            <p:cNvSpPr>
              <a:spLocks noEditPoints="1"/>
            </p:cNvSpPr>
            <p:nvPr/>
          </p:nvSpPr>
          <p:spPr bwMode="auto">
            <a:xfrm>
              <a:off x="5057087" y="6335640"/>
              <a:ext cx="433575" cy="406511"/>
            </a:xfrm>
            <a:custGeom>
              <a:avLst/>
              <a:gdLst/>
              <a:ahLst/>
              <a:cxnLst>
                <a:cxn ang="0">
                  <a:pos x="491" y="0"/>
                </a:cxn>
                <a:cxn ang="0">
                  <a:pos x="982" y="492"/>
                </a:cxn>
                <a:cxn ang="0">
                  <a:pos x="729" y="921"/>
                </a:cxn>
                <a:cxn ang="0">
                  <a:pos x="253" y="921"/>
                </a:cxn>
                <a:cxn ang="0">
                  <a:pos x="0" y="492"/>
                </a:cxn>
                <a:cxn ang="0">
                  <a:pos x="491" y="0"/>
                </a:cxn>
                <a:cxn ang="0">
                  <a:pos x="769" y="770"/>
                </a:cxn>
                <a:cxn ang="0">
                  <a:pos x="885" y="492"/>
                </a:cxn>
                <a:cxn ang="0">
                  <a:pos x="798" y="492"/>
                </a:cxn>
                <a:cxn ang="0">
                  <a:pos x="798" y="430"/>
                </a:cxn>
                <a:cxn ang="0">
                  <a:pos x="880" y="430"/>
                </a:cxn>
                <a:cxn ang="0">
                  <a:pos x="839" y="307"/>
                </a:cxn>
                <a:cxn ang="0">
                  <a:pos x="737" y="307"/>
                </a:cxn>
                <a:cxn ang="0">
                  <a:pos x="737" y="246"/>
                </a:cxn>
                <a:cxn ang="0">
                  <a:pos x="798" y="246"/>
                </a:cxn>
                <a:cxn ang="0">
                  <a:pos x="769" y="214"/>
                </a:cxn>
                <a:cxn ang="0">
                  <a:pos x="614" y="118"/>
                </a:cxn>
                <a:cxn ang="0">
                  <a:pos x="614" y="185"/>
                </a:cxn>
                <a:cxn ang="0">
                  <a:pos x="553" y="185"/>
                </a:cxn>
                <a:cxn ang="0">
                  <a:pos x="553" y="103"/>
                </a:cxn>
                <a:cxn ang="0">
                  <a:pos x="491" y="98"/>
                </a:cxn>
                <a:cxn ang="0">
                  <a:pos x="430" y="103"/>
                </a:cxn>
                <a:cxn ang="0">
                  <a:pos x="430" y="185"/>
                </a:cxn>
                <a:cxn ang="0">
                  <a:pos x="368" y="185"/>
                </a:cxn>
                <a:cxn ang="0">
                  <a:pos x="368" y="118"/>
                </a:cxn>
                <a:cxn ang="0">
                  <a:pos x="213" y="214"/>
                </a:cxn>
                <a:cxn ang="0">
                  <a:pos x="184" y="246"/>
                </a:cxn>
                <a:cxn ang="0">
                  <a:pos x="246" y="246"/>
                </a:cxn>
                <a:cxn ang="0">
                  <a:pos x="246" y="307"/>
                </a:cxn>
                <a:cxn ang="0">
                  <a:pos x="143" y="307"/>
                </a:cxn>
                <a:cxn ang="0">
                  <a:pos x="103" y="430"/>
                </a:cxn>
                <a:cxn ang="0">
                  <a:pos x="184" y="430"/>
                </a:cxn>
                <a:cxn ang="0">
                  <a:pos x="184" y="492"/>
                </a:cxn>
                <a:cxn ang="0">
                  <a:pos x="98" y="492"/>
                </a:cxn>
                <a:cxn ang="0">
                  <a:pos x="213" y="770"/>
                </a:cxn>
                <a:cxn ang="0">
                  <a:pos x="245" y="799"/>
                </a:cxn>
                <a:cxn ang="0">
                  <a:pos x="430" y="799"/>
                </a:cxn>
                <a:cxn ang="0">
                  <a:pos x="465" y="307"/>
                </a:cxn>
                <a:cxn ang="0">
                  <a:pos x="518" y="307"/>
                </a:cxn>
                <a:cxn ang="0">
                  <a:pos x="553" y="799"/>
                </a:cxn>
                <a:cxn ang="0">
                  <a:pos x="737" y="799"/>
                </a:cxn>
                <a:cxn ang="0">
                  <a:pos x="769" y="770"/>
                </a:cxn>
                <a:cxn ang="0">
                  <a:pos x="769" y="770"/>
                </a:cxn>
                <a:cxn ang="0">
                  <a:pos x="769" y="770"/>
                </a:cxn>
              </a:cxnLst>
              <a:rect l="0" t="0" r="r" b="b"/>
              <a:pathLst>
                <a:path w="982" h="921">
                  <a:moveTo>
                    <a:pt x="491" y="0"/>
                  </a:moveTo>
                  <a:cubicBezTo>
                    <a:pt x="762" y="0"/>
                    <a:pt x="982" y="220"/>
                    <a:pt x="982" y="492"/>
                  </a:cubicBezTo>
                  <a:cubicBezTo>
                    <a:pt x="982" y="677"/>
                    <a:pt x="880" y="838"/>
                    <a:pt x="729" y="921"/>
                  </a:cubicBezTo>
                  <a:cubicBezTo>
                    <a:pt x="253" y="921"/>
                    <a:pt x="253" y="921"/>
                    <a:pt x="253" y="921"/>
                  </a:cubicBezTo>
                  <a:cubicBezTo>
                    <a:pt x="102" y="838"/>
                    <a:pt x="0" y="677"/>
                    <a:pt x="0" y="492"/>
                  </a:cubicBezTo>
                  <a:cubicBezTo>
                    <a:pt x="0" y="220"/>
                    <a:pt x="220" y="0"/>
                    <a:pt x="491" y="0"/>
                  </a:cubicBezTo>
                  <a:close/>
                  <a:moveTo>
                    <a:pt x="769" y="770"/>
                  </a:moveTo>
                  <a:cubicBezTo>
                    <a:pt x="844" y="696"/>
                    <a:pt x="885" y="597"/>
                    <a:pt x="885" y="492"/>
                  </a:cubicBezTo>
                  <a:cubicBezTo>
                    <a:pt x="798" y="492"/>
                    <a:pt x="798" y="492"/>
                    <a:pt x="798" y="492"/>
                  </a:cubicBezTo>
                  <a:cubicBezTo>
                    <a:pt x="798" y="430"/>
                    <a:pt x="798" y="430"/>
                    <a:pt x="798" y="430"/>
                  </a:cubicBezTo>
                  <a:cubicBezTo>
                    <a:pt x="880" y="430"/>
                    <a:pt x="880" y="430"/>
                    <a:pt x="880" y="430"/>
                  </a:cubicBezTo>
                  <a:cubicBezTo>
                    <a:pt x="873" y="387"/>
                    <a:pt x="859" y="346"/>
                    <a:pt x="839" y="307"/>
                  </a:cubicBezTo>
                  <a:cubicBezTo>
                    <a:pt x="737" y="307"/>
                    <a:pt x="737" y="307"/>
                    <a:pt x="737" y="307"/>
                  </a:cubicBezTo>
                  <a:cubicBezTo>
                    <a:pt x="737" y="246"/>
                    <a:pt x="737" y="246"/>
                    <a:pt x="737" y="246"/>
                  </a:cubicBezTo>
                  <a:cubicBezTo>
                    <a:pt x="798" y="246"/>
                    <a:pt x="798" y="246"/>
                    <a:pt x="798" y="246"/>
                  </a:cubicBezTo>
                  <a:cubicBezTo>
                    <a:pt x="789" y="235"/>
                    <a:pt x="780" y="224"/>
                    <a:pt x="769" y="214"/>
                  </a:cubicBezTo>
                  <a:cubicBezTo>
                    <a:pt x="725" y="169"/>
                    <a:pt x="672" y="137"/>
                    <a:pt x="614" y="118"/>
                  </a:cubicBezTo>
                  <a:cubicBezTo>
                    <a:pt x="614" y="185"/>
                    <a:pt x="614" y="185"/>
                    <a:pt x="614" y="185"/>
                  </a:cubicBezTo>
                  <a:cubicBezTo>
                    <a:pt x="553" y="185"/>
                    <a:pt x="553" y="185"/>
                    <a:pt x="553" y="185"/>
                  </a:cubicBezTo>
                  <a:cubicBezTo>
                    <a:pt x="553" y="103"/>
                    <a:pt x="553" y="103"/>
                    <a:pt x="553" y="103"/>
                  </a:cubicBezTo>
                  <a:cubicBezTo>
                    <a:pt x="532" y="100"/>
                    <a:pt x="512" y="98"/>
                    <a:pt x="491" y="98"/>
                  </a:cubicBezTo>
                  <a:cubicBezTo>
                    <a:pt x="470" y="98"/>
                    <a:pt x="450" y="100"/>
                    <a:pt x="430" y="103"/>
                  </a:cubicBezTo>
                  <a:cubicBezTo>
                    <a:pt x="430" y="185"/>
                    <a:pt x="430" y="185"/>
                    <a:pt x="430" y="185"/>
                  </a:cubicBezTo>
                  <a:cubicBezTo>
                    <a:pt x="368" y="185"/>
                    <a:pt x="368" y="185"/>
                    <a:pt x="368" y="185"/>
                  </a:cubicBezTo>
                  <a:cubicBezTo>
                    <a:pt x="368" y="118"/>
                    <a:pt x="368" y="118"/>
                    <a:pt x="368" y="118"/>
                  </a:cubicBezTo>
                  <a:cubicBezTo>
                    <a:pt x="310" y="137"/>
                    <a:pt x="257" y="169"/>
                    <a:pt x="213" y="214"/>
                  </a:cubicBezTo>
                  <a:cubicBezTo>
                    <a:pt x="203" y="224"/>
                    <a:pt x="193" y="235"/>
                    <a:pt x="184" y="246"/>
                  </a:cubicBezTo>
                  <a:cubicBezTo>
                    <a:pt x="246" y="246"/>
                    <a:pt x="246" y="246"/>
                    <a:pt x="246" y="246"/>
                  </a:cubicBezTo>
                  <a:cubicBezTo>
                    <a:pt x="246" y="307"/>
                    <a:pt x="246" y="307"/>
                    <a:pt x="246" y="307"/>
                  </a:cubicBezTo>
                  <a:cubicBezTo>
                    <a:pt x="143" y="307"/>
                    <a:pt x="143" y="307"/>
                    <a:pt x="143" y="307"/>
                  </a:cubicBezTo>
                  <a:cubicBezTo>
                    <a:pt x="123" y="346"/>
                    <a:pt x="109" y="387"/>
                    <a:pt x="103" y="430"/>
                  </a:cubicBezTo>
                  <a:cubicBezTo>
                    <a:pt x="184" y="430"/>
                    <a:pt x="184" y="430"/>
                    <a:pt x="184" y="430"/>
                  </a:cubicBezTo>
                  <a:cubicBezTo>
                    <a:pt x="184" y="492"/>
                    <a:pt x="184" y="492"/>
                    <a:pt x="184" y="492"/>
                  </a:cubicBezTo>
                  <a:cubicBezTo>
                    <a:pt x="98" y="492"/>
                    <a:pt x="98" y="492"/>
                    <a:pt x="98" y="492"/>
                  </a:cubicBezTo>
                  <a:cubicBezTo>
                    <a:pt x="98" y="597"/>
                    <a:pt x="139" y="696"/>
                    <a:pt x="213" y="770"/>
                  </a:cubicBezTo>
                  <a:cubicBezTo>
                    <a:pt x="223" y="780"/>
                    <a:pt x="234" y="790"/>
                    <a:pt x="245" y="799"/>
                  </a:cubicBezTo>
                  <a:cubicBezTo>
                    <a:pt x="430" y="799"/>
                    <a:pt x="430" y="799"/>
                    <a:pt x="430" y="799"/>
                  </a:cubicBezTo>
                  <a:cubicBezTo>
                    <a:pt x="465" y="307"/>
                    <a:pt x="465" y="307"/>
                    <a:pt x="465" y="307"/>
                  </a:cubicBezTo>
                  <a:cubicBezTo>
                    <a:pt x="518" y="307"/>
                    <a:pt x="518" y="307"/>
                    <a:pt x="518" y="307"/>
                  </a:cubicBezTo>
                  <a:cubicBezTo>
                    <a:pt x="553" y="799"/>
                    <a:pt x="553" y="799"/>
                    <a:pt x="553" y="799"/>
                  </a:cubicBezTo>
                  <a:cubicBezTo>
                    <a:pt x="737" y="799"/>
                    <a:pt x="737" y="799"/>
                    <a:pt x="737" y="799"/>
                  </a:cubicBezTo>
                  <a:cubicBezTo>
                    <a:pt x="748" y="790"/>
                    <a:pt x="759" y="780"/>
                    <a:pt x="769" y="770"/>
                  </a:cubicBezTo>
                  <a:close/>
                  <a:moveTo>
                    <a:pt x="769" y="770"/>
                  </a:moveTo>
                  <a:cubicBezTo>
                    <a:pt x="769" y="770"/>
                    <a:pt x="769" y="770"/>
                    <a:pt x="769" y="770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6940070" y="5801007"/>
            <a:ext cx="595700" cy="595700"/>
            <a:chOff x="5862991" y="6262300"/>
            <a:chExt cx="595700" cy="595700"/>
          </a:xfrm>
        </p:grpSpPr>
        <p:sp>
          <p:nvSpPr>
            <p:cNvPr id="29" name="椭圆 28"/>
            <p:cNvSpPr/>
            <p:nvPr/>
          </p:nvSpPr>
          <p:spPr>
            <a:xfrm>
              <a:off x="5862991" y="6262300"/>
              <a:ext cx="595700" cy="595700"/>
            </a:xfrm>
            <a:prstGeom prst="ellipse">
              <a:avLst/>
            </a:prstGeom>
            <a:solidFill>
              <a:srgbClr val="FFFFFF"/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Freeform 45"/>
            <p:cNvSpPr>
              <a:spLocks noEditPoints="1"/>
            </p:cNvSpPr>
            <p:nvPr/>
          </p:nvSpPr>
          <p:spPr bwMode="auto">
            <a:xfrm>
              <a:off x="5921969" y="6318250"/>
              <a:ext cx="433575" cy="469888"/>
            </a:xfrm>
            <a:custGeom>
              <a:avLst/>
              <a:gdLst/>
              <a:ahLst/>
              <a:cxnLst>
                <a:cxn ang="0">
                  <a:pos x="783" y="812"/>
                </a:cxn>
                <a:cxn ang="0">
                  <a:pos x="684" y="703"/>
                </a:cxn>
                <a:cxn ang="0">
                  <a:pos x="698" y="592"/>
                </a:cxn>
                <a:cxn ang="0">
                  <a:pos x="674" y="483"/>
                </a:cxn>
                <a:cxn ang="0">
                  <a:pos x="617" y="387"/>
                </a:cxn>
                <a:cxn ang="0">
                  <a:pos x="532" y="315"/>
                </a:cxn>
                <a:cxn ang="0">
                  <a:pos x="428" y="275"/>
                </a:cxn>
                <a:cxn ang="0">
                  <a:pos x="316" y="270"/>
                </a:cxn>
                <a:cxn ang="0">
                  <a:pos x="209" y="303"/>
                </a:cxn>
                <a:cxn ang="0">
                  <a:pos x="119" y="367"/>
                </a:cxn>
                <a:cxn ang="0">
                  <a:pos x="54" y="458"/>
                </a:cxn>
                <a:cxn ang="0">
                  <a:pos x="22" y="565"/>
                </a:cxn>
                <a:cxn ang="0">
                  <a:pos x="27" y="677"/>
                </a:cxn>
                <a:cxn ang="0">
                  <a:pos x="68" y="781"/>
                </a:cxn>
                <a:cxn ang="0">
                  <a:pos x="140" y="866"/>
                </a:cxn>
                <a:cxn ang="0">
                  <a:pos x="236" y="923"/>
                </a:cxn>
                <a:cxn ang="0">
                  <a:pos x="345" y="945"/>
                </a:cxn>
                <a:cxn ang="0">
                  <a:pos x="456" y="931"/>
                </a:cxn>
                <a:cxn ang="0">
                  <a:pos x="556" y="882"/>
                </a:cxn>
                <a:cxn ang="0">
                  <a:pos x="605" y="817"/>
                </a:cxn>
                <a:cxn ang="0">
                  <a:pos x="769" y="943"/>
                </a:cxn>
                <a:cxn ang="0">
                  <a:pos x="843" y="818"/>
                </a:cxn>
                <a:cxn ang="0">
                  <a:pos x="456" y="618"/>
                </a:cxn>
                <a:cxn ang="0">
                  <a:pos x="317" y="545"/>
                </a:cxn>
                <a:cxn ang="0">
                  <a:pos x="381" y="630"/>
                </a:cxn>
                <a:cxn ang="0">
                  <a:pos x="276" y="614"/>
                </a:cxn>
                <a:cxn ang="0">
                  <a:pos x="407" y="700"/>
                </a:cxn>
                <a:cxn ang="0">
                  <a:pos x="408" y="804"/>
                </a:cxn>
                <a:cxn ang="0">
                  <a:pos x="307" y="409"/>
                </a:cxn>
                <a:cxn ang="0">
                  <a:pos x="550" y="674"/>
                </a:cxn>
                <a:cxn ang="0">
                  <a:pos x="576" y="689"/>
                </a:cxn>
                <a:cxn ang="0">
                  <a:pos x="299" y="379"/>
                </a:cxn>
                <a:cxn ang="0">
                  <a:pos x="415" y="833"/>
                </a:cxn>
                <a:cxn ang="0">
                  <a:pos x="544" y="781"/>
                </a:cxn>
                <a:cxn ang="0">
                  <a:pos x="109" y="670"/>
                </a:cxn>
                <a:cxn ang="0">
                  <a:pos x="605" y="543"/>
                </a:cxn>
                <a:cxn ang="0">
                  <a:pos x="839" y="900"/>
                </a:cxn>
                <a:cxn ang="0">
                  <a:pos x="773" y="900"/>
                </a:cxn>
                <a:cxn ang="0">
                  <a:pos x="807" y="842"/>
                </a:cxn>
                <a:cxn ang="0">
                  <a:pos x="839" y="900"/>
                </a:cxn>
                <a:cxn ang="0">
                  <a:pos x="543" y="226"/>
                </a:cxn>
                <a:cxn ang="0">
                  <a:pos x="570" y="293"/>
                </a:cxn>
                <a:cxn ang="0">
                  <a:pos x="620" y="312"/>
                </a:cxn>
                <a:cxn ang="0">
                  <a:pos x="687" y="340"/>
                </a:cxn>
                <a:cxn ang="0">
                  <a:pos x="736" y="318"/>
                </a:cxn>
                <a:cxn ang="0">
                  <a:pos x="802" y="290"/>
                </a:cxn>
                <a:cxn ang="0">
                  <a:pos x="821" y="240"/>
                </a:cxn>
                <a:cxn ang="0">
                  <a:pos x="849" y="173"/>
                </a:cxn>
                <a:cxn ang="0">
                  <a:pos x="827" y="124"/>
                </a:cxn>
                <a:cxn ang="0">
                  <a:pos x="800" y="58"/>
                </a:cxn>
                <a:cxn ang="0">
                  <a:pos x="749" y="39"/>
                </a:cxn>
                <a:cxn ang="0">
                  <a:pos x="683" y="11"/>
                </a:cxn>
                <a:cxn ang="0">
                  <a:pos x="634" y="33"/>
                </a:cxn>
                <a:cxn ang="0">
                  <a:pos x="567" y="60"/>
                </a:cxn>
                <a:cxn ang="0">
                  <a:pos x="548" y="111"/>
                </a:cxn>
                <a:cxn ang="0">
                  <a:pos x="521" y="177"/>
                </a:cxn>
                <a:cxn ang="0">
                  <a:pos x="685" y="93"/>
                </a:cxn>
                <a:cxn ang="0">
                  <a:pos x="685" y="258"/>
                </a:cxn>
                <a:cxn ang="0">
                  <a:pos x="685" y="93"/>
                </a:cxn>
                <a:cxn ang="0">
                  <a:pos x="685" y="93"/>
                </a:cxn>
              </a:cxnLst>
              <a:rect l="0" t="0" r="r" b="b"/>
              <a:pathLst>
                <a:path w="889" h="965">
                  <a:moveTo>
                    <a:pt x="843" y="818"/>
                  </a:moveTo>
                  <a:cubicBezTo>
                    <a:pt x="824" y="807"/>
                    <a:pt x="803" y="806"/>
                    <a:pt x="783" y="812"/>
                  </a:cubicBezTo>
                  <a:cubicBezTo>
                    <a:pt x="657" y="737"/>
                    <a:pt x="657" y="737"/>
                    <a:pt x="657" y="737"/>
                  </a:cubicBezTo>
                  <a:cubicBezTo>
                    <a:pt x="659" y="722"/>
                    <a:pt x="669" y="709"/>
                    <a:pt x="684" y="703"/>
                  </a:cubicBezTo>
                  <a:cubicBezTo>
                    <a:pt x="707" y="694"/>
                    <a:pt x="712" y="672"/>
                    <a:pt x="694" y="654"/>
                  </a:cubicBezTo>
                  <a:cubicBezTo>
                    <a:pt x="677" y="636"/>
                    <a:pt x="679" y="608"/>
                    <a:pt x="698" y="592"/>
                  </a:cubicBezTo>
                  <a:cubicBezTo>
                    <a:pt x="716" y="576"/>
                    <a:pt x="714" y="554"/>
                    <a:pt x="691" y="542"/>
                  </a:cubicBezTo>
                  <a:cubicBezTo>
                    <a:pt x="670" y="531"/>
                    <a:pt x="662" y="504"/>
                    <a:pt x="674" y="483"/>
                  </a:cubicBezTo>
                  <a:cubicBezTo>
                    <a:pt x="687" y="462"/>
                    <a:pt x="677" y="441"/>
                    <a:pt x="653" y="438"/>
                  </a:cubicBezTo>
                  <a:cubicBezTo>
                    <a:pt x="628" y="434"/>
                    <a:pt x="612" y="412"/>
                    <a:pt x="617" y="387"/>
                  </a:cubicBezTo>
                  <a:cubicBezTo>
                    <a:pt x="622" y="363"/>
                    <a:pt x="606" y="347"/>
                    <a:pt x="582" y="352"/>
                  </a:cubicBezTo>
                  <a:cubicBezTo>
                    <a:pt x="557" y="356"/>
                    <a:pt x="535" y="340"/>
                    <a:pt x="532" y="315"/>
                  </a:cubicBezTo>
                  <a:cubicBezTo>
                    <a:pt x="529" y="291"/>
                    <a:pt x="508" y="281"/>
                    <a:pt x="487" y="293"/>
                  </a:cubicBezTo>
                  <a:cubicBezTo>
                    <a:pt x="465" y="305"/>
                    <a:pt x="439" y="297"/>
                    <a:pt x="428" y="275"/>
                  </a:cubicBezTo>
                  <a:cubicBezTo>
                    <a:pt x="417" y="253"/>
                    <a:pt x="395" y="250"/>
                    <a:pt x="378" y="268"/>
                  </a:cubicBezTo>
                  <a:cubicBezTo>
                    <a:pt x="362" y="287"/>
                    <a:pt x="334" y="288"/>
                    <a:pt x="316" y="270"/>
                  </a:cubicBezTo>
                  <a:cubicBezTo>
                    <a:pt x="299" y="253"/>
                    <a:pt x="277" y="258"/>
                    <a:pt x="267" y="280"/>
                  </a:cubicBezTo>
                  <a:cubicBezTo>
                    <a:pt x="258" y="303"/>
                    <a:pt x="232" y="313"/>
                    <a:pt x="209" y="303"/>
                  </a:cubicBezTo>
                  <a:cubicBezTo>
                    <a:pt x="187" y="292"/>
                    <a:pt x="168" y="303"/>
                    <a:pt x="166" y="328"/>
                  </a:cubicBezTo>
                  <a:cubicBezTo>
                    <a:pt x="165" y="353"/>
                    <a:pt x="143" y="370"/>
                    <a:pt x="119" y="367"/>
                  </a:cubicBezTo>
                  <a:cubicBezTo>
                    <a:pt x="94" y="365"/>
                    <a:pt x="80" y="382"/>
                    <a:pt x="86" y="405"/>
                  </a:cubicBezTo>
                  <a:cubicBezTo>
                    <a:pt x="93" y="429"/>
                    <a:pt x="78" y="453"/>
                    <a:pt x="54" y="458"/>
                  </a:cubicBezTo>
                  <a:cubicBezTo>
                    <a:pt x="30" y="464"/>
                    <a:pt x="21" y="485"/>
                    <a:pt x="35" y="505"/>
                  </a:cubicBezTo>
                  <a:cubicBezTo>
                    <a:pt x="50" y="525"/>
                    <a:pt x="44" y="553"/>
                    <a:pt x="22" y="565"/>
                  </a:cubicBezTo>
                  <a:cubicBezTo>
                    <a:pt x="1" y="578"/>
                    <a:pt x="0" y="601"/>
                    <a:pt x="20" y="616"/>
                  </a:cubicBezTo>
                  <a:cubicBezTo>
                    <a:pt x="40" y="630"/>
                    <a:pt x="43" y="658"/>
                    <a:pt x="27" y="677"/>
                  </a:cubicBezTo>
                  <a:cubicBezTo>
                    <a:pt x="11" y="696"/>
                    <a:pt x="18" y="718"/>
                    <a:pt x="41" y="725"/>
                  </a:cubicBezTo>
                  <a:cubicBezTo>
                    <a:pt x="65" y="733"/>
                    <a:pt x="77" y="758"/>
                    <a:pt x="68" y="781"/>
                  </a:cubicBezTo>
                  <a:cubicBezTo>
                    <a:pt x="59" y="804"/>
                    <a:pt x="72" y="822"/>
                    <a:pt x="97" y="822"/>
                  </a:cubicBezTo>
                  <a:cubicBezTo>
                    <a:pt x="122" y="821"/>
                    <a:pt x="141" y="841"/>
                    <a:pt x="140" y="866"/>
                  </a:cubicBezTo>
                  <a:cubicBezTo>
                    <a:pt x="139" y="891"/>
                    <a:pt x="158" y="904"/>
                    <a:pt x="181" y="895"/>
                  </a:cubicBezTo>
                  <a:cubicBezTo>
                    <a:pt x="204" y="887"/>
                    <a:pt x="229" y="899"/>
                    <a:pt x="236" y="923"/>
                  </a:cubicBezTo>
                  <a:cubicBezTo>
                    <a:pt x="243" y="946"/>
                    <a:pt x="265" y="953"/>
                    <a:pt x="284" y="937"/>
                  </a:cubicBezTo>
                  <a:cubicBezTo>
                    <a:pt x="303" y="922"/>
                    <a:pt x="331" y="925"/>
                    <a:pt x="345" y="945"/>
                  </a:cubicBezTo>
                  <a:cubicBezTo>
                    <a:pt x="360" y="965"/>
                    <a:pt x="383" y="965"/>
                    <a:pt x="395" y="944"/>
                  </a:cubicBezTo>
                  <a:cubicBezTo>
                    <a:pt x="409" y="923"/>
                    <a:pt x="436" y="917"/>
                    <a:pt x="456" y="931"/>
                  </a:cubicBezTo>
                  <a:cubicBezTo>
                    <a:pt x="476" y="946"/>
                    <a:pt x="497" y="938"/>
                    <a:pt x="503" y="914"/>
                  </a:cubicBezTo>
                  <a:cubicBezTo>
                    <a:pt x="509" y="889"/>
                    <a:pt x="533" y="875"/>
                    <a:pt x="556" y="882"/>
                  </a:cubicBezTo>
                  <a:cubicBezTo>
                    <a:pt x="580" y="889"/>
                    <a:pt x="597" y="875"/>
                    <a:pt x="595" y="850"/>
                  </a:cubicBezTo>
                  <a:cubicBezTo>
                    <a:pt x="593" y="838"/>
                    <a:pt x="598" y="826"/>
                    <a:pt x="605" y="817"/>
                  </a:cubicBezTo>
                  <a:cubicBezTo>
                    <a:pt x="735" y="894"/>
                    <a:pt x="735" y="894"/>
                    <a:pt x="735" y="894"/>
                  </a:cubicBezTo>
                  <a:cubicBezTo>
                    <a:pt x="739" y="914"/>
                    <a:pt x="750" y="932"/>
                    <a:pt x="769" y="943"/>
                  </a:cubicBezTo>
                  <a:cubicBezTo>
                    <a:pt x="804" y="964"/>
                    <a:pt x="848" y="952"/>
                    <a:pt x="869" y="918"/>
                  </a:cubicBezTo>
                  <a:cubicBezTo>
                    <a:pt x="889" y="883"/>
                    <a:pt x="878" y="839"/>
                    <a:pt x="843" y="818"/>
                  </a:cubicBezTo>
                  <a:close/>
                  <a:moveTo>
                    <a:pt x="550" y="674"/>
                  </a:moveTo>
                  <a:cubicBezTo>
                    <a:pt x="456" y="618"/>
                    <a:pt x="456" y="618"/>
                    <a:pt x="456" y="618"/>
                  </a:cubicBezTo>
                  <a:cubicBezTo>
                    <a:pt x="455" y="588"/>
                    <a:pt x="440" y="559"/>
                    <a:pt x="412" y="543"/>
                  </a:cubicBezTo>
                  <a:cubicBezTo>
                    <a:pt x="381" y="525"/>
                    <a:pt x="345" y="527"/>
                    <a:pt x="317" y="545"/>
                  </a:cubicBezTo>
                  <a:cubicBezTo>
                    <a:pt x="368" y="575"/>
                    <a:pt x="368" y="575"/>
                    <a:pt x="368" y="575"/>
                  </a:cubicBezTo>
                  <a:cubicBezTo>
                    <a:pt x="387" y="586"/>
                    <a:pt x="392" y="610"/>
                    <a:pt x="381" y="630"/>
                  </a:cubicBezTo>
                  <a:cubicBezTo>
                    <a:pt x="370" y="649"/>
                    <a:pt x="346" y="655"/>
                    <a:pt x="328" y="644"/>
                  </a:cubicBezTo>
                  <a:cubicBezTo>
                    <a:pt x="276" y="614"/>
                    <a:pt x="276" y="614"/>
                    <a:pt x="276" y="614"/>
                  </a:cubicBezTo>
                  <a:cubicBezTo>
                    <a:pt x="273" y="647"/>
                    <a:pt x="289" y="680"/>
                    <a:pt x="320" y="698"/>
                  </a:cubicBezTo>
                  <a:cubicBezTo>
                    <a:pt x="348" y="715"/>
                    <a:pt x="380" y="714"/>
                    <a:pt x="407" y="700"/>
                  </a:cubicBezTo>
                  <a:cubicBezTo>
                    <a:pt x="498" y="754"/>
                    <a:pt x="498" y="754"/>
                    <a:pt x="498" y="754"/>
                  </a:cubicBezTo>
                  <a:cubicBezTo>
                    <a:pt x="473" y="777"/>
                    <a:pt x="443" y="795"/>
                    <a:pt x="408" y="804"/>
                  </a:cubicBezTo>
                  <a:cubicBezTo>
                    <a:pt x="299" y="832"/>
                    <a:pt x="188" y="766"/>
                    <a:pt x="160" y="657"/>
                  </a:cubicBezTo>
                  <a:cubicBezTo>
                    <a:pt x="132" y="548"/>
                    <a:pt x="198" y="437"/>
                    <a:pt x="307" y="409"/>
                  </a:cubicBezTo>
                  <a:cubicBezTo>
                    <a:pt x="415" y="381"/>
                    <a:pt x="527" y="447"/>
                    <a:pt x="555" y="556"/>
                  </a:cubicBezTo>
                  <a:cubicBezTo>
                    <a:pt x="565" y="596"/>
                    <a:pt x="562" y="637"/>
                    <a:pt x="550" y="674"/>
                  </a:cubicBezTo>
                  <a:close/>
                  <a:moveTo>
                    <a:pt x="595" y="700"/>
                  </a:moveTo>
                  <a:cubicBezTo>
                    <a:pt x="576" y="689"/>
                    <a:pt x="576" y="689"/>
                    <a:pt x="576" y="689"/>
                  </a:cubicBezTo>
                  <a:cubicBezTo>
                    <a:pt x="592" y="646"/>
                    <a:pt x="597" y="597"/>
                    <a:pt x="584" y="548"/>
                  </a:cubicBezTo>
                  <a:cubicBezTo>
                    <a:pt x="552" y="423"/>
                    <a:pt x="424" y="347"/>
                    <a:pt x="299" y="379"/>
                  </a:cubicBezTo>
                  <a:cubicBezTo>
                    <a:pt x="174" y="412"/>
                    <a:pt x="98" y="539"/>
                    <a:pt x="130" y="665"/>
                  </a:cubicBezTo>
                  <a:cubicBezTo>
                    <a:pt x="163" y="790"/>
                    <a:pt x="290" y="865"/>
                    <a:pt x="415" y="833"/>
                  </a:cubicBezTo>
                  <a:cubicBezTo>
                    <a:pt x="459" y="822"/>
                    <a:pt x="496" y="799"/>
                    <a:pt x="524" y="770"/>
                  </a:cubicBezTo>
                  <a:cubicBezTo>
                    <a:pt x="544" y="781"/>
                    <a:pt x="544" y="781"/>
                    <a:pt x="544" y="781"/>
                  </a:cubicBezTo>
                  <a:cubicBezTo>
                    <a:pt x="512" y="815"/>
                    <a:pt x="470" y="841"/>
                    <a:pt x="421" y="854"/>
                  </a:cubicBezTo>
                  <a:cubicBezTo>
                    <a:pt x="284" y="889"/>
                    <a:pt x="145" y="807"/>
                    <a:pt x="109" y="670"/>
                  </a:cubicBezTo>
                  <a:cubicBezTo>
                    <a:pt x="74" y="533"/>
                    <a:pt x="157" y="394"/>
                    <a:pt x="294" y="359"/>
                  </a:cubicBezTo>
                  <a:cubicBezTo>
                    <a:pt x="430" y="323"/>
                    <a:pt x="570" y="406"/>
                    <a:pt x="605" y="543"/>
                  </a:cubicBezTo>
                  <a:cubicBezTo>
                    <a:pt x="619" y="597"/>
                    <a:pt x="614" y="652"/>
                    <a:pt x="595" y="700"/>
                  </a:cubicBezTo>
                  <a:close/>
                  <a:moveTo>
                    <a:pt x="839" y="900"/>
                  </a:moveTo>
                  <a:cubicBezTo>
                    <a:pt x="806" y="919"/>
                    <a:pt x="806" y="919"/>
                    <a:pt x="806" y="919"/>
                  </a:cubicBezTo>
                  <a:cubicBezTo>
                    <a:pt x="773" y="900"/>
                    <a:pt x="773" y="900"/>
                    <a:pt x="773" y="900"/>
                  </a:cubicBezTo>
                  <a:cubicBezTo>
                    <a:pt x="773" y="861"/>
                    <a:pt x="773" y="861"/>
                    <a:pt x="773" y="861"/>
                  </a:cubicBezTo>
                  <a:cubicBezTo>
                    <a:pt x="807" y="842"/>
                    <a:pt x="807" y="842"/>
                    <a:pt x="807" y="842"/>
                  </a:cubicBezTo>
                  <a:cubicBezTo>
                    <a:pt x="840" y="862"/>
                    <a:pt x="840" y="862"/>
                    <a:pt x="840" y="862"/>
                  </a:cubicBezTo>
                  <a:lnTo>
                    <a:pt x="839" y="900"/>
                  </a:lnTo>
                  <a:close/>
                  <a:moveTo>
                    <a:pt x="526" y="216"/>
                  </a:moveTo>
                  <a:cubicBezTo>
                    <a:pt x="543" y="226"/>
                    <a:pt x="543" y="226"/>
                    <a:pt x="543" y="226"/>
                  </a:cubicBezTo>
                  <a:cubicBezTo>
                    <a:pt x="557" y="235"/>
                    <a:pt x="569" y="256"/>
                    <a:pt x="569" y="273"/>
                  </a:cubicBezTo>
                  <a:cubicBezTo>
                    <a:pt x="570" y="293"/>
                    <a:pt x="570" y="293"/>
                    <a:pt x="570" y="293"/>
                  </a:cubicBezTo>
                  <a:cubicBezTo>
                    <a:pt x="571" y="309"/>
                    <a:pt x="585" y="320"/>
                    <a:pt x="601" y="316"/>
                  </a:cubicBezTo>
                  <a:cubicBezTo>
                    <a:pt x="620" y="312"/>
                    <a:pt x="620" y="312"/>
                    <a:pt x="620" y="312"/>
                  </a:cubicBezTo>
                  <a:cubicBezTo>
                    <a:pt x="637" y="308"/>
                    <a:pt x="660" y="315"/>
                    <a:pt x="672" y="326"/>
                  </a:cubicBezTo>
                  <a:cubicBezTo>
                    <a:pt x="687" y="340"/>
                    <a:pt x="687" y="340"/>
                    <a:pt x="687" y="340"/>
                  </a:cubicBezTo>
                  <a:cubicBezTo>
                    <a:pt x="699" y="351"/>
                    <a:pt x="716" y="349"/>
                    <a:pt x="725" y="335"/>
                  </a:cubicBezTo>
                  <a:cubicBezTo>
                    <a:pt x="736" y="318"/>
                    <a:pt x="736" y="318"/>
                    <a:pt x="736" y="318"/>
                  </a:cubicBezTo>
                  <a:cubicBezTo>
                    <a:pt x="745" y="304"/>
                    <a:pt x="766" y="291"/>
                    <a:pt x="782" y="291"/>
                  </a:cubicBezTo>
                  <a:cubicBezTo>
                    <a:pt x="802" y="290"/>
                    <a:pt x="802" y="290"/>
                    <a:pt x="802" y="290"/>
                  </a:cubicBezTo>
                  <a:cubicBezTo>
                    <a:pt x="819" y="290"/>
                    <a:pt x="830" y="276"/>
                    <a:pt x="826" y="259"/>
                  </a:cubicBezTo>
                  <a:cubicBezTo>
                    <a:pt x="821" y="240"/>
                    <a:pt x="821" y="240"/>
                    <a:pt x="821" y="240"/>
                  </a:cubicBezTo>
                  <a:cubicBezTo>
                    <a:pt x="818" y="224"/>
                    <a:pt x="824" y="200"/>
                    <a:pt x="835" y="188"/>
                  </a:cubicBezTo>
                  <a:cubicBezTo>
                    <a:pt x="849" y="173"/>
                    <a:pt x="849" y="173"/>
                    <a:pt x="849" y="173"/>
                  </a:cubicBezTo>
                  <a:cubicBezTo>
                    <a:pt x="860" y="161"/>
                    <a:pt x="858" y="144"/>
                    <a:pt x="844" y="135"/>
                  </a:cubicBezTo>
                  <a:cubicBezTo>
                    <a:pt x="827" y="124"/>
                    <a:pt x="827" y="124"/>
                    <a:pt x="827" y="124"/>
                  </a:cubicBezTo>
                  <a:cubicBezTo>
                    <a:pt x="813" y="115"/>
                    <a:pt x="801" y="95"/>
                    <a:pt x="800" y="78"/>
                  </a:cubicBezTo>
                  <a:cubicBezTo>
                    <a:pt x="800" y="58"/>
                    <a:pt x="800" y="58"/>
                    <a:pt x="800" y="58"/>
                  </a:cubicBezTo>
                  <a:cubicBezTo>
                    <a:pt x="799" y="41"/>
                    <a:pt x="785" y="31"/>
                    <a:pt x="769" y="34"/>
                  </a:cubicBezTo>
                  <a:cubicBezTo>
                    <a:pt x="749" y="39"/>
                    <a:pt x="749" y="39"/>
                    <a:pt x="749" y="39"/>
                  </a:cubicBezTo>
                  <a:cubicBezTo>
                    <a:pt x="733" y="42"/>
                    <a:pt x="710" y="36"/>
                    <a:pt x="698" y="25"/>
                  </a:cubicBezTo>
                  <a:cubicBezTo>
                    <a:pt x="683" y="11"/>
                    <a:pt x="683" y="11"/>
                    <a:pt x="683" y="11"/>
                  </a:cubicBezTo>
                  <a:cubicBezTo>
                    <a:pt x="671" y="0"/>
                    <a:pt x="653" y="2"/>
                    <a:pt x="645" y="16"/>
                  </a:cubicBezTo>
                  <a:cubicBezTo>
                    <a:pt x="634" y="33"/>
                    <a:pt x="634" y="33"/>
                    <a:pt x="634" y="33"/>
                  </a:cubicBezTo>
                  <a:cubicBezTo>
                    <a:pt x="625" y="47"/>
                    <a:pt x="604" y="59"/>
                    <a:pt x="587" y="60"/>
                  </a:cubicBezTo>
                  <a:cubicBezTo>
                    <a:pt x="567" y="60"/>
                    <a:pt x="567" y="60"/>
                    <a:pt x="567" y="60"/>
                  </a:cubicBezTo>
                  <a:cubicBezTo>
                    <a:pt x="551" y="61"/>
                    <a:pt x="540" y="75"/>
                    <a:pt x="544" y="91"/>
                  </a:cubicBezTo>
                  <a:cubicBezTo>
                    <a:pt x="548" y="111"/>
                    <a:pt x="548" y="111"/>
                    <a:pt x="548" y="111"/>
                  </a:cubicBezTo>
                  <a:cubicBezTo>
                    <a:pt x="552" y="127"/>
                    <a:pt x="546" y="150"/>
                    <a:pt x="534" y="163"/>
                  </a:cubicBezTo>
                  <a:cubicBezTo>
                    <a:pt x="521" y="177"/>
                    <a:pt x="521" y="177"/>
                    <a:pt x="521" y="177"/>
                  </a:cubicBezTo>
                  <a:cubicBezTo>
                    <a:pt x="509" y="189"/>
                    <a:pt x="512" y="207"/>
                    <a:pt x="526" y="216"/>
                  </a:cubicBezTo>
                  <a:close/>
                  <a:moveTo>
                    <a:pt x="685" y="93"/>
                  </a:moveTo>
                  <a:cubicBezTo>
                    <a:pt x="730" y="93"/>
                    <a:pt x="767" y="130"/>
                    <a:pt x="767" y="175"/>
                  </a:cubicBezTo>
                  <a:cubicBezTo>
                    <a:pt x="767" y="221"/>
                    <a:pt x="730" y="258"/>
                    <a:pt x="685" y="258"/>
                  </a:cubicBezTo>
                  <a:cubicBezTo>
                    <a:pt x="639" y="258"/>
                    <a:pt x="603" y="221"/>
                    <a:pt x="603" y="175"/>
                  </a:cubicBezTo>
                  <a:cubicBezTo>
                    <a:pt x="603" y="130"/>
                    <a:pt x="639" y="93"/>
                    <a:pt x="685" y="93"/>
                  </a:cubicBezTo>
                  <a:close/>
                  <a:moveTo>
                    <a:pt x="685" y="93"/>
                  </a:moveTo>
                  <a:cubicBezTo>
                    <a:pt x="685" y="93"/>
                    <a:pt x="685" y="93"/>
                    <a:pt x="685" y="93"/>
                  </a:cubicBezTo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9525">
              <a:solidFill>
                <a:srgbClr val="C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pic>
        <p:nvPicPr>
          <p:cNvPr id="6" name="Image 0" descr="logo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4260" y="21590"/>
            <a:ext cx="2237740" cy="735965"/>
          </a:xfrm>
          <a:prstGeom prst="rect">
            <a:avLst/>
          </a:prstGeom>
        </p:spPr>
      </p:pic>
      <p:pic>
        <p:nvPicPr>
          <p:cNvPr id="2097176" name="Picture 83" descr="77-南京航空航天大学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25" y="1310005"/>
            <a:ext cx="2012950" cy="20129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622550" y="4890770"/>
            <a:ext cx="6947535" cy="9150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b="1">
                <a:solidFill>
                  <a:schemeClr val="accent6"/>
                </a:solidFill>
              </a:rPr>
              <a:t>小组成员：</a:t>
            </a:r>
            <a:r>
              <a:rPr lang="en-US" altLang="zh-CN" b="1">
                <a:solidFill>
                  <a:schemeClr val="accent6"/>
                </a:solidFill>
              </a:rPr>
              <a:t>    </a:t>
            </a:r>
            <a:r>
              <a:rPr lang="zh-CN" altLang="en-US" b="1">
                <a:solidFill>
                  <a:schemeClr val="accent6"/>
                </a:solidFill>
              </a:rPr>
              <a:t>何思君（</a:t>
            </a:r>
            <a:r>
              <a:rPr lang="en-US" altLang="zh-CN" b="1">
                <a:solidFill>
                  <a:schemeClr val="accent6"/>
                </a:solidFill>
              </a:rPr>
              <a:t>032430128</a:t>
            </a:r>
            <a:r>
              <a:rPr altLang="en-US" b="1">
                <a:solidFill>
                  <a:schemeClr val="accent6"/>
                </a:solidFill>
              </a:rPr>
              <a:t>）、高</a:t>
            </a:r>
            <a:r>
              <a:rPr lang="en-US" altLang="zh-CN" b="1">
                <a:solidFill>
                  <a:schemeClr val="accent6"/>
                </a:solidFill>
              </a:rPr>
              <a:t>    </a:t>
            </a:r>
            <a:r>
              <a:rPr altLang="en-US" b="1">
                <a:solidFill>
                  <a:schemeClr val="accent6"/>
                </a:solidFill>
              </a:rPr>
              <a:t>申（</a:t>
            </a:r>
            <a:r>
              <a:rPr lang="en-US" altLang="zh-CN" b="1">
                <a:solidFill>
                  <a:schemeClr val="accent6"/>
                </a:solidFill>
              </a:rPr>
              <a:t>032430125</a:t>
            </a:r>
            <a:r>
              <a:rPr altLang="en-US" b="1">
                <a:solidFill>
                  <a:schemeClr val="accent6"/>
                </a:solidFill>
              </a:rPr>
              <a:t>）、</a:t>
            </a:r>
            <a:endParaRPr altLang="en-US" b="1">
              <a:solidFill>
                <a:schemeClr val="accent6"/>
              </a:solidFill>
            </a:endParaRPr>
          </a:p>
          <a:p>
            <a:pPr algn="ctr"/>
            <a:r>
              <a:rPr lang="en-US" altLang="zh-CN" b="1">
                <a:solidFill>
                  <a:schemeClr val="accent6"/>
                </a:solidFill>
              </a:rPr>
              <a:t>                  </a:t>
            </a:r>
            <a:r>
              <a:rPr altLang="en-US" b="1">
                <a:solidFill>
                  <a:schemeClr val="accent6"/>
                </a:solidFill>
              </a:rPr>
              <a:t>黄诗宸（</a:t>
            </a:r>
            <a:r>
              <a:rPr lang="en-US" altLang="zh-CN" b="1">
                <a:solidFill>
                  <a:schemeClr val="accent6"/>
                </a:solidFill>
              </a:rPr>
              <a:t>032430126</a:t>
            </a:r>
            <a:r>
              <a:rPr altLang="en-US" b="1">
                <a:solidFill>
                  <a:schemeClr val="accent6"/>
                </a:solidFill>
              </a:rPr>
              <a:t>）、苏波汗（</a:t>
            </a:r>
            <a:r>
              <a:rPr lang="en-US" altLang="zh-CN" b="1">
                <a:solidFill>
                  <a:schemeClr val="accent6"/>
                </a:solidFill>
              </a:rPr>
              <a:t>032430127</a:t>
            </a:r>
            <a:r>
              <a:rPr altLang="en-US" b="1">
                <a:solidFill>
                  <a:schemeClr val="accent6"/>
                </a:solidFill>
              </a:rPr>
              <a:t>）</a:t>
            </a:r>
            <a:endParaRPr altLang="en-US" b="1">
              <a:solidFill>
                <a:schemeClr val="accent6"/>
              </a:solidFill>
            </a:endParaRPr>
          </a:p>
        </p:txBody>
      </p:sp>
      <p:sp>
        <p:nvSpPr>
          <p:cNvPr id="7" name="椭圆 68"/>
          <p:cNvSpPr/>
          <p:nvPr/>
        </p:nvSpPr>
        <p:spPr>
          <a:xfrm>
            <a:off x="3031490" y="4037965"/>
            <a:ext cx="496570" cy="514985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212834"/>
              </a:solidFill>
            </a:endParaRPr>
          </a:p>
        </p:txBody>
      </p:sp>
      <p:grpSp>
        <p:nvGrpSpPr>
          <p:cNvPr id="8" name="Group 66"/>
          <p:cNvGrpSpPr>
            <a:grpSpLocks noChangeAspect="1"/>
          </p:cNvGrpSpPr>
          <p:nvPr/>
        </p:nvGrpSpPr>
        <p:grpSpPr bwMode="auto">
          <a:xfrm>
            <a:off x="3176905" y="4167505"/>
            <a:ext cx="191770" cy="220980"/>
            <a:chOff x="2111" y="2322"/>
            <a:chExt cx="121" cy="131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9" name="Freeform 67"/>
            <p:cNvSpPr/>
            <p:nvPr/>
          </p:nvSpPr>
          <p:spPr bwMode="auto">
            <a:xfrm>
              <a:off x="2159" y="2350"/>
              <a:ext cx="40" cy="37"/>
            </a:xfrm>
            <a:custGeom>
              <a:avLst/>
              <a:gdLst>
                <a:gd name="T0" fmla="*/ 89 w 213"/>
                <a:gd name="T1" fmla="*/ 19 h 198"/>
                <a:gd name="T2" fmla="*/ 196 w 213"/>
                <a:gd name="T3" fmla="*/ 143 h 198"/>
                <a:gd name="T4" fmla="*/ 208 w 213"/>
                <a:gd name="T5" fmla="*/ 189 h 198"/>
                <a:gd name="T6" fmla="*/ 206 w 213"/>
                <a:gd name="T7" fmla="*/ 191 h 198"/>
                <a:gd name="T8" fmla="*/ 158 w 213"/>
                <a:gd name="T9" fmla="*/ 186 h 198"/>
                <a:gd name="T10" fmla="*/ 22 w 213"/>
                <a:gd name="T11" fmla="*/ 92 h 198"/>
                <a:gd name="T12" fmla="*/ 13 w 213"/>
                <a:gd name="T13" fmla="*/ 44 h 198"/>
                <a:gd name="T14" fmla="*/ 40 w 213"/>
                <a:gd name="T15" fmla="*/ 15 h 198"/>
                <a:gd name="T16" fmla="*/ 89 w 213"/>
                <a:gd name="T17" fmla="*/ 19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3" h="198">
                  <a:moveTo>
                    <a:pt x="89" y="19"/>
                  </a:moveTo>
                  <a:cubicBezTo>
                    <a:pt x="196" y="143"/>
                    <a:pt x="196" y="143"/>
                    <a:pt x="196" y="143"/>
                  </a:cubicBezTo>
                  <a:cubicBezTo>
                    <a:pt x="210" y="160"/>
                    <a:pt x="213" y="183"/>
                    <a:pt x="208" y="189"/>
                  </a:cubicBezTo>
                  <a:cubicBezTo>
                    <a:pt x="206" y="191"/>
                    <a:pt x="206" y="191"/>
                    <a:pt x="206" y="191"/>
                  </a:cubicBezTo>
                  <a:cubicBezTo>
                    <a:pt x="200" y="197"/>
                    <a:pt x="176" y="198"/>
                    <a:pt x="158" y="186"/>
                  </a:cubicBezTo>
                  <a:cubicBezTo>
                    <a:pt x="22" y="92"/>
                    <a:pt x="22" y="92"/>
                    <a:pt x="22" y="92"/>
                  </a:cubicBezTo>
                  <a:cubicBezTo>
                    <a:pt x="4" y="80"/>
                    <a:pt x="0" y="58"/>
                    <a:pt x="13" y="44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53" y="0"/>
                    <a:pt x="74" y="2"/>
                    <a:pt x="89" y="1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2834"/>
                </a:solidFill>
              </a:endParaRPr>
            </a:p>
          </p:txBody>
        </p:sp>
        <p:sp>
          <p:nvSpPr>
            <p:cNvPr id="10" name="Freeform 68"/>
            <p:cNvSpPr>
              <a:spLocks noEditPoints="1"/>
            </p:cNvSpPr>
            <p:nvPr/>
          </p:nvSpPr>
          <p:spPr bwMode="auto">
            <a:xfrm>
              <a:off x="2129" y="2322"/>
              <a:ext cx="71" cy="90"/>
            </a:xfrm>
            <a:custGeom>
              <a:avLst/>
              <a:gdLst>
                <a:gd name="T0" fmla="*/ 142 w 381"/>
                <a:gd name="T1" fmla="*/ 449 h 481"/>
                <a:gd name="T2" fmla="*/ 348 w 381"/>
                <a:gd name="T3" fmla="*/ 236 h 481"/>
                <a:gd name="T4" fmla="*/ 374 w 381"/>
                <a:gd name="T5" fmla="*/ 235 h 481"/>
                <a:gd name="T6" fmla="*/ 374 w 381"/>
                <a:gd name="T7" fmla="*/ 260 h 481"/>
                <a:gd name="T8" fmla="*/ 168 w 381"/>
                <a:gd name="T9" fmla="*/ 474 h 481"/>
                <a:gd name="T10" fmla="*/ 142 w 381"/>
                <a:gd name="T11" fmla="*/ 474 h 481"/>
                <a:gd name="T12" fmla="*/ 142 w 381"/>
                <a:gd name="T13" fmla="*/ 449 h 481"/>
                <a:gd name="T14" fmla="*/ 122 w 381"/>
                <a:gd name="T15" fmla="*/ 245 h 481"/>
                <a:gd name="T16" fmla="*/ 0 w 381"/>
                <a:gd name="T17" fmla="*/ 123 h 481"/>
                <a:gd name="T18" fmla="*/ 20 w 381"/>
                <a:gd name="T19" fmla="*/ 56 h 481"/>
                <a:gd name="T20" fmla="*/ 45 w 381"/>
                <a:gd name="T21" fmla="*/ 51 h 481"/>
                <a:gd name="T22" fmla="*/ 50 w 381"/>
                <a:gd name="T23" fmla="*/ 76 h 481"/>
                <a:gd name="T24" fmla="*/ 36 w 381"/>
                <a:gd name="T25" fmla="*/ 123 h 481"/>
                <a:gd name="T26" fmla="*/ 122 w 381"/>
                <a:gd name="T27" fmla="*/ 209 h 481"/>
                <a:gd name="T28" fmla="*/ 209 w 381"/>
                <a:gd name="T29" fmla="*/ 123 h 481"/>
                <a:gd name="T30" fmla="*/ 133 w 381"/>
                <a:gd name="T31" fmla="*/ 37 h 481"/>
                <a:gd name="T32" fmla="*/ 117 w 381"/>
                <a:gd name="T33" fmla="*/ 17 h 481"/>
                <a:gd name="T34" fmla="*/ 137 w 381"/>
                <a:gd name="T35" fmla="*/ 2 h 481"/>
                <a:gd name="T36" fmla="*/ 245 w 381"/>
                <a:gd name="T37" fmla="*/ 123 h 481"/>
                <a:gd name="T38" fmla="*/ 122 w 381"/>
                <a:gd name="T39" fmla="*/ 245 h 481"/>
                <a:gd name="T40" fmla="*/ 67 w 381"/>
                <a:gd name="T41" fmla="*/ 52 h 481"/>
                <a:gd name="T42" fmla="*/ 52 w 381"/>
                <a:gd name="T43" fmla="*/ 44 h 481"/>
                <a:gd name="T44" fmla="*/ 58 w 381"/>
                <a:gd name="T45" fmla="*/ 19 h 481"/>
                <a:gd name="T46" fmla="*/ 81 w 381"/>
                <a:gd name="T47" fmla="*/ 8 h 481"/>
                <a:gd name="T48" fmla="*/ 104 w 381"/>
                <a:gd name="T49" fmla="*/ 19 h 481"/>
                <a:gd name="T50" fmla="*/ 93 w 381"/>
                <a:gd name="T51" fmla="*/ 42 h 481"/>
                <a:gd name="T52" fmla="*/ 77 w 381"/>
                <a:gd name="T53" fmla="*/ 50 h 481"/>
                <a:gd name="T54" fmla="*/ 67 w 381"/>
                <a:gd name="T55" fmla="*/ 52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81" h="481">
                  <a:moveTo>
                    <a:pt x="142" y="449"/>
                  </a:moveTo>
                  <a:cubicBezTo>
                    <a:pt x="348" y="236"/>
                    <a:pt x="348" y="236"/>
                    <a:pt x="348" y="236"/>
                  </a:cubicBezTo>
                  <a:cubicBezTo>
                    <a:pt x="355" y="228"/>
                    <a:pt x="366" y="228"/>
                    <a:pt x="374" y="235"/>
                  </a:cubicBezTo>
                  <a:cubicBezTo>
                    <a:pt x="381" y="242"/>
                    <a:pt x="381" y="253"/>
                    <a:pt x="374" y="260"/>
                  </a:cubicBezTo>
                  <a:cubicBezTo>
                    <a:pt x="168" y="474"/>
                    <a:pt x="168" y="474"/>
                    <a:pt x="168" y="474"/>
                  </a:cubicBezTo>
                  <a:cubicBezTo>
                    <a:pt x="161" y="481"/>
                    <a:pt x="150" y="481"/>
                    <a:pt x="142" y="474"/>
                  </a:cubicBezTo>
                  <a:cubicBezTo>
                    <a:pt x="135" y="467"/>
                    <a:pt x="135" y="456"/>
                    <a:pt x="142" y="449"/>
                  </a:cubicBezTo>
                  <a:close/>
                  <a:moveTo>
                    <a:pt x="122" y="245"/>
                  </a:moveTo>
                  <a:cubicBezTo>
                    <a:pt x="55" y="245"/>
                    <a:pt x="0" y="190"/>
                    <a:pt x="0" y="123"/>
                  </a:cubicBezTo>
                  <a:cubicBezTo>
                    <a:pt x="0" y="99"/>
                    <a:pt x="7" y="76"/>
                    <a:pt x="20" y="56"/>
                  </a:cubicBezTo>
                  <a:cubicBezTo>
                    <a:pt x="26" y="48"/>
                    <a:pt x="37" y="45"/>
                    <a:pt x="45" y="51"/>
                  </a:cubicBezTo>
                  <a:cubicBezTo>
                    <a:pt x="53" y="56"/>
                    <a:pt x="56" y="67"/>
                    <a:pt x="50" y="76"/>
                  </a:cubicBezTo>
                  <a:cubicBezTo>
                    <a:pt x="41" y="90"/>
                    <a:pt x="36" y="106"/>
                    <a:pt x="36" y="123"/>
                  </a:cubicBezTo>
                  <a:cubicBezTo>
                    <a:pt x="36" y="171"/>
                    <a:pt x="75" y="209"/>
                    <a:pt x="122" y="209"/>
                  </a:cubicBezTo>
                  <a:cubicBezTo>
                    <a:pt x="170" y="209"/>
                    <a:pt x="209" y="171"/>
                    <a:pt x="209" y="123"/>
                  </a:cubicBezTo>
                  <a:cubicBezTo>
                    <a:pt x="209" y="79"/>
                    <a:pt x="176" y="42"/>
                    <a:pt x="133" y="37"/>
                  </a:cubicBezTo>
                  <a:cubicBezTo>
                    <a:pt x="123" y="36"/>
                    <a:pt x="116" y="27"/>
                    <a:pt x="117" y="17"/>
                  </a:cubicBezTo>
                  <a:cubicBezTo>
                    <a:pt x="118" y="7"/>
                    <a:pt x="127" y="0"/>
                    <a:pt x="137" y="2"/>
                  </a:cubicBezTo>
                  <a:cubicBezTo>
                    <a:pt x="198" y="9"/>
                    <a:pt x="245" y="61"/>
                    <a:pt x="245" y="123"/>
                  </a:cubicBezTo>
                  <a:cubicBezTo>
                    <a:pt x="245" y="190"/>
                    <a:pt x="190" y="245"/>
                    <a:pt x="122" y="245"/>
                  </a:cubicBezTo>
                  <a:close/>
                  <a:moveTo>
                    <a:pt x="67" y="52"/>
                  </a:moveTo>
                  <a:cubicBezTo>
                    <a:pt x="61" y="52"/>
                    <a:pt x="55" y="50"/>
                    <a:pt x="52" y="44"/>
                  </a:cubicBezTo>
                  <a:cubicBezTo>
                    <a:pt x="47" y="36"/>
                    <a:pt x="49" y="25"/>
                    <a:pt x="58" y="19"/>
                  </a:cubicBezTo>
                  <a:cubicBezTo>
                    <a:pt x="65" y="15"/>
                    <a:pt x="73" y="11"/>
                    <a:pt x="81" y="8"/>
                  </a:cubicBezTo>
                  <a:cubicBezTo>
                    <a:pt x="91" y="5"/>
                    <a:pt x="101" y="9"/>
                    <a:pt x="104" y="19"/>
                  </a:cubicBezTo>
                  <a:cubicBezTo>
                    <a:pt x="107" y="28"/>
                    <a:pt x="103" y="38"/>
                    <a:pt x="93" y="42"/>
                  </a:cubicBezTo>
                  <a:cubicBezTo>
                    <a:pt x="87" y="44"/>
                    <a:pt x="82" y="47"/>
                    <a:pt x="77" y="50"/>
                  </a:cubicBezTo>
                  <a:cubicBezTo>
                    <a:pt x="74" y="52"/>
                    <a:pt x="71" y="52"/>
                    <a:pt x="67" y="5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2834"/>
                </a:solidFill>
              </a:endParaRPr>
            </a:p>
          </p:txBody>
        </p:sp>
        <p:sp>
          <p:nvSpPr>
            <p:cNvPr id="11" name="Freeform 69"/>
            <p:cNvSpPr>
              <a:spLocks noEditPoints="1"/>
            </p:cNvSpPr>
            <p:nvPr/>
          </p:nvSpPr>
          <p:spPr bwMode="auto">
            <a:xfrm>
              <a:off x="2111" y="2406"/>
              <a:ext cx="121" cy="47"/>
            </a:xfrm>
            <a:custGeom>
              <a:avLst/>
              <a:gdLst>
                <a:gd name="T0" fmla="*/ 597 w 648"/>
                <a:gd name="T1" fmla="*/ 249 h 249"/>
                <a:gd name="T2" fmla="*/ 50 w 648"/>
                <a:gd name="T3" fmla="*/ 249 h 249"/>
                <a:gd name="T4" fmla="*/ 0 w 648"/>
                <a:gd name="T5" fmla="*/ 198 h 249"/>
                <a:gd name="T6" fmla="*/ 0 w 648"/>
                <a:gd name="T7" fmla="*/ 50 h 249"/>
                <a:gd name="T8" fmla="*/ 50 w 648"/>
                <a:gd name="T9" fmla="*/ 0 h 249"/>
                <a:gd name="T10" fmla="*/ 597 w 648"/>
                <a:gd name="T11" fmla="*/ 0 h 249"/>
                <a:gd name="T12" fmla="*/ 648 w 648"/>
                <a:gd name="T13" fmla="*/ 50 h 249"/>
                <a:gd name="T14" fmla="*/ 648 w 648"/>
                <a:gd name="T15" fmla="*/ 198 h 249"/>
                <a:gd name="T16" fmla="*/ 597 w 648"/>
                <a:gd name="T17" fmla="*/ 249 h 249"/>
                <a:gd name="T18" fmla="*/ 50 w 648"/>
                <a:gd name="T19" fmla="*/ 35 h 249"/>
                <a:gd name="T20" fmla="*/ 36 w 648"/>
                <a:gd name="T21" fmla="*/ 50 h 249"/>
                <a:gd name="T22" fmla="*/ 36 w 648"/>
                <a:gd name="T23" fmla="*/ 198 h 249"/>
                <a:gd name="T24" fmla="*/ 50 w 648"/>
                <a:gd name="T25" fmla="*/ 213 h 249"/>
                <a:gd name="T26" fmla="*/ 597 w 648"/>
                <a:gd name="T27" fmla="*/ 213 h 249"/>
                <a:gd name="T28" fmla="*/ 612 w 648"/>
                <a:gd name="T29" fmla="*/ 198 h 249"/>
                <a:gd name="T30" fmla="*/ 612 w 648"/>
                <a:gd name="T31" fmla="*/ 50 h 249"/>
                <a:gd name="T32" fmla="*/ 597 w 648"/>
                <a:gd name="T33" fmla="*/ 35 h 249"/>
                <a:gd name="T34" fmla="*/ 50 w 648"/>
                <a:gd name="T35" fmla="*/ 35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48" h="249">
                  <a:moveTo>
                    <a:pt x="597" y="249"/>
                  </a:moveTo>
                  <a:cubicBezTo>
                    <a:pt x="50" y="249"/>
                    <a:pt x="50" y="249"/>
                    <a:pt x="50" y="249"/>
                  </a:cubicBezTo>
                  <a:cubicBezTo>
                    <a:pt x="22" y="249"/>
                    <a:pt x="0" y="226"/>
                    <a:pt x="0" y="198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22"/>
                    <a:pt x="22" y="0"/>
                    <a:pt x="50" y="0"/>
                  </a:cubicBezTo>
                  <a:cubicBezTo>
                    <a:pt x="597" y="0"/>
                    <a:pt x="597" y="0"/>
                    <a:pt x="597" y="0"/>
                  </a:cubicBezTo>
                  <a:cubicBezTo>
                    <a:pt x="625" y="0"/>
                    <a:pt x="648" y="22"/>
                    <a:pt x="648" y="50"/>
                  </a:cubicBezTo>
                  <a:cubicBezTo>
                    <a:pt x="648" y="198"/>
                    <a:pt x="648" y="198"/>
                    <a:pt x="648" y="198"/>
                  </a:cubicBezTo>
                  <a:cubicBezTo>
                    <a:pt x="648" y="226"/>
                    <a:pt x="625" y="249"/>
                    <a:pt x="597" y="249"/>
                  </a:cubicBezTo>
                  <a:close/>
                  <a:moveTo>
                    <a:pt x="50" y="35"/>
                  </a:moveTo>
                  <a:cubicBezTo>
                    <a:pt x="42" y="35"/>
                    <a:pt x="36" y="42"/>
                    <a:pt x="36" y="50"/>
                  </a:cubicBezTo>
                  <a:cubicBezTo>
                    <a:pt x="36" y="198"/>
                    <a:pt x="36" y="198"/>
                    <a:pt x="36" y="198"/>
                  </a:cubicBezTo>
                  <a:cubicBezTo>
                    <a:pt x="36" y="206"/>
                    <a:pt x="42" y="213"/>
                    <a:pt x="50" y="213"/>
                  </a:cubicBezTo>
                  <a:cubicBezTo>
                    <a:pt x="597" y="213"/>
                    <a:pt x="597" y="213"/>
                    <a:pt x="597" y="213"/>
                  </a:cubicBezTo>
                  <a:cubicBezTo>
                    <a:pt x="605" y="213"/>
                    <a:pt x="612" y="206"/>
                    <a:pt x="612" y="198"/>
                  </a:cubicBezTo>
                  <a:cubicBezTo>
                    <a:pt x="612" y="50"/>
                    <a:pt x="612" y="50"/>
                    <a:pt x="612" y="50"/>
                  </a:cubicBezTo>
                  <a:cubicBezTo>
                    <a:pt x="612" y="42"/>
                    <a:pt x="605" y="35"/>
                    <a:pt x="597" y="35"/>
                  </a:cubicBezTo>
                  <a:lnTo>
                    <a:pt x="50" y="3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2834"/>
                </a:solidFill>
              </a:endParaRPr>
            </a:p>
          </p:txBody>
        </p:sp>
      </p:grpSp>
      <p:sp>
        <p:nvSpPr>
          <p:cNvPr id="1048642" name="文本框 69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<p:cNvSpPr txBox="1">
            <a:spLocks noChangeArrowheads="1"/>
          </p:cNvSpPr>
          <p:nvPr/>
        </p:nvSpPr>
        <p:spPr bwMode="auto">
          <a:xfrm>
            <a:off x="3587750" y="4107180"/>
            <a:ext cx="1683385" cy="368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defTabSz="514350" fontAlgn="base">
              <a:spcBef>
                <a:spcPct val="0"/>
              </a:spcBef>
              <a:spcAft>
                <a:spcPct val="0"/>
              </a:spcAft>
              <a:tabLst>
                <a:tab pos="2149475" algn="l"/>
              </a:tabLst>
            </a:pPr>
            <a:r>
              <a:rPr lang="zh-CN" altLang="en-US" sz="1800" b="1" dirty="0">
                <a:solidFill>
                  <a:schemeClr val="tx2"/>
                </a:solidFill>
                <a:latin typeface="微软雅黑" panose="020B0503020204020204" charset="-122"/>
                <a:cs typeface="微软雅黑" panose="020B0503020204020204" charset="-122"/>
                <a:sym typeface="Calibri" panose="020F0502020204030204" charset="0"/>
              </a:rPr>
              <a:t>汇报人：</a:t>
            </a:r>
            <a:r>
              <a:rPr altLang="en-US" sz="1800" b="1" dirty="0">
                <a:solidFill>
                  <a:schemeClr val="tx2"/>
                </a:solidFill>
                <a:latin typeface="微软雅黑" panose="020B0503020204020204" charset="-122"/>
                <a:cs typeface="微软雅黑" panose="020B0503020204020204" charset="-122"/>
                <a:sym typeface="Calibri" panose="020F0502020204030204" charset="0"/>
              </a:rPr>
              <a:t>高申</a:t>
            </a:r>
            <a:endParaRPr altLang="en-US" sz="1800" b="1" dirty="0">
              <a:solidFill>
                <a:schemeClr val="tx2"/>
              </a:solidFill>
              <a:latin typeface="微软雅黑" panose="020B0503020204020204" charset="-122"/>
              <a:cs typeface="微软雅黑" panose="020B0503020204020204" charset="-122"/>
              <a:sym typeface="Calibri" panose="020F0502020204030204" charset="0"/>
            </a:endParaRPr>
          </a:p>
        </p:txBody>
      </p:sp>
      <p:pic>
        <p:nvPicPr>
          <p:cNvPr id="12" name="图片 11" descr="培训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1825" y="4036695"/>
            <a:ext cx="511810" cy="511810"/>
          </a:xfrm>
          <a:prstGeom prst="rect">
            <a:avLst/>
          </a:prstGeom>
        </p:spPr>
      </p:pic>
      <p:sp>
        <p:nvSpPr>
          <p:cNvPr id="13" name="文本框 69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<p:cNvSpPr txBox="1">
            <a:spLocks noChangeArrowheads="1"/>
          </p:cNvSpPr>
          <p:nvPr/>
        </p:nvSpPr>
        <p:spPr bwMode="auto">
          <a:xfrm>
            <a:off x="7493635" y="4107180"/>
            <a:ext cx="3373120" cy="3683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defTabSz="514350" fontAlgn="base">
              <a:spcBef>
                <a:spcPct val="0"/>
              </a:spcBef>
              <a:spcAft>
                <a:spcPct val="0"/>
              </a:spcAft>
              <a:tabLst>
                <a:tab pos="2149475" algn="l"/>
              </a:tabLst>
            </a:pPr>
            <a:r>
              <a:rPr lang="zh-CN" altLang="en-US" sz="1800" b="1" dirty="0">
                <a:solidFill>
                  <a:schemeClr val="tx2"/>
                </a:solidFill>
                <a:latin typeface="微软雅黑" panose="020B0503020204020204" charset="-122"/>
                <a:cs typeface="微软雅黑" panose="020B0503020204020204" charset="-122"/>
                <a:sym typeface="Calibri" panose="020F0502020204030204" charset="0"/>
              </a:rPr>
              <a:t>指导老师</a:t>
            </a:r>
            <a:r>
              <a:rPr lang="en-US" altLang="zh-CN" sz="1800" b="1" dirty="0">
                <a:solidFill>
                  <a:schemeClr val="tx2"/>
                </a:solidFill>
                <a:latin typeface="微软雅黑" panose="020B0503020204020204" charset="-122"/>
                <a:cs typeface="微软雅黑" panose="020B0503020204020204" charset="-122"/>
                <a:sym typeface="Calibri" panose="020F0502020204030204" charset="0"/>
              </a:rPr>
              <a:t>:</a:t>
            </a:r>
            <a:r>
              <a:rPr altLang="en-US" sz="1800" b="1" dirty="0">
                <a:solidFill>
                  <a:schemeClr val="tx2"/>
                </a:solidFill>
                <a:latin typeface="微软雅黑" panose="020B0503020204020204" charset="-122"/>
                <a:cs typeface="微软雅黑" panose="020B0503020204020204" charset="-122"/>
                <a:sym typeface="Calibri" panose="020F0502020204030204" charset="0"/>
              </a:rPr>
              <a:t>雷鸿、刘湛湛、洪峰</a:t>
            </a:r>
            <a:endParaRPr lang="en-US" altLang="zh-CN" sz="1800" b="1" dirty="0">
              <a:solidFill>
                <a:schemeClr val="tx2"/>
              </a:solidFill>
              <a:latin typeface="微软雅黑" panose="020B0503020204020204" charset="-122"/>
              <a:cs typeface="微软雅黑" panose="020B0503020204020204" charset="-122"/>
              <a:sym typeface="Calibri" panose="020F05020202040302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48000" y="313690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 sz="32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0c74256455b726fbc3b4b8dc7ae65a98a496055"/>
  <p:tag name="KSO_WM_NEWLAYOUT_ID" val="slide_1443fac76aad335c"/>
</p:tagLst>
</file>

<file path=ppt/tags/tag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.xml><?xml version="1.0" encoding="utf-8"?>
<p:tagLst xmlns:p="http://schemas.openxmlformats.org/presentationml/2006/main">
  <p:tag name="KSO_WM_BEAUTIFY_FLAG" val="#fgm#"/>
  <p:tag name="KSO_WM_FIGMA_FLAG" val="#fgm#"/>
  <p:tag name="KSO_WM_UNIT_INDEX" val="2"/>
  <p:tag name="KSO_WM_UNIT_TYPE" val="d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SLIDE_ID" val="slide_1443fac76aad335c"/>
</p:tagLst>
</file>

<file path=ppt/tags/tag8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9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10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11.xml><?xml version="1.0" encoding="utf-8"?>
<p:tagLst xmlns:p="http://schemas.openxmlformats.org/presentationml/2006/main">
  <p:tag name="KSO_WM_DIAGRAM_VIRTUALLY_FRAME" val="{&quot;height&quot;:441.8255905511811,&quot;left&quot;:42.74999999999991,&quot;top&quot;:49.08716535433071,&quot;width&quot;:986.2952191208278}"/>
</p:tagLst>
</file>

<file path=ppt/tags/tag12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13.xml><?xml version="1.0" encoding="utf-8"?>
<p:tagLst xmlns:p="http://schemas.openxmlformats.org/presentationml/2006/main">
  <p:tag name="KSO_WM_DIAGRAM_VIRTUALLY_FRAME" val="{&quot;height&quot;:441.8255905511811,&quot;left&quot;:42.74999999999991,&quot;top&quot;:49.08716535433071,&quot;width&quot;:986.2952191208278}"/>
</p:tagLst>
</file>

<file path=ppt/tags/tag14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15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16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17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18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19.xml><?xml version="1.0" encoding="utf-8"?>
<p:tagLst xmlns:p="http://schemas.openxmlformats.org/presentationml/2006/main">
  <p:tag name="KSO_WM_DIAGRAM_VIRTUALLY_FRAME" val="{&quot;height&quot;:288.5267716535433,&quot;left&quot;:35.92291338582677,&quot;top&quot;:165.32259842519684,&quot;width&quot;:895.6497637795276}"/>
</p:tagLst>
</file>

<file path=ppt/tags/tag20.xml><?xml version="1.0" encoding="utf-8"?>
<p:tagLst xmlns:p="http://schemas.openxmlformats.org/presentationml/2006/main">
  <p:tag name="KSO_WM_DIAGRAM_VIRTUALLY_FRAME" val="{&quot;height&quot;:288.5267716535433,&quot;left&quot;:35.92291338582677,&quot;top&quot;:165.32259842519684,&quot;width&quot;:895.6497637795276}"/>
</p:tagLst>
</file>

<file path=ppt/tags/tag21.xml><?xml version="1.0" encoding="utf-8"?>
<p:tagLst xmlns:p="http://schemas.openxmlformats.org/presentationml/2006/main">
  <p:tag name="KSO_WM_DIAGRAM_VIRTUALLY_FRAME" val="{&quot;height&quot;:288.5267716535433,&quot;left&quot;:35.92291338582677,&quot;top&quot;:165.32259842519684,&quot;width&quot;:895.6497637795276}"/>
</p:tagLst>
</file>

<file path=ppt/tags/tag22.xml><?xml version="1.0" encoding="utf-8"?>
<p:tagLst xmlns:p="http://schemas.openxmlformats.org/presentationml/2006/main">
  <p:tag name="KSO_WM_DIAGRAM_VIRTUALLY_FRAME" val="{&quot;height&quot;:288.5267716535433,&quot;left&quot;:35.92291338582677,&quot;top&quot;:165.32259842519684,&quot;width&quot;:895.6497637795276}"/>
</p:tagLst>
</file>

<file path=ppt/tags/tag23.xml><?xml version="1.0" encoding="utf-8"?>
<p:tagLst xmlns:p="http://schemas.openxmlformats.org/presentationml/2006/main">
  <p:tag name="KSO_WM_DIAGRAM_VIRTUALLY_FRAME" val="{&quot;height&quot;:112.5,&quot;left&quot;:67.5,&quot;top&quot;:352.5,&quot;width&quot;:825}"/>
</p:tagLst>
</file>

<file path=ppt/tags/tag24.xml><?xml version="1.0" encoding="utf-8"?>
<p:tagLst xmlns:p="http://schemas.openxmlformats.org/presentationml/2006/main">
  <p:tag name="KSO_WM_DIAGRAM_VIRTUALLY_FRAME" val="{&quot;height&quot;:112.5,&quot;left&quot;:67.5,&quot;top&quot;:352.5,&quot;width&quot;:825}"/>
</p:tagLst>
</file>

<file path=ppt/tags/tag25.xml><?xml version="1.0" encoding="utf-8"?>
<p:tagLst xmlns:p="http://schemas.openxmlformats.org/presentationml/2006/main">
  <p:tag name="KSO_WM_DIAGRAM_VIRTUALLY_FRAME" val="{&quot;height&quot;:112.5,&quot;left&quot;:67.5,&quot;top&quot;:352.5,&quot;width&quot;:825}"/>
</p:tagLst>
</file>

<file path=ppt/tags/tag26.xml><?xml version="1.0" encoding="utf-8"?>
<p:tagLst xmlns:p="http://schemas.openxmlformats.org/presentationml/2006/main">
  <p:tag name="KSO_WM_DIAGRAM_VIRTUALLY_FRAME" val="{&quot;height&quot;:112.5,&quot;left&quot;:67.5,&quot;top&quot;:352.5,&quot;width&quot;:825}"/>
</p:tagLst>
</file>

<file path=ppt/tags/tag27.xml><?xml version="1.0" encoding="utf-8"?>
<p:tagLst xmlns:p="http://schemas.openxmlformats.org/presentationml/2006/main">
  <p:tag name="KSO_WM_DIAGRAM_VIRTUALLY_FRAME" val="{&quot;height&quot;:112.5,&quot;left&quot;:67.5,&quot;top&quot;:352.5,&quot;width&quot;:825}"/>
</p:tagLst>
</file>

<file path=ppt/tags/tag28.xml><?xml version="1.0" encoding="utf-8"?>
<p:tagLst xmlns:p="http://schemas.openxmlformats.org/presentationml/2006/main">
  <p:tag name="KSO_WM_DIAGRAM_VIRTUALLY_FRAME" val="{&quot;height&quot;:112.5,&quot;left&quot;:67.5,&quot;top&quot;:352.5,&quot;width&quot;:825}"/>
</p:tagLst>
</file>

<file path=ppt/tags/tag29.xml><?xml version="1.0" encoding="utf-8"?>
<p:tagLst xmlns:p="http://schemas.openxmlformats.org/presentationml/2006/main">
  <p:tag name="KSO_WM_DIAGRAM_VIRTUALLY_FRAME" val="{&quot;height&quot;:112.5,&quot;left&quot;:67.5,&quot;top&quot;:352.5,&quot;width&quot;:825}"/>
</p:tagLst>
</file>

<file path=ppt/tags/tag30.xml><?xml version="1.0" encoding="utf-8"?>
<p:tagLst xmlns:p="http://schemas.openxmlformats.org/presentationml/2006/main">
  <p:tag name="KSO_WM_DIAGRAM_VIRTUALLY_FRAME" val="{&quot;height&quot;:112.5,&quot;left&quot;:67.5,&quot;top&quot;:352.5,&quot;width&quot;:825}"/>
</p:tagLst>
</file>

<file path=ppt/tags/tag31.xml><?xml version="1.0" encoding="utf-8"?>
<p:tagLst xmlns:p="http://schemas.openxmlformats.org/presentationml/2006/main">
  <p:tag name="KSO_WM_DIAGRAM_VIRTUALLY_FRAME" val="{&quot;height&quot;:322.5,&quot;left&quot;:48,&quot;top&quot;:120,&quot;width&quot;:864}"/>
</p:tagLst>
</file>

<file path=ppt/tags/tag32.xml><?xml version="1.0" encoding="utf-8"?>
<p:tagLst xmlns:p="http://schemas.openxmlformats.org/presentationml/2006/main">
  <p:tag name="KSO_WM_DIAGRAM_VIRTUALLY_FRAME" val="{&quot;height&quot;:288.5267716535433,&quot;left&quot;:35.92291338582677,&quot;top&quot;:165.32259842519684,&quot;width&quot;:895.6497637795276}"/>
</p:tagLst>
</file>

<file path=ppt/tags/tag33.xml><?xml version="1.0" encoding="utf-8"?>
<p:tagLst xmlns:p="http://schemas.openxmlformats.org/presentationml/2006/main">
  <p:tag name="KSO_WM_DIAGRAM_VIRTUALLY_FRAME" val="{&quot;height&quot;:288.5267716535433,&quot;left&quot;:35.92291338582677,&quot;top&quot;:165.32259842519684,&quot;width&quot;:895.6497637795276}"/>
</p:tagLst>
</file>

<file path=ppt/tags/tag34.xml><?xml version="1.0" encoding="utf-8"?>
<p:tagLst xmlns:p="http://schemas.openxmlformats.org/presentationml/2006/main">
  <p:tag name="KSO_WM_DIAGRAM_VIRTUALLY_FRAME" val="{&quot;height&quot;:112.5,&quot;left&quot;:67.5,&quot;top&quot;:352.5,&quot;width&quot;:825}"/>
</p:tagLst>
</file>

<file path=ppt/tags/tag35.xml><?xml version="1.0" encoding="utf-8"?>
<p:tagLst xmlns:p="http://schemas.openxmlformats.org/presentationml/2006/main">
  <p:tag name="KSO_WM_DIAGRAM_VIRTUALLY_FRAME" val="{&quot;height&quot;:112.5,&quot;left&quot;:67.5,&quot;top&quot;:352.5,&quot;width&quot;:825}"/>
</p:tagLst>
</file>

<file path=ppt/tags/tag36.xml><?xml version="1.0" encoding="utf-8"?>
<p:tagLst xmlns:p="http://schemas.openxmlformats.org/presentationml/2006/main">
  <p:tag name="KSO_WM_DIAGRAM_VIRTUALLY_FRAME" val="{&quot;height&quot;:112.5,&quot;left&quot;:67.5,&quot;top&quot;:352.5,&quot;width&quot;:825}"/>
</p:tagLst>
</file>

<file path=ppt/tags/tag37.xml><?xml version="1.0" encoding="utf-8"?>
<p:tagLst xmlns:p="http://schemas.openxmlformats.org/presentationml/2006/main">
  <p:tag name="KSO_WM_DIAGRAM_VIRTUALLY_FRAME" val="{&quot;height&quot;:112.5,&quot;left&quot;:67.5,&quot;top&quot;:352.5,&quot;width&quot;:825}"/>
</p:tagLst>
</file>

<file path=ppt/tags/tag38.xml><?xml version="1.0" encoding="utf-8"?>
<p:tagLst xmlns:p="http://schemas.openxmlformats.org/presentationml/2006/main">
  <p:tag name="KSO_WM_DIAGRAM_VIRTUALLY_FRAME" val="{&quot;height&quot;:112.5,&quot;left&quot;:67.5,&quot;top&quot;:352.5,&quot;width&quot;:825}"/>
</p:tagLst>
</file>

<file path=ppt/tags/tag39.xml><?xml version="1.0" encoding="utf-8"?>
<p:tagLst xmlns:p="http://schemas.openxmlformats.org/presentationml/2006/main">
  <p:tag name="KSO_WM_DIAGRAM_VIRTUALLY_FRAME" val="{&quot;height&quot;:112.5,&quot;left&quot;:67.5,&quot;top&quot;:352.5,&quot;width&quot;:825}"/>
</p:tagLst>
</file>

<file path=ppt/tags/tag40.xml><?xml version="1.0" encoding="utf-8"?>
<p:tagLst xmlns:p="http://schemas.openxmlformats.org/presentationml/2006/main">
  <p:tag name="KSO_WM_DIAGRAM_VIRTUALLY_FRAME" val="{&quot;height&quot;:112.5,&quot;left&quot;:67.5,&quot;top&quot;:352.5,&quot;width&quot;:825}"/>
</p:tagLst>
</file>

<file path=ppt/tags/tag41.xml><?xml version="1.0" encoding="utf-8"?>
<p:tagLst xmlns:p="http://schemas.openxmlformats.org/presentationml/2006/main">
  <p:tag name="KSO_WM_DIAGRAM_VIRTUALLY_FRAME" val="{&quot;height&quot;:112.5,&quot;left&quot;:67.5,&quot;top&quot;:352.5,&quot;width&quot;:825}"/>
</p:tagLst>
</file>

<file path=ppt/tags/tag42.xml><?xml version="1.0" encoding="utf-8"?>
<p:tagLst xmlns:p="http://schemas.openxmlformats.org/presentationml/2006/main">
  <p:tag name="KSO_WM_DIAGRAM_VIRTUALLY_FRAME" val="{&quot;height&quot;:322.5,&quot;left&quot;:48,&quot;top&quot;:120,&quot;width&quot;:864}"/>
</p:tagLst>
</file>

<file path=ppt/tags/tag43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44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45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46.xml><?xml version="1.0" encoding="utf-8"?>
<p:tagLst xmlns:p="http://schemas.openxmlformats.org/presentationml/2006/main">
  <p:tag name="KSO_WM_DIAGRAM_VIRTUALLY_FRAME" val="{&quot;height&quot;:441.8255905511811,&quot;left&quot;:42.74999999999991,&quot;top&quot;:49.08716535433071,&quot;width&quot;:986.2952191208278}"/>
</p:tagLst>
</file>

<file path=ppt/tags/tag47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48.xml><?xml version="1.0" encoding="utf-8"?>
<p:tagLst xmlns:p="http://schemas.openxmlformats.org/presentationml/2006/main">
  <p:tag name="KSO_WM_DIAGRAM_VIRTUALLY_FRAME" val="{&quot;height&quot;:441.8255905511811,&quot;left&quot;:42.74999999999991,&quot;top&quot;:49.08716535433071,&quot;width&quot;:986.2952191208278}"/>
</p:tagLst>
</file>

<file path=ppt/tags/tag49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50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51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52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53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54.xml><?xml version="1.0" encoding="utf-8"?>
<p:tagLst xmlns:p="http://schemas.openxmlformats.org/presentationml/2006/main">
  <p:tag name="TABLE_ENDDRAG_ORIGIN_RECT" val="486*350"/>
  <p:tag name="TABLE_ENDDRAG_RECT" val="447*92*486*350"/>
</p:tagLst>
</file>

<file path=ppt/tags/tag55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56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57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58.xml><?xml version="1.0" encoding="utf-8"?>
<p:tagLst xmlns:p="http://schemas.openxmlformats.org/presentationml/2006/main">
  <p:tag name="KSO_WM_DIAGRAM_VIRTUALLY_FRAME" val="{&quot;height&quot;:441.8255905511811,&quot;left&quot;:42.74999999999991,&quot;top&quot;:49.08716535433071,&quot;width&quot;:986.2952191208278}"/>
</p:tagLst>
</file>

<file path=ppt/tags/tag59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60.xml><?xml version="1.0" encoding="utf-8"?>
<p:tagLst xmlns:p="http://schemas.openxmlformats.org/presentationml/2006/main">
  <p:tag name="KSO_WM_DIAGRAM_VIRTUALLY_FRAME" val="{&quot;height&quot;:441.8255905511811,&quot;left&quot;:42.74999999999991,&quot;top&quot;:49.08716535433071,&quot;width&quot;:986.2952191208278}"/>
</p:tagLst>
</file>

<file path=ppt/tags/tag61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62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63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64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65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66.xml><?xml version="1.0" encoding="utf-8"?>
<p:tagLst xmlns:p="http://schemas.openxmlformats.org/presentationml/2006/main">
  <p:tag name="KSO_WM_DIAGRAM_VIRTUALLY_FRAME" val="{&quot;height&quot;:348.25,&quot;left&quot;:623.25,&quot;top&quot;:118.25,&quot;width&quot;:318.75}"/>
</p:tagLst>
</file>

<file path=ppt/tags/tag67.xml><?xml version="1.0" encoding="utf-8"?>
<p:tagLst xmlns:p="http://schemas.openxmlformats.org/presentationml/2006/main">
  <p:tag name="KSO_WM_DIAGRAM_VIRTUALLY_FRAME" val="{&quot;height&quot;:348.25,&quot;left&quot;:623.25,&quot;top&quot;:118.25,&quot;width&quot;:318.75}"/>
</p:tagLst>
</file>

<file path=ppt/tags/tag68.xml><?xml version="1.0" encoding="utf-8"?>
<p:tagLst xmlns:p="http://schemas.openxmlformats.org/presentationml/2006/main">
  <p:tag name="KSO_WM_DIAGRAM_VIRTUALLY_FRAME" val="{&quot;height&quot;:348.25,&quot;left&quot;:623.25,&quot;top&quot;:118.25,&quot;width&quot;:318.75}"/>
</p:tagLst>
</file>

<file path=ppt/tags/tag69.xml><?xml version="1.0" encoding="utf-8"?>
<p:tagLst xmlns:p="http://schemas.openxmlformats.org/presentationml/2006/main">
  <p:tag name="KSO_WM_DIAGRAM_VIRTUALLY_FRAME" val="{&quot;height&quot;:348.25,&quot;left&quot;:623.25,&quot;top&quot;:118.25,&quot;width&quot;:318.75}"/>
</p:tagLst>
</file>

<file path=ppt/tags/tag70.xml><?xml version="1.0" encoding="utf-8"?>
<p:tagLst xmlns:p="http://schemas.openxmlformats.org/presentationml/2006/main">
  <p:tag name="KSO_WM_DIAGRAM_VIRTUALLY_FRAME" val="{&quot;height&quot;:348.25,&quot;left&quot;:623.25,&quot;top&quot;:118.25,&quot;width&quot;:318.75}"/>
</p:tagLst>
</file>

<file path=ppt/tags/tag71.xml><?xml version="1.0" encoding="utf-8"?>
<p:tagLst xmlns:p="http://schemas.openxmlformats.org/presentationml/2006/main">
  <p:tag name="KSO_WM_DIAGRAM_VIRTUALLY_FRAME" val="{&quot;height&quot;:348.25,&quot;left&quot;:623.25,&quot;top&quot;:118.25,&quot;width&quot;:318.75}"/>
</p:tagLst>
</file>

<file path=ppt/tags/tag72.xml><?xml version="1.0" encoding="utf-8"?>
<p:tagLst xmlns:p="http://schemas.openxmlformats.org/presentationml/2006/main">
  <p:tag name="KSO_WM_DIAGRAM_VIRTUALLY_FRAME" val="{&quot;height&quot;:348.25,&quot;left&quot;:623.25,&quot;top&quot;:118.25,&quot;width&quot;:318.75}"/>
</p:tagLst>
</file>

<file path=ppt/tags/tag73.xml><?xml version="1.0" encoding="utf-8"?>
<p:tagLst xmlns:p="http://schemas.openxmlformats.org/presentationml/2006/main">
  <p:tag name="KSO_WM_DIAGRAM_VIRTUALLY_FRAME" val="{&quot;height&quot;:348.25,&quot;left&quot;:623.25,&quot;top&quot;:118.25,&quot;width&quot;:318.75}"/>
</p:tagLst>
</file>

<file path=ppt/tags/tag74.xml><?xml version="1.0" encoding="utf-8"?>
<p:tagLst xmlns:p="http://schemas.openxmlformats.org/presentationml/2006/main">
  <p:tag name="KSO_WM_DIAGRAM_VIRTUALLY_FRAME" val="{&quot;height&quot;:348.25,&quot;left&quot;:623.25,&quot;top&quot;:118.25,&quot;width&quot;:318.75}"/>
</p:tagLst>
</file>

<file path=ppt/tags/tag75.xml><?xml version="1.0" encoding="utf-8"?>
<p:tagLst xmlns:p="http://schemas.openxmlformats.org/presentationml/2006/main">
  <p:tag name="KSO_WM_DIAGRAM_VIRTUALLY_FRAME" val="{&quot;height&quot;:348.25,&quot;left&quot;:623.25,&quot;top&quot;:118.25,&quot;width&quot;:318.75}"/>
</p:tagLst>
</file>

<file path=ppt/tags/tag76.xml><?xml version="1.0" encoding="utf-8"?>
<p:tagLst xmlns:p="http://schemas.openxmlformats.org/presentationml/2006/main">
  <p:tag name="KSO_WM_DIAGRAM_VIRTUALLY_FRAME" val="{&quot;height&quot;:348.25,&quot;left&quot;:623.25,&quot;top&quot;:118.25,&quot;width&quot;:318.75}"/>
</p:tagLst>
</file>

<file path=ppt/tags/tag77.xml><?xml version="1.0" encoding="utf-8"?>
<p:tagLst xmlns:p="http://schemas.openxmlformats.org/presentationml/2006/main">
  <p:tag name="KSO_WM_DIAGRAM_VIRTUALLY_FRAME" val="{&quot;height&quot;:348.25,&quot;left&quot;:623.25,&quot;top&quot;:118.25,&quot;width&quot;:318.75}"/>
</p:tagLst>
</file>

<file path=ppt/tags/tag78.xml><?xml version="1.0" encoding="utf-8"?>
<p:tagLst xmlns:p="http://schemas.openxmlformats.org/presentationml/2006/main">
  <p:tag name="KSO_WM_DIAGRAM_VIRTUALLY_FRAME" val="{&quot;height&quot;:348.25,&quot;left&quot;:623.25,&quot;top&quot;:118.25,&quot;width&quot;:318.75}"/>
</p:tagLst>
</file>

<file path=ppt/tags/tag79.xml><?xml version="1.0" encoding="utf-8"?>
<p:tagLst xmlns:p="http://schemas.openxmlformats.org/presentationml/2006/main">
  <p:tag name="KSO_WM_DIAGRAM_VIRTUALLY_FRAME" val="{&quot;height&quot;:348.25,&quot;left&quot;:623.25,&quot;top&quot;:118.25,&quot;width&quot;:318.75}"/>
</p:tagLst>
</file>

<file path=ppt/tags/tag80.xml><?xml version="1.0" encoding="utf-8"?>
<p:tagLst xmlns:p="http://schemas.openxmlformats.org/presentationml/2006/main">
  <p:tag name="KSO_WM_DIAGRAM_VIRTUALLY_FRAME" val="{&quot;height&quot;:348.25,&quot;left&quot;:623.25,&quot;top&quot;:118.25,&quot;width&quot;:318.75}"/>
</p:tagLst>
</file>

<file path=ppt/tags/tag81.xml><?xml version="1.0" encoding="utf-8"?>
<p:tagLst xmlns:p="http://schemas.openxmlformats.org/presentationml/2006/main">
  <p:tag name="KSO_WM_DIAGRAM_VIRTUALLY_FRAME" val="{&quot;height&quot;:348.25,&quot;left&quot;:623.25,&quot;top&quot;:118.25,&quot;width&quot;:318.75}"/>
</p:tagLst>
</file>

<file path=ppt/tags/tag82.xml><?xml version="1.0" encoding="utf-8"?>
<p:tagLst xmlns:p="http://schemas.openxmlformats.org/presentationml/2006/main">
  <p:tag name="KSO_WM_DIAGRAM_VIRTUALLY_FRAME" val="{&quot;height&quot;:348.25,&quot;left&quot;:623.25,&quot;top&quot;:118.25,&quot;width&quot;:318.75}"/>
</p:tagLst>
</file>

<file path=ppt/tags/tag83.xml><?xml version="1.0" encoding="utf-8"?>
<p:tagLst xmlns:p="http://schemas.openxmlformats.org/presentationml/2006/main">
  <p:tag name="KSO_WM_DIAGRAM_VIRTUALLY_FRAME" val="{&quot;height&quot;:348.25,&quot;left&quot;:623.25,&quot;top&quot;:118.25,&quot;width&quot;:318.75}"/>
</p:tagLst>
</file>

<file path=ppt/tags/tag84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85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86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87.xml><?xml version="1.0" encoding="utf-8"?>
<p:tagLst xmlns:p="http://schemas.openxmlformats.org/presentationml/2006/main">
  <p:tag name="KSO_WM_DIAGRAM_VIRTUALLY_FRAME" val="{&quot;height&quot;:441.8255905511811,&quot;left&quot;:42.74999999999991,&quot;top&quot;:49.08716535433071,&quot;width&quot;:986.2952191208278}"/>
</p:tagLst>
</file>

<file path=ppt/tags/tag88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89.xml><?xml version="1.0" encoding="utf-8"?>
<p:tagLst xmlns:p="http://schemas.openxmlformats.org/presentationml/2006/main">
  <p:tag name="KSO_WM_DIAGRAM_VIRTUALLY_FRAME" val="{&quot;height&quot;:441.8255905511811,&quot;left&quot;:42.74999999999991,&quot;top&quot;:49.08716535433071,&quot;width&quot;:986.2952191208278}"/>
</p:tagLst>
</file>

<file path=ppt/tags/tag90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91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92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93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94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95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96.xml><?xml version="1.0" encoding="utf-8"?>
<p:tagLst xmlns:p="http://schemas.openxmlformats.org/presentationml/2006/main">
  <p:tag name="TABLE_ENDDRAG_ORIGIN_RECT" val="818*358"/>
  <p:tag name="TABLE_ENDDRAG_RECT" val="34*110*818*358"/>
</p:tagLst>
</file>

<file path=ppt/tags/tag97.xml><?xml version="1.0" encoding="utf-8"?>
<p:tagLst xmlns:p="http://schemas.openxmlformats.org/presentationml/2006/main">
  <p:tag name="KSO_WM_DIAGRAM_VIRTUALLY_FRAME" val="{&quot;height&quot;:445.1481102362204,&quot;left&quot;:42.74999999999991,&quot;top&quot;:45.76464566929134,&quot;width&quot;:986.2952191208278}"/>
</p:tagLst>
</file>

<file path=ppt/tags/tag98.xml><?xml version="1.0" encoding="utf-8"?>
<p:tagLst xmlns:p="http://schemas.openxmlformats.org/presentationml/2006/main">
  <p:tag name="KSO_WM_DIAGRAM_VIRTUALLY_FRAME" val="{&quot;height&quot;:288.5267716535433,&quot;left&quot;:35.92291338582677,&quot;top&quot;:165.32259842519684,&quot;width&quot;:895.6497637795276}"/>
</p:tagLst>
</file>

<file path=ppt/tags/tag99.xml><?xml version="1.0" encoding="utf-8"?>
<p:tagLst xmlns:p="http://schemas.openxmlformats.org/presentationml/2006/main">
  <p:tag name="KSO_WM_DIAGRAM_VIRTUALLY_FRAME" val="{&quot;height&quot;:259.04,&quot;left&quot;:35.4,&quot;top&quot;:111.6,&quot;width&quot;:335.4}"/>
</p:tagLst>
</file>

<file path=ppt/tags/tag100.xml><?xml version="1.0" encoding="utf-8"?>
<p:tagLst xmlns:p="http://schemas.openxmlformats.org/presentationml/2006/main">
  <p:tag name="KSO_WM_DIAGRAM_VIRTUALLY_FRAME" val="{&quot;height&quot;:259.04,&quot;left&quot;:35.4,&quot;top&quot;:111.6,&quot;width&quot;:335.4}"/>
</p:tagLst>
</file>

<file path=ppt/tags/tag101.xml><?xml version="1.0" encoding="utf-8"?>
<p:tagLst xmlns:p="http://schemas.openxmlformats.org/presentationml/2006/main">
  <p:tag name="KSO_WM_DIAGRAM_VIRTUALLY_FRAME" val="{&quot;height&quot;:259.04,&quot;left&quot;:35.4,&quot;top&quot;:111.6,&quot;width&quot;:335.4}"/>
</p:tagLst>
</file>

<file path=ppt/tags/tag102.xml><?xml version="1.0" encoding="utf-8"?>
<p:tagLst xmlns:p="http://schemas.openxmlformats.org/presentationml/2006/main">
  <p:tag name="KSO_WM_DIAGRAM_VIRTUALLY_FRAME" val="{&quot;height&quot;:259.04,&quot;left&quot;:35.4,&quot;top&quot;:111.6,&quot;width&quot;:335.4}"/>
</p:tagLst>
</file>

<file path=ppt/tags/tag103.xml><?xml version="1.0" encoding="utf-8"?>
<p:tagLst xmlns:p="http://schemas.openxmlformats.org/presentationml/2006/main">
  <p:tag name="KSO_WM_DIAGRAM_VIRTUALLY_FRAME" val="{&quot;height&quot;:259.04,&quot;left&quot;:35.4,&quot;top&quot;:111.6,&quot;width&quot;:335.4}"/>
</p:tagLst>
</file>

<file path=ppt/tags/tag104.xml><?xml version="1.0" encoding="utf-8"?>
<p:tagLst xmlns:p="http://schemas.openxmlformats.org/presentationml/2006/main">
  <p:tag name="KSO_WM_DIAGRAM_VIRTUALLY_FRAME" val="{&quot;height&quot;:259.04,&quot;left&quot;:35.4,&quot;top&quot;:111.6,&quot;width&quot;:335.4}"/>
</p:tagLst>
</file>

<file path=ppt/tags/tag105.xml><?xml version="1.0" encoding="utf-8"?>
<p:tagLst xmlns:p="http://schemas.openxmlformats.org/presentationml/2006/main">
  <p:tag name="KSO_WM_DIAGRAM_VIRTUALLY_FRAME" val="{&quot;height&quot;:259.04,&quot;left&quot;:35.4,&quot;top&quot;:111.6,&quot;width&quot;:335.4}"/>
</p:tagLst>
</file>

<file path=ppt/tags/tag106.xml><?xml version="1.0" encoding="utf-8"?>
<p:tagLst xmlns:p="http://schemas.openxmlformats.org/presentationml/2006/main">
  <p:tag name="KSO_WM_DIAGRAM_VIRTUALLY_FRAME" val="{&quot;height&quot;:288.5267716535433,&quot;left&quot;:35.92291338582677,&quot;top&quot;:165.32259842519684,&quot;width&quot;:895.6497637795276}"/>
</p:tagLst>
</file>

<file path=ppt/theme/theme1.xml><?xml version="1.0" encoding="utf-8"?>
<a:theme xmlns:a="http://schemas.openxmlformats.org/drawingml/2006/main" name="engineering_innovation_nmes">
  <a:themeElements>
    <a:clrScheme name="engineering_innovation_nmes">
      <a:dk1>
        <a:srgbClr val="EAF5F8"/>
      </a:dk1>
      <a:lt1>
        <a:srgbClr val="071A2B"/>
      </a:lt1>
      <a:dk2>
        <a:srgbClr val="1F497D"/>
      </a:dk2>
      <a:lt2>
        <a:srgbClr val="0E2A3A"/>
      </a:lt2>
      <a:accent1>
        <a:srgbClr val="8FD3E8"/>
      </a:accent1>
      <a:accent2>
        <a:srgbClr val="FFB547"/>
      </a:accent2>
      <a:accent3>
        <a:srgbClr val="37D6B0"/>
      </a:accent3>
      <a:accent4>
        <a:srgbClr val="8FD3E8"/>
      </a:accent4>
      <a:accent5>
        <a:srgbClr val="A8C3CD"/>
      </a:accent5>
      <a:accent6>
        <a:srgbClr val="2A5364"/>
      </a:accent6>
      <a:hlink>
        <a:srgbClr val="FFB547"/>
      </a:hlink>
      <a:folHlink>
        <a:srgbClr val="37D6B0"/>
      </a:folHlink>
    </a:clrScheme>
    <a:fontScheme name="engineering_innovation_nme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ngineering_innovation_nm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ngineering_innovation_nmes">
  <a:themeElements>
    <a:clrScheme name="engineering_innovation_nmes">
      <a:dk1>
        <a:srgbClr val="EAF5F8"/>
      </a:dk1>
      <a:lt1>
        <a:srgbClr val="071A2B"/>
      </a:lt1>
      <a:dk2>
        <a:srgbClr val="1F497D"/>
      </a:dk2>
      <a:lt2>
        <a:srgbClr val="0E2A3A"/>
      </a:lt2>
      <a:accent1>
        <a:srgbClr val="8FD3E8"/>
      </a:accent1>
      <a:accent2>
        <a:srgbClr val="FFB547"/>
      </a:accent2>
      <a:accent3>
        <a:srgbClr val="37D6B0"/>
      </a:accent3>
      <a:accent4>
        <a:srgbClr val="8FD3E8"/>
      </a:accent4>
      <a:accent5>
        <a:srgbClr val="A8C3CD"/>
      </a:accent5>
      <a:accent6>
        <a:srgbClr val="2A5364"/>
      </a:accent6>
      <a:hlink>
        <a:srgbClr val="FFB547"/>
      </a:hlink>
      <a:folHlink>
        <a:srgbClr val="37D6B0"/>
      </a:folHlink>
    </a:clrScheme>
    <a:fontScheme name="engineering_innovation_nme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ngineering_innovation_nm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4987</Words>
  <Application>WPS 演示</Application>
  <PresentationFormat>宽屏</PresentationFormat>
  <Paragraphs>886</Paragraphs>
  <Slides>22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0" baseType="lpstr">
      <vt:lpstr>Arial</vt:lpstr>
      <vt:lpstr>宋体</vt:lpstr>
      <vt:lpstr>Wingdings</vt:lpstr>
      <vt:lpstr>Arial</vt:lpstr>
      <vt:lpstr>微软雅黑</vt:lpstr>
      <vt:lpstr>Times New Roman</vt:lpstr>
      <vt:lpstr>Calibri</vt:lpstr>
      <vt:lpstr>Impact</vt:lpstr>
      <vt:lpstr>Cambria Math</vt:lpstr>
      <vt:lpstr>MS Mincho</vt:lpstr>
      <vt:lpstr>Arial Unicode MS</vt:lpstr>
      <vt:lpstr>华康行楷体 W5</vt:lpstr>
      <vt:lpstr>微软雅黑</vt:lpstr>
      <vt:lpstr>quote-cjk-patch</vt:lpstr>
      <vt:lpstr>华康俪金黑W8</vt:lpstr>
      <vt:lpstr>AMGDT</vt:lpstr>
      <vt:lpstr>黑体</vt:lpstr>
      <vt:lpstr>engineering_innovation_nmes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太来提苏波汗</dc:creator>
  <cp:lastModifiedBy>高申</cp:lastModifiedBy>
  <cp:revision>24</cp:revision>
  <dcterms:created xsi:type="dcterms:W3CDTF">2026-10-09T01:39:00Z</dcterms:created>
  <dcterms:modified xsi:type="dcterms:W3CDTF">2026-10-10T10:40:16Z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5666365B5026440086EE5510B8F0B903_12</vt:lpwstr>
  </property>
</Properties>
</file>